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6" r:id="rId9"/>
    <p:sldId id="267" r:id="rId10"/>
    <p:sldId id="268" r:id="rId11"/>
    <p:sldId id="269" r:id="rId12"/>
    <p:sldId id="270" r:id="rId13"/>
    <p:sldId id="272" r:id="rId14"/>
    <p:sldId id="278" r:id="rId15"/>
    <p:sldId id="281" r:id="rId16"/>
    <p:sldId id="282" r:id="rId17"/>
    <p:sldId id="283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5" r:id="rId28"/>
    <p:sldId id="296" r:id="rId29"/>
    <p:sldId id="307" r:id="rId30"/>
    <p:sldId id="297" r:id="rId31"/>
    <p:sldId id="298" r:id="rId32"/>
    <p:sldId id="299" r:id="rId33"/>
    <p:sldId id="304" r:id="rId34"/>
    <p:sldId id="306" r:id="rId35"/>
    <p:sldId id="309" r:id="rId36"/>
    <p:sldId id="308" r:id="rId37"/>
    <p:sldId id="294" r:id="rId38"/>
    <p:sldId id="273" r:id="rId39"/>
    <p:sldId id="274" r:id="rId40"/>
    <p:sldId id="260" r:id="rId41"/>
    <p:sldId id="271" r:id="rId42"/>
    <p:sldId id="277" r:id="rId43"/>
    <p:sldId id="275" r:id="rId44"/>
    <p:sldId id="276" r:id="rId45"/>
    <p:sldId id="279" r:id="rId46"/>
    <p:sldId id="280" r:id="rId47"/>
    <p:sldId id="284" r:id="rId48"/>
  </p:sldIdLst>
  <p:sldSz cx="18288000" cy="10287000"/>
  <p:notesSz cx="6858000" cy="9144000"/>
  <p:embeddedFontLst>
    <p:embeddedFont>
      <p:font typeface="Alatsi" panose="020B0604020202020204" charset="0"/>
      <p:regular r:id="rId50"/>
    </p:embeddedFont>
    <p:embeddedFont>
      <p:font typeface="Arial Bold" panose="020B0704020202020204" pitchFamily="34" charset="0"/>
      <p:regular r:id="rId51"/>
      <p:bold r:id="rId52"/>
    </p:embeddedFont>
    <p:embeddedFont>
      <p:font typeface="Arial Italics" panose="020B0604020202020204" charset="0"/>
      <p:regular r:id="rId53"/>
    </p:embeddedFont>
    <p:embeddedFont>
      <p:font typeface="Arial MT Pro" panose="020B0604020202020204" charset="0"/>
      <p:regular r:id="rId54"/>
    </p:embeddedFont>
    <p:embeddedFont>
      <p:font typeface="Arial MT Pro Bold" panose="020B0604020202020204" charset="0"/>
      <p:regular r:id="rId55"/>
    </p:embeddedFont>
    <p:embeddedFont>
      <p:font typeface="Arial MT Pro Bold Italics" panose="020B0604020202020204" charset="0"/>
      <p:regular r:id="rId56"/>
    </p:embeddedFont>
    <p:embeddedFont>
      <p:font typeface="Arimo" panose="020B0604020202020204" charset="0"/>
      <p:regular r:id="rId57"/>
    </p:embeddedFont>
    <p:embeddedFont>
      <p:font typeface="Arimo Bold" panose="020B0604020202020204" charset="0"/>
      <p:regular r:id="rId58"/>
    </p:embeddedFont>
    <p:embeddedFont>
      <p:font typeface="Bookman Old Style" panose="02050604050505020204" pitchFamily="18" charset="0"/>
      <p:regular r:id="rId59"/>
      <p:bold r:id="rId60"/>
      <p:italic r:id="rId61"/>
      <p:boldItalic r:id="rId62"/>
    </p:embeddedFont>
    <p:embeddedFont>
      <p:font typeface="IBM Plex Mono" panose="020B0509050203000203" pitchFamily="49" charset="0"/>
      <p:regular r:id="rId63"/>
      <p:bold r:id="rId64"/>
      <p:italic r:id="rId65"/>
      <p:boldItalic r:id="rId66"/>
    </p:embeddedFont>
    <p:embeddedFont>
      <p:font typeface="IBM Plex Mono Italics" panose="020B0604020202020204" charset="0"/>
      <p:regular r:id="rId67"/>
    </p:embeddedFont>
    <p:embeddedFont>
      <p:font typeface="Noto Sans" panose="020B0502040504020204" pitchFamily="34" charset="0"/>
      <p:regular r:id="rId68"/>
      <p:bold r:id="rId69"/>
      <p:italic r:id="rId70"/>
      <p:boldItalic r:id="rId71"/>
    </p:embeddedFont>
    <p:embeddedFont>
      <p:font typeface="Poppins Bold" panose="020B0604020202020204" charset="0"/>
      <p:regular r:id="rId7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0213" autoAdjust="0"/>
  </p:normalViewPr>
  <p:slideViewPr>
    <p:cSldViewPr>
      <p:cViewPr varScale="1">
        <p:scale>
          <a:sx n="59" d="100"/>
          <a:sy n="59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4.fntdata"/><Relationship Id="rId68" Type="http://schemas.openxmlformats.org/officeDocument/2006/relationships/font" Target="fonts/font1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font" Target="fonts/font17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1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7.fntdata"/><Relationship Id="rId64" Type="http://schemas.openxmlformats.org/officeDocument/2006/relationships/font" Target="fonts/font15.fntdata"/><Relationship Id="rId69" Type="http://schemas.openxmlformats.org/officeDocument/2006/relationships/font" Target="fonts/font20.fntdata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72" Type="http://schemas.openxmlformats.org/officeDocument/2006/relationships/font" Target="fonts/font2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67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font" Target="fonts/font13.fntdata"/><Relationship Id="rId70" Type="http://schemas.openxmlformats.org/officeDocument/2006/relationships/font" Target="fonts/font21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font" Target="fonts/font16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Ros2 + UR10 – 15ms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AB2EA-7D34-E12B-1210-7356A7EC9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8579496-D098-14BD-2401-6DAE7A2430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3BE027-3943-B436-F766-C44AAFFDAC1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602EB7F-BFF6-6583-9B52-1E5D560679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E8EC505-BE2E-E090-7A84-8A98B0B15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1489C-8BC6-4BC6-9C04-9899E562EB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28CEB-948B-1008-CC13-25967149F9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343127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trễ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–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gây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trễ</a:t>
            </a:r>
            <a:r>
              <a:rPr lang="en-US" dirty="0"/>
              <a:t> -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khắc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– </a:t>
            </a:r>
            <a:r>
              <a:rPr lang="en-US" dirty="0" err="1"/>
              <a:t>dộ</a:t>
            </a:r>
            <a:r>
              <a:rPr lang="en-US" dirty="0"/>
              <a:t> </a:t>
            </a:r>
            <a:r>
              <a:rPr lang="en-US" dirty="0" err="1"/>
              <a:t>trễ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.</a:t>
            </a:r>
          </a:p>
          <a:p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VR –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nghẽn</a:t>
            </a:r>
            <a:r>
              <a:rPr lang="en-US" dirty="0"/>
              <a:t> CPU –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endParaRPr lang="en-US" dirty="0"/>
          </a:p>
          <a:p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trượt</a:t>
            </a:r>
            <a:r>
              <a:rPr lang="en-US" dirty="0"/>
              <a:t> </a:t>
            </a:r>
            <a:r>
              <a:rPr lang="en-US" dirty="0" err="1"/>
              <a:t>trục</a:t>
            </a:r>
            <a:r>
              <a:rPr lang="en-US" dirty="0"/>
              <a:t> </a:t>
            </a:r>
            <a:r>
              <a:rPr lang="en-US" dirty="0" err="1"/>
              <a:t>cánh</a:t>
            </a:r>
            <a:r>
              <a:rPr lang="en-US" dirty="0"/>
              <a:t> </a:t>
            </a:r>
            <a:r>
              <a:rPr lang="en-US" dirty="0" err="1"/>
              <a:t>tay</a:t>
            </a:r>
            <a:r>
              <a:rPr lang="en-US" dirty="0"/>
              <a:t> robot,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calib</a:t>
            </a:r>
            <a:r>
              <a:rPr lang="en-US" dirty="0"/>
              <a:t>?</a:t>
            </a:r>
          </a:p>
          <a:p>
            <a:r>
              <a:rPr lang="en-US" dirty="0" err="1"/>
              <a:t>Kịch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ngừng</a:t>
            </a:r>
            <a:r>
              <a:rPr lang="en-US" dirty="0"/>
              <a:t> </a:t>
            </a:r>
            <a:r>
              <a:rPr lang="en-US" dirty="0" err="1"/>
              <a:t>đột</a:t>
            </a:r>
            <a:r>
              <a:rPr lang="en-US" dirty="0"/>
              <a:t> </a:t>
            </a:r>
            <a:r>
              <a:rPr lang="en-US" dirty="0" err="1"/>
              <a:t>ngột</a:t>
            </a:r>
            <a:r>
              <a:rPr lang="en-US" dirty="0"/>
              <a:t>, pin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2-3 </a:t>
            </a:r>
            <a:r>
              <a:rPr lang="en-US" dirty="0" err="1"/>
              <a:t>giây</a:t>
            </a:r>
            <a:endParaRPr lang="en-US" dirty="0"/>
          </a:p>
          <a:p>
            <a:r>
              <a:rPr lang="en-US" dirty="0" err="1"/>
              <a:t>Kịch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,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phóng</a:t>
            </a:r>
            <a:r>
              <a:rPr lang="en-US" dirty="0"/>
              <a:t> </a:t>
            </a:r>
            <a:r>
              <a:rPr lang="en-US" dirty="0" err="1"/>
              <a:t>xạ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song </a:t>
            </a:r>
            <a:r>
              <a:rPr lang="en-US" dirty="0" err="1"/>
              <a:t>wifi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nhiễu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26FA7-6EB5-7AD6-AE3B-D0B5CE11E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FD5A92-2DF5-B10B-33BB-1C96E05FD9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A39A8B-DA1E-9386-D201-2D0BDA5EBAE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782F9E0-BC17-4434-8DE5-B7DEA5174A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6BBEB34-6895-7E3B-6D45-7334FF402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83750-3C5C-4CF9-BFB3-C625A3A822C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BAEEA-266F-BBE1-C05F-F187088B8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382527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E18B5-E7D1-693C-D190-308FBDC3E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2D19A22-EDFF-D276-8F9E-D1726E7552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1275B9-9B5F-2B8B-C014-7521A3E9EB6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92DC154-C0EA-AEAE-E0FA-625F8607D7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57C9D3A-F848-0ADF-92A8-1DFBCE4C7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7EFA3-4060-8774-5C7E-9ECD97E114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B9577-FC29-8016-1DCC-77B045F6B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112224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275131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3254360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7240003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5753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6297826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0457203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807373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5559935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1613399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23629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B582B-676F-4B1F-BB59-67796A553732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6B026-3B39-4D8F-BE71-F37722230567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8EF1-B0FB-4440-8953-E4FA765A5BDE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AE21-E95C-401D-AB29-0543C4868C97}" type="datetime1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437E-3629-4CBF-81B5-A3C8D65E9B81}" type="datetime1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BF3A9-2631-412A-98FA-454660DFAE17}" type="datetime1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74F3-7567-4BFB-9362-C42DCF304864}" type="datetime1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84A0-E11C-4BBB-B13B-B922B0DD943B}" type="datetime1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AF6E-6E8D-470E-A46E-B622538E515D}" type="datetime1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2C2F-A138-4114-9879-E6FADC526AC4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257C-7545-4C17-8C08-46E38C4E81E9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8C383-0194-4A80-B4D8-C2532FEB71DA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3.svg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29.svg"/><Relationship Id="rId4" Type="http://schemas.openxmlformats.org/officeDocument/2006/relationships/image" Target="../media/image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29.svg"/><Relationship Id="rId4" Type="http://schemas.openxmlformats.org/officeDocument/2006/relationships/image" Target="../media/image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20.svg"/><Relationship Id="rId4" Type="http://schemas.openxmlformats.org/officeDocument/2006/relationships/image" Target="../media/image3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20.svg"/><Relationship Id="rId4" Type="http://schemas.openxmlformats.org/officeDocument/2006/relationships/image" Target="../media/image34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9.svg"/><Relationship Id="rId7" Type="http://schemas.openxmlformats.org/officeDocument/2006/relationships/image" Target="../media/image3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microsoft.com/office/2007/relationships/hdphoto" Target="../media/hdphoto2.wdp"/><Relationship Id="rId5" Type="http://schemas.openxmlformats.org/officeDocument/2006/relationships/image" Target="../media/image20.svg"/><Relationship Id="rId10" Type="http://schemas.openxmlformats.org/officeDocument/2006/relationships/image" Target="../media/image40.png"/><Relationship Id="rId4" Type="http://schemas.openxmlformats.org/officeDocument/2006/relationships/image" Target="../media/image34.svg"/><Relationship Id="rId9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1.png"/><Relationship Id="rId7" Type="http://schemas.openxmlformats.org/officeDocument/2006/relationships/image" Target="../media/image4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34.svg"/><Relationship Id="rId4" Type="http://schemas.openxmlformats.org/officeDocument/2006/relationships/image" Target="../media/image9.svg"/><Relationship Id="rId9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microsoft.com/office/2007/relationships/hdphoto" Target="../media/hdphoto2.wdp"/><Relationship Id="rId3" Type="http://schemas.openxmlformats.org/officeDocument/2006/relationships/image" Target="../media/image9.svg"/><Relationship Id="rId7" Type="http://schemas.openxmlformats.org/officeDocument/2006/relationships/image" Target="../media/image44.jpe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microsoft.com/office/2007/relationships/hdphoto" Target="../media/hdphoto3.wdp"/><Relationship Id="rId5" Type="http://schemas.openxmlformats.org/officeDocument/2006/relationships/image" Target="../media/image20.svg"/><Relationship Id="rId15" Type="http://schemas.microsoft.com/office/2007/relationships/hdphoto" Target="../media/hdphoto4.wdp"/><Relationship Id="rId10" Type="http://schemas.openxmlformats.org/officeDocument/2006/relationships/image" Target="../media/image45.png"/><Relationship Id="rId4" Type="http://schemas.openxmlformats.org/officeDocument/2006/relationships/image" Target="../media/image34.svg"/><Relationship Id="rId9" Type="http://schemas.microsoft.com/office/2007/relationships/hdphoto" Target="../media/hdphoto1.wdp"/><Relationship Id="rId1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microsoft.com/office/2007/relationships/hdphoto" Target="../media/hdphoto2.wdp"/><Relationship Id="rId3" Type="http://schemas.openxmlformats.org/officeDocument/2006/relationships/image" Target="../media/image9.svg"/><Relationship Id="rId7" Type="http://schemas.openxmlformats.org/officeDocument/2006/relationships/image" Target="../media/image48.jpe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microsoft.com/office/2007/relationships/hdphoto" Target="../media/hdphoto3.wdp"/><Relationship Id="rId5" Type="http://schemas.openxmlformats.org/officeDocument/2006/relationships/image" Target="../media/image20.svg"/><Relationship Id="rId15" Type="http://schemas.microsoft.com/office/2007/relationships/hdphoto" Target="../media/hdphoto4.wdp"/><Relationship Id="rId10" Type="http://schemas.openxmlformats.org/officeDocument/2006/relationships/image" Target="../media/image45.png"/><Relationship Id="rId4" Type="http://schemas.openxmlformats.org/officeDocument/2006/relationships/image" Target="../media/image34.svg"/><Relationship Id="rId9" Type="http://schemas.microsoft.com/office/2007/relationships/hdphoto" Target="../media/hdphoto1.wdp"/><Relationship Id="rId1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microsoft.com/office/2007/relationships/hdphoto" Target="../media/hdphoto2.wdp"/><Relationship Id="rId3" Type="http://schemas.openxmlformats.org/officeDocument/2006/relationships/image" Target="../media/image9.svg"/><Relationship Id="rId7" Type="http://schemas.openxmlformats.org/officeDocument/2006/relationships/image" Target="../media/image49.jpe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microsoft.com/office/2007/relationships/hdphoto" Target="../media/hdphoto3.wdp"/><Relationship Id="rId5" Type="http://schemas.openxmlformats.org/officeDocument/2006/relationships/image" Target="../media/image20.svg"/><Relationship Id="rId15" Type="http://schemas.microsoft.com/office/2007/relationships/hdphoto" Target="../media/hdphoto4.wdp"/><Relationship Id="rId10" Type="http://schemas.openxmlformats.org/officeDocument/2006/relationships/image" Target="../media/image45.png"/><Relationship Id="rId4" Type="http://schemas.openxmlformats.org/officeDocument/2006/relationships/image" Target="../media/image34.svg"/><Relationship Id="rId9" Type="http://schemas.microsoft.com/office/2007/relationships/hdphoto" Target="../media/hdphoto1.wdp"/><Relationship Id="rId1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51.svg"/><Relationship Id="rId4" Type="http://schemas.openxmlformats.org/officeDocument/2006/relationships/image" Target="../media/image50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3" Type="http://schemas.openxmlformats.org/officeDocument/2006/relationships/image" Target="../media/image9.svg"/><Relationship Id="rId7" Type="http://schemas.openxmlformats.org/officeDocument/2006/relationships/image" Target="../media/image5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51.svg"/><Relationship Id="rId4" Type="http://schemas.openxmlformats.org/officeDocument/2006/relationships/image" Target="../media/image50.svg"/><Relationship Id="rId9" Type="http://schemas.openxmlformats.org/officeDocument/2006/relationships/image" Target="../media/image54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eg"/><Relationship Id="rId3" Type="http://schemas.openxmlformats.org/officeDocument/2006/relationships/image" Target="../media/image9.svg"/><Relationship Id="rId7" Type="http://schemas.openxmlformats.org/officeDocument/2006/relationships/image" Target="../media/image5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51.svg"/><Relationship Id="rId4" Type="http://schemas.openxmlformats.org/officeDocument/2006/relationships/image" Target="../media/image50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51.svg"/><Relationship Id="rId4" Type="http://schemas.openxmlformats.org/officeDocument/2006/relationships/image" Target="../media/image50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51.svg"/><Relationship Id="rId4" Type="http://schemas.openxmlformats.org/officeDocument/2006/relationships/image" Target="../media/image50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51.svg"/><Relationship Id="rId4" Type="http://schemas.openxmlformats.org/officeDocument/2006/relationships/image" Target="../media/image50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UBBKvMIEMbI?feature=oembed" TargetMode="External"/><Relationship Id="rId6" Type="http://schemas.openxmlformats.org/officeDocument/2006/relationships/image" Target="../media/image59.png"/><Relationship Id="rId5" Type="http://schemas.openxmlformats.org/officeDocument/2006/relationships/image" Target="../media/image50.svg"/><Relationship Id="rId4" Type="http://schemas.openxmlformats.org/officeDocument/2006/relationships/image" Target="../media/image9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svg"/><Relationship Id="rId5" Type="http://schemas.openxmlformats.org/officeDocument/2006/relationships/image" Target="../media/image64.svg"/><Relationship Id="rId4" Type="http://schemas.openxmlformats.org/officeDocument/2006/relationships/image" Target="../media/image63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hyperlink" Target="https://docs.phntm.io/bridge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mdpi.com/1424-8220/22/21/8493" TargetMode="External"/><Relationship Id="rId5" Type="http://schemas.openxmlformats.org/officeDocument/2006/relationships/hyperlink" Target="https://www.frontiersin.org/journals/robotics-and-ai/articles/10.3389/frobt.2026.1708161/full" TargetMode="External"/><Relationship Id="rId4" Type="http://schemas.openxmlformats.org/officeDocument/2006/relationships/hyperlink" Target="https://www.tuhh.de/imek/forschung-und-projekte/projekte/vrobotia-1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eg"/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duqwEGF-e1g?feature=oembed" TargetMode="External"/><Relationship Id="rId6" Type="http://schemas.openxmlformats.org/officeDocument/2006/relationships/image" Target="../media/image51.svg"/><Relationship Id="rId5" Type="http://schemas.openxmlformats.org/officeDocument/2006/relationships/image" Target="../media/image50.svg"/><Relationship Id="rId4" Type="http://schemas.openxmlformats.org/officeDocument/2006/relationships/image" Target="../media/image9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29.svg"/><Relationship Id="rId4" Type="http://schemas.openxmlformats.org/officeDocument/2006/relationships/image" Target="../media/image9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29.svg"/><Relationship Id="rId4" Type="http://schemas.openxmlformats.org/officeDocument/2006/relationships/image" Target="../media/image9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71.svg"/><Relationship Id="rId4" Type="http://schemas.openxmlformats.org/officeDocument/2006/relationships/image" Target="../media/image14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29.svg"/><Relationship Id="rId4" Type="http://schemas.openxmlformats.org/officeDocument/2006/relationships/image" Target="../media/image9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29.svg"/><Relationship Id="rId4" Type="http://schemas.openxmlformats.org/officeDocument/2006/relationships/image" Target="../media/image9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29.svg"/><Relationship Id="rId4" Type="http://schemas.openxmlformats.org/officeDocument/2006/relationships/image" Target="../media/image9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29.svg"/><Relationship Id="rId4" Type="http://schemas.openxmlformats.org/officeDocument/2006/relationships/image" Target="../media/image9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29.svg"/><Relationship Id="rId4" Type="http://schemas.openxmlformats.org/officeDocument/2006/relationships/image" Target="../media/image9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29.svg"/><Relationship Id="rId4" Type="http://schemas.openxmlformats.org/officeDocument/2006/relationships/image" Target="../media/image9.sv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9.sv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jpeg"/><Relationship Id="rId5" Type="http://schemas.openxmlformats.org/officeDocument/2006/relationships/image" Target="../media/image20.svg"/><Relationship Id="rId4" Type="http://schemas.openxmlformats.org/officeDocument/2006/relationships/image" Target="../media/image34.sv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15600" y="9438807"/>
            <a:ext cx="823550" cy="866950"/>
          </a:xfrm>
          <a:custGeom>
            <a:avLst/>
            <a:gdLst/>
            <a:ahLst/>
            <a:cxnLst/>
            <a:rect l="l" t="t" r="r" b="b"/>
            <a:pathLst>
              <a:path w="823550" h="866950">
                <a:moveTo>
                  <a:pt x="0" y="0"/>
                </a:moveTo>
                <a:lnTo>
                  <a:pt x="823550" y="0"/>
                </a:lnTo>
                <a:lnTo>
                  <a:pt x="823550" y="866950"/>
                </a:lnTo>
                <a:lnTo>
                  <a:pt x="0" y="866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541518" y="-315153"/>
            <a:ext cx="866950" cy="823550"/>
          </a:xfrm>
          <a:custGeom>
            <a:avLst/>
            <a:gdLst/>
            <a:ahLst/>
            <a:cxnLst/>
            <a:rect l="l" t="t" r="r" b="b"/>
            <a:pathLst>
              <a:path w="866950" h="823550">
                <a:moveTo>
                  <a:pt x="0" y="0"/>
                </a:moveTo>
                <a:lnTo>
                  <a:pt x="866950" y="0"/>
                </a:lnTo>
                <a:lnTo>
                  <a:pt x="866950" y="823550"/>
                </a:lnTo>
                <a:lnTo>
                  <a:pt x="0" y="82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37664">
            <a:off x="-788276" y="-154456"/>
            <a:ext cx="4762498" cy="1821204"/>
          </a:xfrm>
          <a:custGeom>
            <a:avLst/>
            <a:gdLst/>
            <a:ahLst/>
            <a:cxnLst/>
            <a:rect l="l" t="t" r="r" b="b"/>
            <a:pathLst>
              <a:path w="4762498" h="1821204">
                <a:moveTo>
                  <a:pt x="0" y="0"/>
                </a:moveTo>
                <a:lnTo>
                  <a:pt x="4762497" y="0"/>
                </a:lnTo>
                <a:lnTo>
                  <a:pt x="4762497" y="1821204"/>
                </a:lnTo>
                <a:lnTo>
                  <a:pt x="0" y="18212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11403" y="7470489"/>
            <a:ext cx="5626071" cy="5167785"/>
          </a:xfrm>
          <a:custGeom>
            <a:avLst/>
            <a:gdLst/>
            <a:ahLst/>
            <a:cxnLst/>
            <a:rect l="l" t="t" r="r" b="b"/>
            <a:pathLst>
              <a:path w="5626071" h="5167785">
                <a:moveTo>
                  <a:pt x="0" y="0"/>
                </a:moveTo>
                <a:lnTo>
                  <a:pt x="5626071" y="0"/>
                </a:lnTo>
                <a:lnTo>
                  <a:pt x="5626071" y="5167785"/>
                </a:lnTo>
                <a:lnTo>
                  <a:pt x="0" y="51677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46482" y="2540829"/>
            <a:ext cx="16795036" cy="3773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09"/>
              </a:lnSpc>
            </a:pPr>
            <a:r>
              <a:rPr lang="en-US" sz="7674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Nghiên</a:t>
            </a:r>
            <a:r>
              <a:rPr lang="en-US" sz="7674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7674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cứu</a:t>
            </a:r>
            <a:r>
              <a:rPr lang="en-US" sz="7674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7674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và</a:t>
            </a:r>
            <a:r>
              <a:rPr lang="en-US" sz="7674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7674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phát</a:t>
            </a:r>
            <a:r>
              <a:rPr lang="en-US" sz="7674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7674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triển</a:t>
            </a:r>
            <a:r>
              <a:rPr lang="en-US" sz="7674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7674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hệ</a:t>
            </a:r>
            <a:r>
              <a:rPr lang="en-US" sz="7674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7674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thống</a:t>
            </a:r>
            <a:r>
              <a:rPr lang="en-US" sz="7674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</a:p>
          <a:p>
            <a:pPr algn="ctr">
              <a:lnSpc>
                <a:spcPts val="9209"/>
              </a:lnSpc>
            </a:pPr>
            <a:r>
              <a:rPr lang="en-US" sz="7674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điều</a:t>
            </a:r>
            <a:r>
              <a:rPr lang="en-US" sz="7674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7674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khiển</a:t>
            </a:r>
            <a:r>
              <a:rPr lang="en-US" sz="7674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7674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cánh</a:t>
            </a:r>
            <a:r>
              <a:rPr lang="en-US" sz="7674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7674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tay</a:t>
            </a:r>
            <a:r>
              <a:rPr lang="en-US" sz="7674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robot </a:t>
            </a:r>
            <a:r>
              <a:rPr lang="en-US" sz="7674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với</a:t>
            </a:r>
            <a:r>
              <a:rPr lang="en-US" sz="7674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ROS2 </a:t>
            </a:r>
          </a:p>
          <a:p>
            <a:pPr algn="ctr">
              <a:lnSpc>
                <a:spcPts val="9209"/>
              </a:lnSpc>
            </a:pPr>
            <a:r>
              <a:rPr lang="en-US" sz="7674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đồng</a:t>
            </a:r>
            <a:r>
              <a:rPr lang="en-US" sz="7674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7674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bộ</a:t>
            </a:r>
            <a:r>
              <a:rPr lang="en-US" sz="7674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7674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kính</a:t>
            </a:r>
            <a:r>
              <a:rPr lang="en-US" sz="7674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7674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thực</a:t>
            </a:r>
            <a:r>
              <a:rPr lang="en-US" sz="7674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7674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tế</a:t>
            </a:r>
            <a:r>
              <a:rPr lang="en-US" sz="7674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7674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ảo</a:t>
            </a:r>
            <a:r>
              <a:rPr lang="en-US" sz="7674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(VR)</a:t>
            </a:r>
          </a:p>
          <a:p>
            <a:pPr algn="ctr">
              <a:lnSpc>
                <a:spcPts val="107"/>
              </a:lnSpc>
            </a:pPr>
            <a:endParaRPr lang="en-US" sz="7674" b="1" dirty="0">
              <a:solidFill>
                <a:srgbClr val="292929"/>
              </a:solidFill>
              <a:latin typeface="Arimo Bold" panose="020B0604020202020204" charset="0"/>
              <a:ea typeface="Arimo Bold" panose="020B0604020202020204" charset="0"/>
              <a:cs typeface="Arimo Bold" panose="020B0604020202020204" charset="0"/>
              <a:sym typeface="Arial MT Pro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0" y="96622"/>
            <a:ext cx="882654" cy="570578"/>
          </a:xfrm>
          <a:custGeom>
            <a:avLst/>
            <a:gdLst/>
            <a:ahLst/>
            <a:cxnLst/>
            <a:rect l="l" t="t" r="r" b="b"/>
            <a:pathLst>
              <a:path w="882654" h="570578">
                <a:moveTo>
                  <a:pt x="0" y="0"/>
                </a:moveTo>
                <a:lnTo>
                  <a:pt x="882654" y="0"/>
                </a:lnTo>
                <a:lnTo>
                  <a:pt x="882654" y="570578"/>
                </a:lnTo>
                <a:lnTo>
                  <a:pt x="0" y="5705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428254" y="0"/>
            <a:ext cx="1664144" cy="1512291"/>
          </a:xfrm>
          <a:custGeom>
            <a:avLst/>
            <a:gdLst/>
            <a:ahLst/>
            <a:cxnLst/>
            <a:rect l="l" t="t" r="r" b="b"/>
            <a:pathLst>
              <a:path w="1664144" h="1512291">
                <a:moveTo>
                  <a:pt x="0" y="0"/>
                </a:moveTo>
                <a:lnTo>
                  <a:pt x="1664144" y="0"/>
                </a:lnTo>
                <a:lnTo>
                  <a:pt x="1664144" y="1512291"/>
                </a:lnTo>
                <a:lnTo>
                  <a:pt x="0" y="1512291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984761" y="221475"/>
            <a:ext cx="5874985" cy="101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Trường </a:t>
            </a:r>
            <a:r>
              <a:rPr lang="en-US" sz="2899" dirty="0" err="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Đại</a:t>
            </a:r>
            <a:r>
              <a:rPr lang="en-US" sz="28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học</a:t>
            </a:r>
            <a:r>
              <a:rPr lang="en-US" sz="28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Bách</a:t>
            </a:r>
            <a:r>
              <a:rPr lang="en-US" sz="28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Khoa TP.HCM</a:t>
            </a:r>
          </a:p>
          <a:p>
            <a:pPr algn="ctr">
              <a:lnSpc>
                <a:spcPts val="4059"/>
              </a:lnSpc>
            </a:pPr>
            <a:r>
              <a:rPr lang="en-US" sz="28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Khoa </a:t>
            </a:r>
            <a:r>
              <a:rPr lang="en-US" sz="2899" dirty="0" err="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Khoa</a:t>
            </a:r>
            <a:r>
              <a:rPr lang="en-US" sz="28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học</a:t>
            </a:r>
            <a:r>
              <a:rPr lang="en-US" sz="28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và</a:t>
            </a:r>
            <a:r>
              <a:rPr lang="en-US" sz="28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Kĩ</a:t>
            </a:r>
            <a:r>
              <a:rPr lang="en-US" sz="28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thuật</a:t>
            </a:r>
            <a:r>
              <a:rPr lang="en-US" sz="28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máy</a:t>
            </a:r>
            <a:r>
              <a:rPr lang="en-US" sz="28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tính</a:t>
            </a:r>
            <a:endParaRPr lang="en-US" sz="2899" dirty="0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81000" y="7093329"/>
            <a:ext cx="6477000" cy="13667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9"/>
              </a:lnSpc>
            </a:pPr>
            <a:r>
              <a:rPr lang="en-US" sz="3935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GVHD: TS. LÊ TRỌNG NHÂN</a:t>
            </a:r>
          </a:p>
          <a:p>
            <a:pPr algn="ctr">
              <a:lnSpc>
                <a:spcPts val="5509"/>
              </a:lnSpc>
            </a:pPr>
            <a:r>
              <a:rPr lang="en-US" sz="3935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GVPB: PGS.TS LÊ KIM HÙNG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358006" y="9130727"/>
            <a:ext cx="7955011" cy="54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9"/>
              </a:lnSpc>
            </a:pPr>
            <a:r>
              <a:rPr lang="en-US" sz="3235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Học </a:t>
            </a:r>
            <a:r>
              <a:rPr lang="en-US" sz="3235" dirty="0" err="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viên</a:t>
            </a:r>
            <a:r>
              <a:rPr lang="en-US" sz="3235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: </a:t>
            </a:r>
            <a:r>
              <a:rPr lang="en-US" sz="3235" dirty="0" err="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Trần</a:t>
            </a:r>
            <a:r>
              <a:rPr lang="en-US" sz="3235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Ngọc </a:t>
            </a:r>
            <a:r>
              <a:rPr lang="en-US" sz="3235" dirty="0" err="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Cát</a:t>
            </a:r>
            <a:r>
              <a:rPr lang="en-US" sz="3235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- 2370415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35">
        <p159:morph option="byObject"/>
      </p:transition>
    </mc:Choice>
    <mc:Fallback xmlns="">
      <p:transition spd="slow" advTm="1835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25952" y="153310"/>
            <a:ext cx="823550" cy="866950"/>
          </a:xfrm>
          <a:custGeom>
            <a:avLst/>
            <a:gdLst/>
            <a:ahLst/>
            <a:cxnLst/>
            <a:rect l="l" t="t" r="r" b="b"/>
            <a:pathLst>
              <a:path w="823550" h="866950">
                <a:moveTo>
                  <a:pt x="0" y="0"/>
                </a:moveTo>
                <a:lnTo>
                  <a:pt x="823550" y="0"/>
                </a:lnTo>
                <a:lnTo>
                  <a:pt x="823550" y="866950"/>
                </a:lnTo>
                <a:lnTo>
                  <a:pt x="0" y="866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121420" y="3721462"/>
            <a:ext cx="5167785" cy="3158591"/>
          </a:xfrm>
          <a:custGeom>
            <a:avLst/>
            <a:gdLst/>
            <a:ahLst/>
            <a:cxnLst/>
            <a:rect l="l" t="t" r="r" b="b"/>
            <a:pathLst>
              <a:path w="5167785" h="3158591">
                <a:moveTo>
                  <a:pt x="0" y="0"/>
                </a:moveTo>
                <a:lnTo>
                  <a:pt x="5167784" y="0"/>
                </a:lnTo>
                <a:lnTo>
                  <a:pt x="5167784" y="3158590"/>
                </a:lnTo>
                <a:lnTo>
                  <a:pt x="0" y="31585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92950" y="8596550"/>
            <a:ext cx="1695050" cy="1690450"/>
          </a:xfrm>
          <a:custGeom>
            <a:avLst/>
            <a:gdLst/>
            <a:ahLst/>
            <a:cxnLst/>
            <a:rect l="l" t="t" r="r" b="b"/>
            <a:pathLst>
              <a:path w="1695050" h="1690450">
                <a:moveTo>
                  <a:pt x="0" y="0"/>
                </a:moveTo>
                <a:lnTo>
                  <a:pt x="1695050" y="0"/>
                </a:lnTo>
                <a:lnTo>
                  <a:pt x="1695050" y="1690450"/>
                </a:lnTo>
                <a:lnTo>
                  <a:pt x="0" y="16904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041493" y="1229327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31425" y="829075"/>
            <a:ext cx="15225150" cy="90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7"/>
              </a:lnSpc>
            </a:pPr>
            <a:r>
              <a:rPr lang="en-US" sz="5599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Mục</a:t>
            </a:r>
            <a:r>
              <a:rPr lang="en-US" sz="5599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5599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lục</a:t>
            </a:r>
            <a:endParaRPr lang="en-US" sz="5599" b="1" dirty="0">
              <a:solidFill>
                <a:srgbClr val="292929"/>
              </a:solidFill>
              <a:latin typeface="Arimo Bold" panose="020B0604020202020204" charset="0"/>
              <a:ea typeface="Arimo Bold" panose="020B0604020202020204" charset="0"/>
              <a:cs typeface="Arimo Bold" panose="020B0604020202020204" charset="0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38438" y="3513846"/>
            <a:ext cx="3197973" cy="1270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4967"/>
              </a:lnSpc>
              <a:defRPr sz="3600" b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sz="4000">
                <a:sym typeface="Poppins Bold"/>
              </a:rPr>
              <a:t>Giới thiệu tổng quan</a:t>
            </a:r>
            <a:endParaRPr lang="en-US" sz="4000" dirty="0">
              <a:sym typeface="Poppi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17875" y="2641401"/>
            <a:ext cx="1619550" cy="81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7"/>
              </a:lnSpc>
            </a:pPr>
            <a:r>
              <a:rPr lang="en-US" sz="5599" b="1">
                <a:solidFill>
                  <a:srgbClr val="292929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27898" y="5726007"/>
            <a:ext cx="1619550" cy="81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7"/>
              </a:lnSpc>
            </a:pPr>
            <a:r>
              <a:rPr lang="en-US" sz="5599" b="1">
                <a:solidFill>
                  <a:srgbClr val="292929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15848" y="5726007"/>
            <a:ext cx="1619550" cy="81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7"/>
              </a:lnSpc>
            </a:pPr>
            <a:r>
              <a:rPr lang="en-US" sz="5599" b="1">
                <a:solidFill>
                  <a:srgbClr val="292929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29925" y="2641401"/>
            <a:ext cx="1619550" cy="81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7"/>
              </a:lnSpc>
            </a:pPr>
            <a:r>
              <a:rPr lang="en-US" sz="5599" b="1">
                <a:solidFill>
                  <a:srgbClr val="292929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41975" y="2641401"/>
            <a:ext cx="1619550" cy="81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7"/>
              </a:lnSpc>
            </a:pPr>
            <a:r>
              <a:rPr lang="en-US" sz="5599" b="1">
                <a:solidFill>
                  <a:srgbClr val="292929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15846" y="6611444"/>
            <a:ext cx="3578859" cy="1270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4967"/>
              </a:lnSpc>
              <a:defRPr sz="3600" b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sz="4000" dirty="0" err="1">
                <a:sym typeface="Poppins Bold"/>
              </a:rPr>
              <a:t>Kết</a:t>
            </a:r>
            <a:r>
              <a:rPr lang="en-US" sz="4000" dirty="0">
                <a:sym typeface="Poppins Bold"/>
              </a:rPr>
              <a:t> </a:t>
            </a:r>
            <a:r>
              <a:rPr lang="en-US" sz="4000" dirty="0" err="1">
                <a:sym typeface="Poppins Bold"/>
              </a:rPr>
              <a:t>quả</a:t>
            </a:r>
            <a:r>
              <a:rPr lang="en-US" sz="4000" dirty="0">
                <a:sym typeface="Poppins Bold"/>
              </a:rPr>
              <a:t> </a:t>
            </a:r>
            <a:r>
              <a:rPr lang="en-US" sz="4000" dirty="0" err="1">
                <a:sym typeface="Poppins Bold"/>
              </a:rPr>
              <a:t>và</a:t>
            </a:r>
            <a:r>
              <a:rPr lang="en-US" sz="4000" dirty="0">
                <a:sym typeface="Poppins Bold"/>
              </a:rPr>
              <a:t> </a:t>
            </a:r>
            <a:r>
              <a:rPr lang="en-US" sz="4000" dirty="0" err="1">
                <a:sym typeface="Poppins Bold"/>
              </a:rPr>
              <a:t>đánh</a:t>
            </a:r>
            <a:r>
              <a:rPr lang="en-US" sz="4000" dirty="0">
                <a:sym typeface="Poppins Bold"/>
              </a:rPr>
              <a:t> </a:t>
            </a:r>
            <a:r>
              <a:rPr lang="en-US" sz="4000" dirty="0" err="1">
                <a:sym typeface="Poppins Bold"/>
              </a:rPr>
              <a:t>giá</a:t>
            </a:r>
            <a:endParaRPr lang="en-US" sz="4000" dirty="0">
              <a:sym typeface="Poppi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127900" y="6611444"/>
            <a:ext cx="4350100" cy="1238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4967"/>
              </a:lnSpc>
              <a:defRPr sz="3600" b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sz="4000" dirty="0" err="1">
                <a:sym typeface="Poppins Bold"/>
              </a:rPr>
              <a:t>Kết</a:t>
            </a:r>
            <a:r>
              <a:rPr lang="en-US" sz="4000" dirty="0">
                <a:sym typeface="Poppins Bold"/>
              </a:rPr>
              <a:t> </a:t>
            </a:r>
            <a:r>
              <a:rPr lang="en-US" sz="4000" dirty="0" err="1">
                <a:sym typeface="Poppins Bold"/>
              </a:rPr>
              <a:t>luận</a:t>
            </a:r>
            <a:r>
              <a:rPr lang="en-US" sz="4000" dirty="0">
                <a:sym typeface="Poppins Bold"/>
              </a:rPr>
              <a:t> </a:t>
            </a:r>
            <a:r>
              <a:rPr lang="en-US" sz="4000" dirty="0" err="1">
                <a:sym typeface="Poppins Bold"/>
              </a:rPr>
              <a:t>và</a:t>
            </a:r>
            <a:r>
              <a:rPr lang="en-US" sz="4000" dirty="0">
                <a:sym typeface="Poppins Bold"/>
              </a:rPr>
              <a:t> </a:t>
            </a:r>
            <a:r>
              <a:rPr lang="en-US" sz="4000" dirty="0" err="1">
                <a:sym typeface="Poppins Bold"/>
              </a:rPr>
              <a:t>hướng</a:t>
            </a:r>
            <a:r>
              <a:rPr lang="en-US" sz="4000" dirty="0">
                <a:sym typeface="Poppins Bold"/>
              </a:rPr>
              <a:t> </a:t>
            </a:r>
            <a:r>
              <a:rPr lang="en-US" sz="4000" dirty="0" err="1">
                <a:sym typeface="Poppins Bold"/>
              </a:rPr>
              <a:t>phát</a:t>
            </a:r>
            <a:r>
              <a:rPr lang="en-US" sz="4000" dirty="0">
                <a:sym typeface="Poppins Bold"/>
              </a:rPr>
              <a:t> </a:t>
            </a:r>
            <a:r>
              <a:rPr lang="en-US" sz="4000" dirty="0" err="1">
                <a:sym typeface="Poppins Bold"/>
              </a:rPr>
              <a:t>triển</a:t>
            </a:r>
            <a:endParaRPr lang="en-US" sz="4000" dirty="0">
              <a:sym typeface="Poppi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929927" y="3513846"/>
            <a:ext cx="4084819" cy="1270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67"/>
              </a:lnSpc>
            </a:pPr>
            <a:r>
              <a:rPr lang="en-US" sz="4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Các </a:t>
            </a:r>
            <a:r>
              <a:rPr lang="en-US" sz="4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nghiên</a:t>
            </a:r>
            <a:r>
              <a:rPr lang="en-US" sz="4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4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cứu</a:t>
            </a:r>
            <a:r>
              <a:rPr lang="en-US" sz="4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4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liên</a:t>
            </a:r>
            <a:r>
              <a:rPr lang="en-US" sz="4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4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quan</a:t>
            </a:r>
            <a:endParaRPr lang="en-US" sz="4000" b="1" dirty="0">
              <a:solidFill>
                <a:srgbClr val="03178C"/>
              </a:solidFill>
              <a:latin typeface="Arimo Bold" panose="020B0604020202020204" charset="0"/>
              <a:ea typeface="Arimo Bold" panose="020B0604020202020204" charset="0"/>
              <a:cs typeface="Arimo Bold" panose="020B0604020202020204" charset="0"/>
              <a:sym typeface="Poppi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341975" y="3513846"/>
            <a:ext cx="3660026" cy="1227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4967"/>
              </a:lnSpc>
              <a:defRPr sz="3600" b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sz="4000" dirty="0" err="1">
                <a:sym typeface="Poppins Bold"/>
              </a:rPr>
              <a:t>Thiết</a:t>
            </a:r>
            <a:r>
              <a:rPr lang="en-US" sz="4000" dirty="0">
                <a:sym typeface="Poppins Bold"/>
              </a:rPr>
              <a:t> </a:t>
            </a:r>
            <a:r>
              <a:rPr lang="en-US" sz="4000" dirty="0" err="1">
                <a:sym typeface="Poppins Bold"/>
              </a:rPr>
              <a:t>kế</a:t>
            </a:r>
            <a:r>
              <a:rPr lang="en-US" sz="4000" dirty="0">
                <a:sym typeface="Poppins Bold"/>
              </a:rPr>
              <a:t> </a:t>
            </a:r>
            <a:r>
              <a:rPr lang="en-US" sz="4000" dirty="0" err="1">
                <a:sym typeface="Poppins Bold"/>
              </a:rPr>
              <a:t>và</a:t>
            </a:r>
            <a:r>
              <a:rPr lang="en-US" sz="4000" dirty="0">
                <a:sym typeface="Poppins Bold"/>
              </a:rPr>
              <a:t> </a:t>
            </a:r>
            <a:r>
              <a:rPr lang="en-US" sz="4000" dirty="0" err="1">
                <a:sym typeface="Poppins Bold"/>
              </a:rPr>
              <a:t>hiện</a:t>
            </a:r>
            <a:r>
              <a:rPr lang="en-US" sz="4000" dirty="0">
                <a:sym typeface="Poppins Bold"/>
              </a:rPr>
              <a:t> </a:t>
            </a:r>
            <a:r>
              <a:rPr lang="en-US" sz="4000" dirty="0" err="1">
                <a:sym typeface="Poppins Bold"/>
              </a:rPr>
              <a:t>thực</a:t>
            </a:r>
            <a:endParaRPr lang="en-US" sz="4000" dirty="0">
              <a:sym typeface="Poppins Bold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6895830" y="-24"/>
            <a:ext cx="1392174" cy="1390454"/>
            <a:chOff x="0" y="0"/>
            <a:chExt cx="1856232" cy="1853939"/>
          </a:xfrm>
        </p:grpSpPr>
        <p:sp>
          <p:nvSpPr>
            <p:cNvPr id="18" name="Freeform 18"/>
            <p:cNvSpPr/>
            <p:nvPr/>
          </p:nvSpPr>
          <p:spPr>
            <a:xfrm>
              <a:off x="0" y="127"/>
              <a:ext cx="1856232" cy="1853692"/>
            </a:xfrm>
            <a:custGeom>
              <a:avLst/>
              <a:gdLst/>
              <a:ahLst/>
              <a:cxnLst/>
              <a:rect l="l" t="t" r="r" b="b"/>
              <a:pathLst>
                <a:path w="1856232" h="1853692">
                  <a:moveTo>
                    <a:pt x="0" y="0"/>
                  </a:moveTo>
                  <a:cubicBezTo>
                    <a:pt x="0" y="1022985"/>
                    <a:pt x="828294" y="1853692"/>
                    <a:pt x="1851152" y="1853692"/>
                  </a:cubicBezTo>
                  <a:lnTo>
                    <a:pt x="1856232" y="1853692"/>
                  </a:lnTo>
                  <a:lnTo>
                    <a:pt x="1856232" y="1027811"/>
                  </a:lnTo>
                  <a:cubicBezTo>
                    <a:pt x="1287399" y="1027811"/>
                    <a:pt x="825754" y="568833"/>
                    <a:pt x="825754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5040">
        <p159:morph option="byObject"/>
      </p:transition>
    </mc:Choice>
    <mc:Fallback xmlns="">
      <p:transition spd="slow" advTm="504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20" y="8896526"/>
            <a:ext cx="1392174" cy="1390454"/>
            <a:chOff x="0" y="0"/>
            <a:chExt cx="1856232" cy="1853939"/>
          </a:xfrm>
        </p:grpSpPr>
        <p:sp>
          <p:nvSpPr>
            <p:cNvPr id="3" name="Freeform 3"/>
            <p:cNvSpPr/>
            <p:nvPr/>
          </p:nvSpPr>
          <p:spPr>
            <a:xfrm>
              <a:off x="0" y="127"/>
              <a:ext cx="1856232" cy="1853692"/>
            </a:xfrm>
            <a:custGeom>
              <a:avLst/>
              <a:gdLst/>
              <a:ahLst/>
              <a:cxnLst/>
              <a:rect l="l" t="t" r="r" b="b"/>
              <a:pathLst>
                <a:path w="1856232" h="1853692">
                  <a:moveTo>
                    <a:pt x="0" y="0"/>
                  </a:moveTo>
                  <a:cubicBezTo>
                    <a:pt x="0" y="1022985"/>
                    <a:pt x="828294" y="1853692"/>
                    <a:pt x="1851152" y="1853692"/>
                  </a:cubicBezTo>
                  <a:lnTo>
                    <a:pt x="1856232" y="1853692"/>
                  </a:lnTo>
                  <a:lnTo>
                    <a:pt x="1856232" y="1027811"/>
                  </a:lnTo>
                  <a:cubicBezTo>
                    <a:pt x="1287399" y="1027811"/>
                    <a:pt x="825754" y="568833"/>
                    <a:pt x="825754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-701055" y="-2118221"/>
            <a:ext cx="6930502" cy="4200642"/>
          </a:xfrm>
          <a:custGeom>
            <a:avLst/>
            <a:gdLst/>
            <a:ahLst/>
            <a:cxnLst/>
            <a:rect l="l" t="t" r="r" b="b"/>
            <a:pathLst>
              <a:path w="6930502" h="4200642">
                <a:moveTo>
                  <a:pt x="0" y="0"/>
                </a:moveTo>
                <a:lnTo>
                  <a:pt x="6930502" y="0"/>
                </a:lnTo>
                <a:lnTo>
                  <a:pt x="6930502" y="4200642"/>
                </a:lnTo>
                <a:lnTo>
                  <a:pt x="0" y="42006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624831" y="-64656"/>
            <a:ext cx="4292048" cy="7021805"/>
          </a:xfrm>
          <a:custGeom>
            <a:avLst/>
            <a:gdLst/>
            <a:ahLst/>
            <a:cxnLst/>
            <a:rect l="l" t="t" r="r" b="b"/>
            <a:pathLst>
              <a:path w="4292048" h="7021805">
                <a:moveTo>
                  <a:pt x="0" y="0"/>
                </a:moveTo>
                <a:lnTo>
                  <a:pt x="4292048" y="0"/>
                </a:lnTo>
                <a:lnTo>
                  <a:pt x="4292048" y="7021805"/>
                </a:lnTo>
                <a:lnTo>
                  <a:pt x="0" y="7021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31425" y="4619550"/>
            <a:ext cx="9952350" cy="378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Giới</a:t>
            </a:r>
            <a:r>
              <a:rPr lang="en-US" sz="12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thiệu</a:t>
            </a:r>
            <a:r>
              <a:rPr lang="en-US" sz="12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tổng</a:t>
            </a:r>
            <a:r>
              <a:rPr lang="en-US" sz="12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quan</a:t>
            </a:r>
            <a:endParaRPr lang="en-US" sz="12000" b="1" dirty="0">
              <a:solidFill>
                <a:srgbClr val="03178C"/>
              </a:solidFill>
              <a:latin typeface="Arimo Bold" panose="020B0604020202020204" charset="0"/>
              <a:ea typeface="Arimo Bold" panose="020B0604020202020204" charset="0"/>
              <a:cs typeface="Arimo Bold" panose="020B0604020202020204" charset="0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31425" y="2935950"/>
            <a:ext cx="2465550" cy="162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 b="1">
                <a:solidFill>
                  <a:srgbClr val="03178C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8" name="Freeform 8"/>
          <p:cNvSpPr/>
          <p:nvPr/>
        </p:nvSpPr>
        <p:spPr>
          <a:xfrm>
            <a:off x="12203559" y="5078825"/>
            <a:ext cx="4292048" cy="7021805"/>
          </a:xfrm>
          <a:custGeom>
            <a:avLst/>
            <a:gdLst/>
            <a:ahLst/>
            <a:cxnLst/>
            <a:rect l="l" t="t" r="r" b="b"/>
            <a:pathLst>
              <a:path w="4292048" h="7021805">
                <a:moveTo>
                  <a:pt x="0" y="0"/>
                </a:moveTo>
                <a:lnTo>
                  <a:pt x="4292048" y="0"/>
                </a:lnTo>
                <a:lnTo>
                  <a:pt x="4292048" y="7021805"/>
                </a:lnTo>
                <a:lnTo>
                  <a:pt x="0" y="7021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449732" y="1674738"/>
            <a:ext cx="1183906" cy="1124640"/>
          </a:xfrm>
          <a:custGeom>
            <a:avLst/>
            <a:gdLst/>
            <a:ahLst/>
            <a:cxnLst/>
            <a:rect l="l" t="t" r="r" b="b"/>
            <a:pathLst>
              <a:path w="1183906" h="1124640">
                <a:moveTo>
                  <a:pt x="0" y="0"/>
                </a:moveTo>
                <a:lnTo>
                  <a:pt x="1183906" y="0"/>
                </a:lnTo>
                <a:lnTo>
                  <a:pt x="1183906" y="1124640"/>
                </a:lnTo>
                <a:lnTo>
                  <a:pt x="0" y="1124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5804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299887" y="21"/>
            <a:ext cx="988100" cy="1385350"/>
          </a:xfrm>
          <a:custGeom>
            <a:avLst/>
            <a:gdLst/>
            <a:ahLst/>
            <a:cxnLst/>
            <a:rect l="l" t="t" r="r" b="b"/>
            <a:pathLst>
              <a:path w="988100" h="1385350">
                <a:moveTo>
                  <a:pt x="0" y="0"/>
                </a:moveTo>
                <a:lnTo>
                  <a:pt x="988100" y="0"/>
                </a:lnTo>
                <a:lnTo>
                  <a:pt x="988100" y="1385350"/>
                </a:lnTo>
                <a:lnTo>
                  <a:pt x="0" y="1385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31425" y="867175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1">
                <a:solidFill>
                  <a:srgbClr val="29292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 . Giới thiệu tổng quan</a:t>
            </a:r>
          </a:p>
        </p:txBody>
      </p:sp>
      <p:sp>
        <p:nvSpPr>
          <p:cNvPr id="7" name="Freeform 7"/>
          <p:cNvSpPr/>
          <p:nvPr/>
        </p:nvSpPr>
        <p:spPr>
          <a:xfrm>
            <a:off x="16428050" y="1943450"/>
            <a:ext cx="866950" cy="823550"/>
          </a:xfrm>
          <a:custGeom>
            <a:avLst/>
            <a:gdLst/>
            <a:ahLst/>
            <a:cxnLst/>
            <a:rect l="l" t="t" r="r" b="b"/>
            <a:pathLst>
              <a:path w="866950" h="823550">
                <a:moveTo>
                  <a:pt x="0" y="0"/>
                </a:moveTo>
                <a:lnTo>
                  <a:pt x="866950" y="0"/>
                </a:lnTo>
                <a:lnTo>
                  <a:pt x="866950" y="823550"/>
                </a:lnTo>
                <a:lnTo>
                  <a:pt x="0" y="82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72045" y="2628900"/>
            <a:ext cx="15714325" cy="1945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863"/>
              </a:lnSpc>
              <a:buFont typeface="Arial"/>
              <a:buChar char="•"/>
            </a:pP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Hệ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thống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HRC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giúp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kết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hợp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kỹ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năng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sự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linh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hoạt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của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con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người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và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sự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bền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bỉ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chính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xác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của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máy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móc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[1]</a:t>
            </a:r>
          </a:p>
          <a:p>
            <a:pPr marL="604520" lvl="1" indent="-302260" algn="l">
              <a:lnSpc>
                <a:spcPts val="3863"/>
              </a:lnSpc>
              <a:buFont typeface="Arial"/>
              <a:buChar char="•"/>
            </a:pPr>
            <a:r>
              <a:rPr lang="en-US" sz="2799" b="1" dirty="0" err="1">
                <a:solidFill>
                  <a:srgbClr val="292929"/>
                </a:solidFill>
                <a:latin typeface="Arimo Bold"/>
                <a:ea typeface="Arimo Bold"/>
                <a:cs typeface="Arimo Bold"/>
                <a:sym typeface="Arimo Bold"/>
              </a:rPr>
              <a:t>Điều</a:t>
            </a:r>
            <a:r>
              <a:rPr lang="en-US" sz="2799" b="1" dirty="0">
                <a:solidFill>
                  <a:srgbClr val="29292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99" b="1" dirty="0" err="1">
                <a:solidFill>
                  <a:srgbClr val="292929"/>
                </a:solidFill>
                <a:latin typeface="Arimo Bold"/>
                <a:ea typeface="Arimo Bold"/>
                <a:cs typeface="Arimo Bold"/>
                <a:sym typeface="Arimo Bold"/>
              </a:rPr>
              <a:t>khiển</a:t>
            </a:r>
            <a:r>
              <a:rPr lang="en-US" sz="2799" b="1" dirty="0">
                <a:solidFill>
                  <a:srgbClr val="29292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99" b="1" dirty="0" err="1">
                <a:solidFill>
                  <a:srgbClr val="292929"/>
                </a:solidFill>
                <a:latin typeface="Arimo Bold"/>
                <a:ea typeface="Arimo Bold"/>
                <a:cs typeface="Arimo Bold"/>
                <a:sym typeface="Arimo Bold"/>
              </a:rPr>
              <a:t>từ</a:t>
            </a:r>
            <a:r>
              <a:rPr lang="en-US" sz="2799" b="1" dirty="0">
                <a:solidFill>
                  <a:srgbClr val="292929"/>
                </a:solidFill>
                <a:latin typeface="Arimo Bold"/>
                <a:ea typeface="Arimo Bold"/>
                <a:cs typeface="Arimo Bold"/>
                <a:sym typeface="Arimo Bold"/>
              </a:rPr>
              <a:t> xa (teleoperation)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giúp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giải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quyết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những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công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việc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phức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tạp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trong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môi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trường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có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tính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nguy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hiểm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cao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[2]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1600" y="2059825"/>
            <a:ext cx="15714325" cy="58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7"/>
              </a:lnSpc>
            </a:pP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Nhu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cầu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của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hệ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thống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Human-Robot Collaboration (HRC)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2045" y="4904659"/>
            <a:ext cx="15356805" cy="126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7"/>
              </a:lnSpc>
            </a:pP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VR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hỗ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trợ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xây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dựng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Human-Robot Interaction (HRI)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hiện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đại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cho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Teleoperation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1600" y="7892368"/>
            <a:ext cx="15727875" cy="58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7"/>
              </a:lnSpc>
            </a:pP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Nền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tảng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điều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khiển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mạnh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mẽ</a:t>
            </a:r>
            <a:endParaRPr lang="en-US" sz="3600" b="1" dirty="0">
              <a:solidFill>
                <a:srgbClr val="03178C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6469" y="9400668"/>
            <a:ext cx="180594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80"/>
              </a:lnSpc>
            </a:pPr>
            <a:r>
              <a:rPr lang="en-US" sz="1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[1] Q. Zhang, Q. Liu, J. Duan, and J. Qin, “Research on teleoperated virtual reality human–robot five-dimensional collaboration system,” Biomimetics, vol. 8, no. 8, 2023, </a:t>
            </a:r>
            <a:r>
              <a:rPr lang="en-US" sz="1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issn</a:t>
            </a:r>
            <a:r>
              <a:rPr lang="en-US" sz="1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2313-7673. </a:t>
            </a:r>
            <a:r>
              <a:rPr lang="en-US" sz="1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doi</a:t>
            </a:r>
            <a:r>
              <a:rPr lang="en-US" sz="1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10.3390/biomimetics8080605. [Online]. </a:t>
            </a:r>
          </a:p>
          <a:p>
            <a:pPr algn="l">
              <a:lnSpc>
                <a:spcPts val="1380"/>
              </a:lnSpc>
            </a:pPr>
            <a:r>
              <a:rPr lang="en-US" sz="1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[2] W. Pryor et al., “A virtual reality planning environment for high-risk, high-latency teleoperation,” in 2023 IEEE International Conference on Robotics and Automation (ICRA), 2023, pp. 11 619–11 625. </a:t>
            </a:r>
            <a:r>
              <a:rPr lang="en-US" sz="1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doi</a:t>
            </a:r>
            <a:r>
              <a:rPr lang="en-US" sz="1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10.1109/ICRA48891.2023.10161029. </a:t>
            </a:r>
          </a:p>
          <a:p>
            <a:pPr algn="l">
              <a:lnSpc>
                <a:spcPts val="1380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[3]T. Luu et al., “Enhancing real-time robot teleoperation with immersive virtual reality in industrial </a:t>
            </a:r>
            <a:r>
              <a:rPr lang="en-US" sz="1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iot</a:t>
            </a:r>
            <a:r>
              <a:rPr lang="en-US" sz="1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networks,” The International Journal of Advanced Manufacturing Technology, vol. 139, pp. 6233–6257, Aug. 2025. </a:t>
            </a:r>
            <a:r>
              <a:rPr lang="en-US" sz="1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doi</a:t>
            </a:r>
            <a:r>
              <a:rPr lang="en-US" sz="1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10.1007/s00170-025-16236-w.</a:t>
            </a:r>
          </a:p>
          <a:p>
            <a:pPr algn="l">
              <a:lnSpc>
                <a:spcPts val="1380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[4] R. Hetrick, N. Amerson, B. Kim, E. Rosen, E. J. de Visser, and E. Phillips, “Comparing virtual reality interfaces for the teleoperation of robots,” in 2020 Systems and Information Engineering Design Symposium (SIEDS), 2020, pp. 1–7.</a:t>
            </a:r>
          </a:p>
          <a:p>
            <a:pPr algn="l">
              <a:lnSpc>
                <a:spcPts val="1380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[5] S. </a:t>
            </a:r>
            <a:r>
              <a:rPr lang="en-US" sz="1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Macenski</a:t>
            </a:r>
            <a:r>
              <a:rPr lang="en-US" sz="1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, T. Foote, B. Gerkey, C. Lalancette, and W. Woodall, “Robot operating system 2: Design, architecture, and uses in the wild,” Science Robotics, vol. 7, no. 66, eabm6074, 2022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6102384"/>
            <a:ext cx="15832825" cy="145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863"/>
              </a:lnSpc>
              <a:buFont typeface="Arial"/>
              <a:buChar char="•"/>
            </a:pP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VR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thay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thế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phương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thức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điều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khiển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truyền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thống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nhằm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cải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thiện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cảm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nhận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về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môi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trường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và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giúp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điều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khiển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dễ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dàng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trực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quan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[3] </a:t>
            </a:r>
          </a:p>
          <a:p>
            <a:pPr marL="604519" lvl="1" indent="-302260" algn="l">
              <a:lnSpc>
                <a:spcPts val="3863"/>
              </a:lnSpc>
              <a:buFont typeface="Arial"/>
              <a:buChar char="•"/>
            </a:pP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Người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dùng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thông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thường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điều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khiển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VR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hiệu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quả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hơn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so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với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phương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thức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truyền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thống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[4]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7147" y="8461445"/>
            <a:ext cx="15544120" cy="456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863"/>
              </a:lnSpc>
              <a:buFont typeface="Arial"/>
              <a:buChar char="•"/>
            </a:pP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ROS2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cung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cấp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bộ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công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cụ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hiệu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quả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trong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điều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khiển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và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vận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hành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Robot [5]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747387" y="9549206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20" y="8896526"/>
            <a:ext cx="1392174" cy="1390454"/>
            <a:chOff x="0" y="0"/>
            <a:chExt cx="1856232" cy="1853939"/>
          </a:xfrm>
        </p:grpSpPr>
        <p:sp>
          <p:nvSpPr>
            <p:cNvPr id="3" name="Freeform 3"/>
            <p:cNvSpPr/>
            <p:nvPr/>
          </p:nvSpPr>
          <p:spPr>
            <a:xfrm>
              <a:off x="0" y="127"/>
              <a:ext cx="1856232" cy="1853692"/>
            </a:xfrm>
            <a:custGeom>
              <a:avLst/>
              <a:gdLst/>
              <a:ahLst/>
              <a:cxnLst/>
              <a:rect l="l" t="t" r="r" b="b"/>
              <a:pathLst>
                <a:path w="1856232" h="1853692">
                  <a:moveTo>
                    <a:pt x="0" y="0"/>
                  </a:moveTo>
                  <a:cubicBezTo>
                    <a:pt x="0" y="1022985"/>
                    <a:pt x="828294" y="1853692"/>
                    <a:pt x="1851152" y="1853692"/>
                  </a:cubicBezTo>
                  <a:lnTo>
                    <a:pt x="1856232" y="1853692"/>
                  </a:lnTo>
                  <a:lnTo>
                    <a:pt x="1856232" y="1027811"/>
                  </a:lnTo>
                  <a:cubicBezTo>
                    <a:pt x="1287399" y="1027811"/>
                    <a:pt x="825754" y="568833"/>
                    <a:pt x="825754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-701055" y="-2118221"/>
            <a:ext cx="6930502" cy="4200642"/>
          </a:xfrm>
          <a:custGeom>
            <a:avLst/>
            <a:gdLst/>
            <a:ahLst/>
            <a:cxnLst/>
            <a:rect l="l" t="t" r="r" b="b"/>
            <a:pathLst>
              <a:path w="6930502" h="4200642">
                <a:moveTo>
                  <a:pt x="0" y="0"/>
                </a:moveTo>
                <a:lnTo>
                  <a:pt x="6930502" y="0"/>
                </a:lnTo>
                <a:lnTo>
                  <a:pt x="6930502" y="4200642"/>
                </a:lnTo>
                <a:lnTo>
                  <a:pt x="0" y="42006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624831" y="-64656"/>
            <a:ext cx="4292048" cy="7021805"/>
          </a:xfrm>
          <a:custGeom>
            <a:avLst/>
            <a:gdLst/>
            <a:ahLst/>
            <a:cxnLst/>
            <a:rect l="l" t="t" r="r" b="b"/>
            <a:pathLst>
              <a:path w="4292048" h="7021805">
                <a:moveTo>
                  <a:pt x="0" y="0"/>
                </a:moveTo>
                <a:lnTo>
                  <a:pt x="4292048" y="0"/>
                </a:lnTo>
                <a:lnTo>
                  <a:pt x="4292048" y="7021805"/>
                </a:lnTo>
                <a:lnTo>
                  <a:pt x="0" y="7021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31425" y="4619550"/>
            <a:ext cx="12818158" cy="378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Các </a:t>
            </a: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nghiên</a:t>
            </a:r>
            <a:r>
              <a:rPr lang="en-US" sz="12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cứu</a:t>
            </a:r>
            <a:r>
              <a:rPr lang="en-US" sz="12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liên</a:t>
            </a:r>
            <a:r>
              <a:rPr lang="en-US" sz="12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quan</a:t>
            </a:r>
            <a:endParaRPr lang="en-US" sz="12000" b="1" dirty="0">
              <a:solidFill>
                <a:srgbClr val="03178C"/>
              </a:solidFill>
              <a:latin typeface="Arimo Bold" panose="020B0604020202020204" charset="0"/>
              <a:ea typeface="Arimo Bold" panose="020B0604020202020204" charset="0"/>
              <a:cs typeface="Arimo Bold" panose="020B0604020202020204" charset="0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31425" y="2771925"/>
            <a:ext cx="2465550" cy="195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 b="1">
                <a:solidFill>
                  <a:srgbClr val="03178C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8" name="Freeform 8"/>
          <p:cNvSpPr/>
          <p:nvPr/>
        </p:nvSpPr>
        <p:spPr>
          <a:xfrm>
            <a:off x="12203559" y="5078825"/>
            <a:ext cx="4292048" cy="7021805"/>
          </a:xfrm>
          <a:custGeom>
            <a:avLst/>
            <a:gdLst/>
            <a:ahLst/>
            <a:cxnLst/>
            <a:rect l="l" t="t" r="r" b="b"/>
            <a:pathLst>
              <a:path w="4292048" h="7021805">
                <a:moveTo>
                  <a:pt x="0" y="0"/>
                </a:moveTo>
                <a:lnTo>
                  <a:pt x="4292048" y="0"/>
                </a:lnTo>
                <a:lnTo>
                  <a:pt x="4292048" y="7021805"/>
                </a:lnTo>
                <a:lnTo>
                  <a:pt x="0" y="7021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449732" y="1674738"/>
            <a:ext cx="1183906" cy="1124640"/>
          </a:xfrm>
          <a:custGeom>
            <a:avLst/>
            <a:gdLst/>
            <a:ahLst/>
            <a:cxnLst/>
            <a:rect l="l" t="t" r="r" b="b"/>
            <a:pathLst>
              <a:path w="1183906" h="1124640">
                <a:moveTo>
                  <a:pt x="0" y="0"/>
                </a:moveTo>
                <a:lnTo>
                  <a:pt x="1183906" y="0"/>
                </a:lnTo>
                <a:lnTo>
                  <a:pt x="1183906" y="1124640"/>
                </a:lnTo>
                <a:lnTo>
                  <a:pt x="0" y="1124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41493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4656" y="20"/>
            <a:ext cx="1683360" cy="841660"/>
          </a:xfrm>
          <a:custGeom>
            <a:avLst/>
            <a:gdLst/>
            <a:ahLst/>
            <a:cxnLst/>
            <a:rect l="l" t="t" r="r" b="b"/>
            <a:pathLst>
              <a:path w="1683360" h="841660">
                <a:moveTo>
                  <a:pt x="0" y="0"/>
                </a:moveTo>
                <a:lnTo>
                  <a:pt x="1683360" y="0"/>
                </a:lnTo>
                <a:lnTo>
                  <a:pt x="1683360" y="841660"/>
                </a:lnTo>
                <a:lnTo>
                  <a:pt x="0" y="841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10800000">
            <a:off x="-8" y="9445452"/>
            <a:ext cx="842604" cy="841564"/>
            <a:chOff x="0" y="0"/>
            <a:chExt cx="1123472" cy="1122085"/>
          </a:xfrm>
        </p:grpSpPr>
        <p:sp>
          <p:nvSpPr>
            <p:cNvPr id="5" name="Freeform 5"/>
            <p:cNvSpPr/>
            <p:nvPr/>
          </p:nvSpPr>
          <p:spPr>
            <a:xfrm>
              <a:off x="0" y="127"/>
              <a:ext cx="1123442" cy="1121918"/>
            </a:xfrm>
            <a:custGeom>
              <a:avLst/>
              <a:gdLst/>
              <a:ahLst/>
              <a:cxnLst/>
              <a:rect l="l" t="t" r="r" b="b"/>
              <a:pathLst>
                <a:path w="1123442" h="1121918">
                  <a:moveTo>
                    <a:pt x="0" y="0"/>
                  </a:moveTo>
                  <a:cubicBezTo>
                    <a:pt x="0" y="619125"/>
                    <a:pt x="501269" y="1121918"/>
                    <a:pt x="1120394" y="1121918"/>
                  </a:cubicBezTo>
                  <a:lnTo>
                    <a:pt x="1123442" y="1121918"/>
                  </a:lnTo>
                  <a:lnTo>
                    <a:pt x="1123442" y="622046"/>
                  </a:lnTo>
                  <a:cubicBezTo>
                    <a:pt x="779145" y="622046"/>
                    <a:pt x="499745" y="344297"/>
                    <a:pt x="499745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82102" y="3105330"/>
            <a:ext cx="7332079" cy="3730195"/>
          </a:xfrm>
          <a:custGeom>
            <a:avLst/>
            <a:gdLst/>
            <a:ahLst/>
            <a:cxnLst/>
            <a:rect l="l" t="t" r="r" b="b"/>
            <a:pathLst>
              <a:path w="7332079" h="3730195">
                <a:moveTo>
                  <a:pt x="0" y="0"/>
                </a:moveTo>
                <a:lnTo>
                  <a:pt x="7332079" y="0"/>
                </a:lnTo>
                <a:lnTo>
                  <a:pt x="7332079" y="3730196"/>
                </a:lnTo>
                <a:lnTo>
                  <a:pt x="0" y="3730196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31425" y="867175"/>
            <a:ext cx="15225150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1" dirty="0">
                <a:solidFill>
                  <a:srgbClr val="292929"/>
                </a:solidFill>
                <a:latin typeface="Arial" panose="020B0604020202020204" pitchFamily="34" charset="0"/>
                <a:ea typeface="Arial MT Pro Bold"/>
                <a:cs typeface="Arial" panose="020B0604020202020204" pitchFamily="34" charset="0"/>
                <a:sym typeface="Arial MT Pro Bold"/>
              </a:rPr>
              <a:t>2 . Các </a:t>
            </a:r>
            <a:r>
              <a:rPr lang="en-US" sz="5599" b="1" dirty="0" err="1">
                <a:solidFill>
                  <a:srgbClr val="292929"/>
                </a:solidFill>
                <a:latin typeface="Arial" panose="020B0604020202020204" pitchFamily="34" charset="0"/>
                <a:ea typeface="Arial MT Pro Bold"/>
                <a:cs typeface="Arial" panose="020B0604020202020204" pitchFamily="34" charset="0"/>
                <a:sym typeface="Arial MT Pro Bold"/>
              </a:rPr>
              <a:t>nghiên</a:t>
            </a:r>
            <a:r>
              <a:rPr lang="en-US" sz="5599" b="1" dirty="0">
                <a:solidFill>
                  <a:srgbClr val="292929"/>
                </a:solidFill>
                <a:latin typeface="Arial" panose="020B0604020202020204" pitchFamily="34" charset="0"/>
                <a:ea typeface="Arial MT Pro Bold"/>
                <a:cs typeface="Arial" panose="020B0604020202020204" pitchFamily="34" charset="0"/>
                <a:sym typeface="Arial MT Pro Bold"/>
              </a:rPr>
              <a:t> </a:t>
            </a:r>
            <a:r>
              <a:rPr lang="en-US" sz="5599" b="1" dirty="0" err="1">
                <a:solidFill>
                  <a:srgbClr val="292929"/>
                </a:solidFill>
                <a:latin typeface="Arial" panose="020B0604020202020204" pitchFamily="34" charset="0"/>
                <a:ea typeface="Arial MT Pro Bold"/>
                <a:cs typeface="Arial" panose="020B0604020202020204" pitchFamily="34" charset="0"/>
                <a:sym typeface="Arial MT Pro Bold"/>
              </a:rPr>
              <a:t>cứu</a:t>
            </a:r>
            <a:r>
              <a:rPr lang="en-US" sz="5599" b="1" dirty="0">
                <a:solidFill>
                  <a:srgbClr val="292929"/>
                </a:solidFill>
                <a:latin typeface="Arial" panose="020B0604020202020204" pitchFamily="34" charset="0"/>
                <a:ea typeface="Arial MT Pro Bold"/>
                <a:cs typeface="Arial" panose="020B0604020202020204" pitchFamily="34" charset="0"/>
                <a:sym typeface="Arial MT Pro Bold"/>
              </a:rPr>
              <a:t> </a:t>
            </a:r>
            <a:r>
              <a:rPr lang="en-US" sz="5599" b="1" dirty="0" err="1">
                <a:solidFill>
                  <a:srgbClr val="292929"/>
                </a:solidFill>
                <a:latin typeface="Arial" panose="020B0604020202020204" pitchFamily="34" charset="0"/>
                <a:ea typeface="Arial MT Pro Bold"/>
                <a:cs typeface="Arial" panose="020B0604020202020204" pitchFamily="34" charset="0"/>
                <a:sym typeface="Arial MT Pro Bold"/>
              </a:rPr>
              <a:t>liên</a:t>
            </a:r>
            <a:r>
              <a:rPr lang="en-US" sz="5599" b="1" dirty="0">
                <a:solidFill>
                  <a:srgbClr val="292929"/>
                </a:solidFill>
                <a:latin typeface="Arial" panose="020B0604020202020204" pitchFamily="34" charset="0"/>
                <a:ea typeface="Arial MT Pro Bold"/>
                <a:cs typeface="Arial" panose="020B0604020202020204" pitchFamily="34" charset="0"/>
                <a:sym typeface="Arial MT Pro Bold"/>
              </a:rPr>
              <a:t> </a:t>
            </a:r>
            <a:r>
              <a:rPr lang="en-US" sz="5599" b="1" dirty="0" err="1">
                <a:solidFill>
                  <a:srgbClr val="292929"/>
                </a:solidFill>
                <a:latin typeface="Arial" panose="020B0604020202020204" pitchFamily="34" charset="0"/>
                <a:ea typeface="Arial MT Pro Bold"/>
                <a:cs typeface="Arial" panose="020B0604020202020204" pitchFamily="34" charset="0"/>
                <a:sym typeface="Arial MT Pro Bold"/>
              </a:rPr>
              <a:t>quan</a:t>
            </a:r>
            <a:endParaRPr lang="en-US" sz="5599" b="1" dirty="0">
              <a:solidFill>
                <a:srgbClr val="292929"/>
              </a:solidFill>
              <a:latin typeface="Arial" panose="020B0604020202020204" pitchFamily="34" charset="0"/>
              <a:ea typeface="Arial MT Pro Bold"/>
              <a:cs typeface="Arial" panose="020B0604020202020204" pitchFamily="34" charset="0"/>
              <a:sym typeface="Arial MT Pro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82102" y="7048500"/>
            <a:ext cx="7332079" cy="1945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63"/>
              </a:lnSpc>
              <a:spcBef>
                <a:spcPct val="0"/>
              </a:spcBef>
            </a:pP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Hiện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thực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3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phương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thức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điều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khiển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Phần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mềm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2D,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cử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chỉ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tay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VR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và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tay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cầm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VR.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Kết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quả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cho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thấy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điều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khiển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VR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giúp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hoàn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thành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công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việc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nhanh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hơn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phần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mềm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2D [6]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0304" y="9549206"/>
            <a:ext cx="15693592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[6] J. Chen, A. </a:t>
            </a:r>
            <a:r>
              <a:rPr lang="en-US" sz="16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Moemeni</a:t>
            </a:r>
            <a:r>
              <a:rPr lang="en-US" sz="16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, and P. Caleb-Solly, “Comparing a graphical user interface, hand gestures and controller in virtual reality for robot teleoperation,” pp. 644–648, 2023 </a:t>
            </a:r>
          </a:p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[7] A. </a:t>
            </a:r>
            <a:r>
              <a:rPr lang="en-US" sz="16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Naceri</a:t>
            </a:r>
            <a:r>
              <a:rPr lang="en-US" sz="16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et al., “The </a:t>
            </a:r>
            <a:r>
              <a:rPr lang="en-US" sz="16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vicarios</a:t>
            </a:r>
            <a:r>
              <a:rPr lang="en-US" sz="16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virtual reality interface for remote robotic teleoperation: Teleporting for intuitive tele-</a:t>
            </a:r>
            <a:r>
              <a:rPr lang="en-US" sz="16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manipulation,”Journal</a:t>
            </a:r>
            <a:r>
              <a:rPr lang="en-US" sz="16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of Intelligent &amp; Robotic Systems, vol. 101, no. 4, p. 80, 2021.</a:t>
            </a:r>
          </a:p>
          <a:p>
            <a:pPr algn="l">
              <a:spcBef>
                <a:spcPct val="0"/>
              </a:spcBef>
            </a:pPr>
            <a:endParaRPr lang="en-US" sz="1600" dirty="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7707369" y="9549206"/>
            <a:ext cx="232436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E7980A62-DCCF-B7C0-72D9-ACA2256C4AFB}"/>
              </a:ext>
            </a:extLst>
          </p:cNvPr>
          <p:cNvSpPr/>
          <p:nvPr/>
        </p:nvSpPr>
        <p:spPr>
          <a:xfrm>
            <a:off x="9829800" y="2811330"/>
            <a:ext cx="7044015" cy="4587415"/>
          </a:xfrm>
          <a:custGeom>
            <a:avLst/>
            <a:gdLst/>
            <a:ahLst/>
            <a:cxnLst/>
            <a:rect l="l" t="t" r="r" b="b"/>
            <a:pathLst>
              <a:path w="7044015" h="4587415">
                <a:moveTo>
                  <a:pt x="0" y="0"/>
                </a:moveTo>
                <a:lnTo>
                  <a:pt x="7044015" y="0"/>
                </a:lnTo>
                <a:lnTo>
                  <a:pt x="7044015" y="4587415"/>
                </a:lnTo>
                <a:lnTo>
                  <a:pt x="0" y="4587415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15F1FF86-81B1-ABFB-22BA-11DCC0320F93}"/>
              </a:ext>
            </a:extLst>
          </p:cNvPr>
          <p:cNvSpPr txBox="1"/>
          <p:nvPr/>
        </p:nvSpPr>
        <p:spPr>
          <a:xfrm>
            <a:off x="9966555" y="7587492"/>
            <a:ext cx="6607341" cy="145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63"/>
              </a:lnSpc>
              <a:spcBef>
                <a:spcPct val="0"/>
              </a:spcBef>
            </a:pP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Vicarios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[7]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xây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dựng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Digital Twin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của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cánh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tay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UR5,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đồng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thời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truyền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dữ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liệu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camera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và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point-cloud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trên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ứng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dụng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VR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41493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4656" y="20"/>
            <a:ext cx="1683360" cy="841660"/>
          </a:xfrm>
          <a:custGeom>
            <a:avLst/>
            <a:gdLst/>
            <a:ahLst/>
            <a:cxnLst/>
            <a:rect l="l" t="t" r="r" b="b"/>
            <a:pathLst>
              <a:path w="1683360" h="841660">
                <a:moveTo>
                  <a:pt x="0" y="0"/>
                </a:moveTo>
                <a:lnTo>
                  <a:pt x="1683360" y="0"/>
                </a:lnTo>
                <a:lnTo>
                  <a:pt x="1683360" y="841660"/>
                </a:lnTo>
                <a:lnTo>
                  <a:pt x="0" y="841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85800" y="2864461"/>
            <a:ext cx="6985594" cy="4400924"/>
          </a:xfrm>
          <a:custGeom>
            <a:avLst/>
            <a:gdLst/>
            <a:ahLst/>
            <a:cxnLst/>
            <a:rect l="l" t="t" r="r" b="b"/>
            <a:pathLst>
              <a:path w="6985594" h="4400924">
                <a:moveTo>
                  <a:pt x="0" y="0"/>
                </a:moveTo>
                <a:lnTo>
                  <a:pt x="6985593" y="0"/>
                </a:lnTo>
                <a:lnTo>
                  <a:pt x="6985593" y="4400924"/>
                </a:lnTo>
                <a:lnTo>
                  <a:pt x="0" y="4400924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31425" y="867175"/>
            <a:ext cx="15225150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5599" b="1" dirty="0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  <a:sym typeface="Arial MT Pro Bold"/>
              </a:rPr>
              <a:t>2 . Các </a:t>
            </a:r>
            <a:r>
              <a:rPr lang="en-US" sz="5599" b="1" dirty="0" err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  <a:sym typeface="Arial MT Pro Bold"/>
              </a:rPr>
              <a:t>nghiên</a:t>
            </a:r>
            <a:r>
              <a:rPr lang="en-US" sz="5599" b="1" dirty="0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  <a:sym typeface="Arial MT Pro Bold"/>
              </a:rPr>
              <a:t> </a:t>
            </a:r>
            <a:r>
              <a:rPr lang="en-US" sz="5599" b="1" dirty="0" err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  <a:sym typeface="Arial MT Pro Bold"/>
              </a:rPr>
              <a:t>cứu</a:t>
            </a:r>
            <a:r>
              <a:rPr lang="en-US" sz="5599" b="1" dirty="0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  <a:sym typeface="Arial MT Pro Bold"/>
              </a:rPr>
              <a:t> </a:t>
            </a:r>
            <a:r>
              <a:rPr lang="en-US" sz="5599" b="1" dirty="0" err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  <a:sym typeface="Arial MT Pro Bold"/>
              </a:rPr>
              <a:t>liên</a:t>
            </a:r>
            <a:r>
              <a:rPr lang="en-US" sz="5599" b="1" dirty="0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  <a:sym typeface="Arial MT Pro Bold"/>
              </a:rPr>
              <a:t> </a:t>
            </a:r>
            <a:r>
              <a:rPr lang="en-US" sz="5599" b="1" dirty="0" err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  <a:sym typeface="Arial MT Pro Bold"/>
              </a:rPr>
              <a:t>quan</a:t>
            </a:r>
            <a:endParaRPr lang="en-US" sz="5599" b="1" dirty="0">
              <a:solidFill>
                <a:srgbClr val="292929"/>
              </a:solidFill>
              <a:latin typeface="Arial" panose="020B0604020202020204" pitchFamily="34" charset="0"/>
              <a:cs typeface="Arial" panose="020B0604020202020204" pitchFamily="34" charset="0"/>
              <a:sym typeface="Arial MT Pr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3401" y="7421202"/>
            <a:ext cx="7391400" cy="1459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863"/>
              </a:lnSpc>
              <a:spcBef>
                <a:spcPct val="0"/>
              </a:spcBef>
            </a:pP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Nghiên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cứu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[8]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tiến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xa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hơn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truyền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một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lượng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Point cloud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dày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hơn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1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triệu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điểm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để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tái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tạo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không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gian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trước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robot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trong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ứng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dụng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VR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800" y="9594867"/>
            <a:ext cx="17693643" cy="646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[8] A. Torrejón, S. Eslava, J. Calderón, P. </a:t>
            </a:r>
            <a:r>
              <a:rPr lang="en-US" sz="14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Nú˜nez</a:t>
            </a:r>
            <a:r>
              <a:rPr lang="en-US" sz="14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, and P. Bustos, “Teleoperation of dual-arm manipulators via </a:t>
            </a:r>
            <a:r>
              <a:rPr lang="en-US" sz="14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vr</a:t>
            </a:r>
            <a:r>
              <a:rPr lang="en-US" sz="14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interfaces: A framework integrating simulation and real-world control,” Electronics, vol. 15, no. 3, p. 572, 2026.</a:t>
            </a:r>
          </a:p>
          <a:p>
            <a:pPr algn="l"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[9] Sadeghi, M., Khalil, I., </a:t>
            </a:r>
            <a:r>
              <a:rPr lang="en-US" sz="14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Orlandatou</a:t>
            </a:r>
            <a:r>
              <a:rPr lang="en-US" sz="14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, K., Kern, T.A., (2025), Haptic-Enhanced Shared Control for Collaborative Dual-Robot Telemanipulation in Large-Scale Object Handling, Telepresence IEEE Conference, Leiden, Netherlands, 8–10 September.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07369" y="9549206"/>
            <a:ext cx="232436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D65D67F-3E08-75FA-E6DC-403BAFBE631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10873" y="2884493"/>
            <a:ext cx="9111703" cy="4518013"/>
          </a:xfrm>
          <a:prstGeom prst="rect">
            <a:avLst/>
          </a:prstGeom>
        </p:spPr>
      </p:pic>
      <p:sp>
        <p:nvSpPr>
          <p:cNvPr id="17" name="TextBox 11">
            <a:extLst>
              <a:ext uri="{FF2B5EF4-FFF2-40B4-BE49-F238E27FC236}">
                <a16:creationId xmlns:a16="http://schemas.microsoft.com/office/drawing/2014/main" id="{176B028E-F083-109F-82D4-DD61CEECF9F0}"/>
              </a:ext>
            </a:extLst>
          </p:cNvPr>
          <p:cNvSpPr txBox="1"/>
          <p:nvPr/>
        </p:nvSpPr>
        <p:spPr>
          <a:xfrm>
            <a:off x="9183336" y="7505700"/>
            <a:ext cx="7766775" cy="14570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863"/>
              </a:lnSpc>
              <a:spcBef>
                <a:spcPct val="0"/>
              </a:spcBef>
            </a:pP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Nghiên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u="none" strike="noStrike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cứu</a:t>
            </a:r>
            <a:r>
              <a:rPr lang="en-US" sz="2799" u="none" strike="noStrike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[9]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xây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dựng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hệ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thống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điều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khiển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kèm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phản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hồi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xúc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giác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(haptic feedback)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sử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dụng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ROS2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và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Unity,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với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độ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trễ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end-to-end 15ms</a:t>
            </a:r>
            <a:endParaRPr lang="en-US" sz="2799" u="none" strike="noStrike" dirty="0">
              <a:solidFill>
                <a:srgbClr val="292929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20" y="8896526"/>
            <a:ext cx="1392174" cy="1390454"/>
            <a:chOff x="0" y="0"/>
            <a:chExt cx="1856232" cy="1853939"/>
          </a:xfrm>
        </p:grpSpPr>
        <p:sp>
          <p:nvSpPr>
            <p:cNvPr id="3" name="Freeform 3"/>
            <p:cNvSpPr/>
            <p:nvPr/>
          </p:nvSpPr>
          <p:spPr>
            <a:xfrm>
              <a:off x="0" y="127"/>
              <a:ext cx="1856232" cy="1853692"/>
            </a:xfrm>
            <a:custGeom>
              <a:avLst/>
              <a:gdLst/>
              <a:ahLst/>
              <a:cxnLst/>
              <a:rect l="l" t="t" r="r" b="b"/>
              <a:pathLst>
                <a:path w="1856232" h="1853692">
                  <a:moveTo>
                    <a:pt x="0" y="0"/>
                  </a:moveTo>
                  <a:cubicBezTo>
                    <a:pt x="0" y="1022985"/>
                    <a:pt x="828294" y="1853692"/>
                    <a:pt x="1851152" y="1853692"/>
                  </a:cubicBezTo>
                  <a:lnTo>
                    <a:pt x="1856232" y="1853692"/>
                  </a:lnTo>
                  <a:lnTo>
                    <a:pt x="1856232" y="1027811"/>
                  </a:lnTo>
                  <a:cubicBezTo>
                    <a:pt x="1287399" y="1027811"/>
                    <a:pt x="825754" y="568833"/>
                    <a:pt x="825754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-701055" y="-2118221"/>
            <a:ext cx="6930502" cy="4200642"/>
          </a:xfrm>
          <a:custGeom>
            <a:avLst/>
            <a:gdLst/>
            <a:ahLst/>
            <a:cxnLst/>
            <a:rect l="l" t="t" r="r" b="b"/>
            <a:pathLst>
              <a:path w="6930502" h="4200642">
                <a:moveTo>
                  <a:pt x="0" y="0"/>
                </a:moveTo>
                <a:lnTo>
                  <a:pt x="6930502" y="0"/>
                </a:lnTo>
                <a:lnTo>
                  <a:pt x="6930502" y="4200642"/>
                </a:lnTo>
                <a:lnTo>
                  <a:pt x="0" y="42006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624831" y="-64656"/>
            <a:ext cx="4292048" cy="7021805"/>
          </a:xfrm>
          <a:custGeom>
            <a:avLst/>
            <a:gdLst/>
            <a:ahLst/>
            <a:cxnLst/>
            <a:rect l="l" t="t" r="r" b="b"/>
            <a:pathLst>
              <a:path w="4292048" h="7021805">
                <a:moveTo>
                  <a:pt x="0" y="0"/>
                </a:moveTo>
                <a:lnTo>
                  <a:pt x="4292048" y="0"/>
                </a:lnTo>
                <a:lnTo>
                  <a:pt x="4292048" y="7021805"/>
                </a:lnTo>
                <a:lnTo>
                  <a:pt x="0" y="7021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31425" y="4619550"/>
            <a:ext cx="9952350" cy="378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Thiết</a:t>
            </a:r>
            <a:r>
              <a:rPr lang="en-US" sz="12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kế</a:t>
            </a:r>
            <a:r>
              <a:rPr lang="en-US" sz="12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và</a:t>
            </a:r>
            <a:r>
              <a:rPr lang="en-US" sz="12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hiện</a:t>
            </a:r>
            <a:r>
              <a:rPr lang="en-US" sz="12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thực</a:t>
            </a:r>
            <a:endParaRPr lang="en-US" sz="12000" b="1" dirty="0">
              <a:solidFill>
                <a:srgbClr val="03178C"/>
              </a:solidFill>
              <a:latin typeface="Arimo Bold" panose="020B0604020202020204" charset="0"/>
              <a:ea typeface="Arimo Bold" panose="020B0604020202020204" charset="0"/>
              <a:cs typeface="Arimo Bold" panose="020B0604020202020204" charset="0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31425" y="2771925"/>
            <a:ext cx="2465550" cy="195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 b="1">
                <a:solidFill>
                  <a:srgbClr val="03178C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8" name="Freeform 8"/>
          <p:cNvSpPr/>
          <p:nvPr/>
        </p:nvSpPr>
        <p:spPr>
          <a:xfrm>
            <a:off x="12203559" y="5078825"/>
            <a:ext cx="4292048" cy="7021805"/>
          </a:xfrm>
          <a:custGeom>
            <a:avLst/>
            <a:gdLst/>
            <a:ahLst/>
            <a:cxnLst/>
            <a:rect l="l" t="t" r="r" b="b"/>
            <a:pathLst>
              <a:path w="4292048" h="7021805">
                <a:moveTo>
                  <a:pt x="0" y="0"/>
                </a:moveTo>
                <a:lnTo>
                  <a:pt x="4292048" y="0"/>
                </a:lnTo>
                <a:lnTo>
                  <a:pt x="4292048" y="7021805"/>
                </a:lnTo>
                <a:lnTo>
                  <a:pt x="0" y="7021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449732" y="1674738"/>
            <a:ext cx="1183906" cy="1124640"/>
          </a:xfrm>
          <a:custGeom>
            <a:avLst/>
            <a:gdLst/>
            <a:ahLst/>
            <a:cxnLst/>
            <a:rect l="l" t="t" r="r" b="b"/>
            <a:pathLst>
              <a:path w="1183906" h="1124640">
                <a:moveTo>
                  <a:pt x="0" y="0"/>
                </a:moveTo>
                <a:lnTo>
                  <a:pt x="1183906" y="0"/>
                </a:lnTo>
                <a:lnTo>
                  <a:pt x="1183906" y="1124640"/>
                </a:lnTo>
                <a:lnTo>
                  <a:pt x="0" y="1124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20" y="8896526"/>
            <a:ext cx="1392174" cy="1390454"/>
            <a:chOff x="0" y="0"/>
            <a:chExt cx="1856232" cy="1853939"/>
          </a:xfrm>
        </p:grpSpPr>
        <p:sp>
          <p:nvSpPr>
            <p:cNvPr id="3" name="Freeform 3"/>
            <p:cNvSpPr/>
            <p:nvPr/>
          </p:nvSpPr>
          <p:spPr>
            <a:xfrm>
              <a:off x="0" y="127"/>
              <a:ext cx="1856232" cy="1853692"/>
            </a:xfrm>
            <a:custGeom>
              <a:avLst/>
              <a:gdLst/>
              <a:ahLst/>
              <a:cxnLst/>
              <a:rect l="l" t="t" r="r" b="b"/>
              <a:pathLst>
                <a:path w="1856232" h="1853692">
                  <a:moveTo>
                    <a:pt x="0" y="0"/>
                  </a:moveTo>
                  <a:cubicBezTo>
                    <a:pt x="0" y="1022985"/>
                    <a:pt x="828294" y="1853692"/>
                    <a:pt x="1851152" y="1853692"/>
                  </a:cubicBezTo>
                  <a:lnTo>
                    <a:pt x="1856232" y="1853692"/>
                  </a:lnTo>
                  <a:lnTo>
                    <a:pt x="1856232" y="1027811"/>
                  </a:lnTo>
                  <a:cubicBezTo>
                    <a:pt x="1287399" y="1027811"/>
                    <a:pt x="825754" y="568833"/>
                    <a:pt x="825754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6902666" y="8"/>
            <a:ext cx="1385350" cy="988100"/>
          </a:xfrm>
          <a:custGeom>
            <a:avLst/>
            <a:gdLst/>
            <a:ahLst/>
            <a:cxnLst/>
            <a:rect l="l" t="t" r="r" b="b"/>
            <a:pathLst>
              <a:path w="1385350" h="988100">
                <a:moveTo>
                  <a:pt x="0" y="0"/>
                </a:moveTo>
                <a:lnTo>
                  <a:pt x="1385350" y="0"/>
                </a:lnTo>
                <a:lnTo>
                  <a:pt x="1385350" y="988100"/>
                </a:lnTo>
                <a:lnTo>
                  <a:pt x="0" y="988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369232" y="-1490624"/>
            <a:ext cx="4292256" cy="7021913"/>
          </a:xfrm>
          <a:custGeom>
            <a:avLst/>
            <a:gdLst/>
            <a:ahLst/>
            <a:cxnLst/>
            <a:rect l="l" t="t" r="r" b="b"/>
            <a:pathLst>
              <a:path w="4292256" h="7021913">
                <a:moveTo>
                  <a:pt x="0" y="0"/>
                </a:moveTo>
                <a:lnTo>
                  <a:pt x="4292256" y="0"/>
                </a:lnTo>
                <a:lnTo>
                  <a:pt x="4292256" y="7021913"/>
                </a:lnTo>
                <a:lnTo>
                  <a:pt x="0" y="70219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-1685182" y="-686661"/>
            <a:ext cx="4762498" cy="1821204"/>
          </a:xfrm>
          <a:custGeom>
            <a:avLst/>
            <a:gdLst/>
            <a:ahLst/>
            <a:cxnLst/>
            <a:rect l="l" t="t" r="r" b="b"/>
            <a:pathLst>
              <a:path w="4762498" h="1821204">
                <a:moveTo>
                  <a:pt x="0" y="0"/>
                </a:moveTo>
                <a:lnTo>
                  <a:pt x="4762498" y="0"/>
                </a:lnTo>
                <a:lnTo>
                  <a:pt x="4762498" y="1821204"/>
                </a:lnTo>
                <a:lnTo>
                  <a:pt x="0" y="18212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>
            <a:off x="13451557" y="-3665508"/>
            <a:ext cx="4910383" cy="8033901"/>
          </a:xfrm>
          <a:custGeom>
            <a:avLst/>
            <a:gdLst/>
            <a:ahLst/>
            <a:cxnLst/>
            <a:rect l="l" t="t" r="r" b="b"/>
            <a:pathLst>
              <a:path w="4910383" h="8033901">
                <a:moveTo>
                  <a:pt x="0" y="0"/>
                </a:moveTo>
                <a:lnTo>
                  <a:pt x="4910383" y="0"/>
                </a:lnTo>
                <a:lnTo>
                  <a:pt x="4910383" y="8033900"/>
                </a:lnTo>
                <a:lnTo>
                  <a:pt x="0" y="8033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358035" y="8343900"/>
            <a:ext cx="4762498" cy="1821204"/>
          </a:xfrm>
          <a:custGeom>
            <a:avLst/>
            <a:gdLst/>
            <a:ahLst/>
            <a:cxnLst/>
            <a:rect l="l" t="t" r="r" b="b"/>
            <a:pathLst>
              <a:path w="4762498" h="1821204">
                <a:moveTo>
                  <a:pt x="0" y="0"/>
                </a:moveTo>
                <a:lnTo>
                  <a:pt x="4762498" y="0"/>
                </a:lnTo>
                <a:lnTo>
                  <a:pt x="4762498" y="1821204"/>
                </a:lnTo>
                <a:lnTo>
                  <a:pt x="0" y="18212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94653" y="1701608"/>
            <a:ext cx="14898693" cy="8585372"/>
          </a:xfrm>
          <a:custGeom>
            <a:avLst/>
            <a:gdLst/>
            <a:ahLst/>
            <a:cxnLst/>
            <a:rect l="l" t="t" r="r" b="b"/>
            <a:pathLst>
              <a:path w="14898693" h="8585372">
                <a:moveTo>
                  <a:pt x="0" y="0"/>
                </a:moveTo>
                <a:lnTo>
                  <a:pt x="14898694" y="0"/>
                </a:lnTo>
                <a:lnTo>
                  <a:pt x="14898694" y="8585372"/>
                </a:lnTo>
                <a:lnTo>
                  <a:pt x="0" y="85853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491616" y="284767"/>
            <a:ext cx="7842459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Kiến</a:t>
            </a:r>
            <a:r>
              <a:rPr lang="en-US" sz="6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6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trúc</a:t>
            </a:r>
            <a:r>
              <a:rPr lang="en-US" sz="6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6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hệ</a:t>
            </a:r>
            <a:r>
              <a:rPr lang="en-US" sz="6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6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thống</a:t>
            </a:r>
            <a:endParaRPr lang="en-US" sz="6000" b="1" dirty="0">
              <a:solidFill>
                <a:srgbClr val="03178C"/>
              </a:solidFill>
              <a:latin typeface="Arimo Bold" panose="020B0604020202020204" charset="0"/>
              <a:ea typeface="Arimo Bold" panose="020B0604020202020204" charset="0"/>
              <a:cs typeface="Arimo Bold" panose="020B0604020202020204" charset="0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888097" y="9613478"/>
            <a:ext cx="232436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39258" y="784619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3" y="4620021"/>
            <a:ext cx="988100" cy="1385350"/>
          </a:xfrm>
          <a:custGeom>
            <a:avLst/>
            <a:gdLst/>
            <a:ahLst/>
            <a:cxnLst/>
            <a:rect l="l" t="t" r="r" b="b"/>
            <a:pathLst>
              <a:path w="988100" h="1385350">
                <a:moveTo>
                  <a:pt x="0" y="0"/>
                </a:moveTo>
                <a:lnTo>
                  <a:pt x="988100" y="0"/>
                </a:lnTo>
                <a:lnTo>
                  <a:pt x="988100" y="1385350"/>
                </a:lnTo>
                <a:lnTo>
                  <a:pt x="0" y="1385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895830" y="-24"/>
            <a:ext cx="1392174" cy="1390454"/>
            <a:chOff x="0" y="0"/>
            <a:chExt cx="1856232" cy="1853939"/>
          </a:xfrm>
        </p:grpSpPr>
        <p:sp>
          <p:nvSpPr>
            <p:cNvPr id="5" name="Freeform 5"/>
            <p:cNvSpPr/>
            <p:nvPr/>
          </p:nvSpPr>
          <p:spPr>
            <a:xfrm>
              <a:off x="0" y="127"/>
              <a:ext cx="1856232" cy="1853692"/>
            </a:xfrm>
            <a:custGeom>
              <a:avLst/>
              <a:gdLst/>
              <a:ahLst/>
              <a:cxnLst/>
              <a:rect l="l" t="t" r="r" b="b"/>
              <a:pathLst>
                <a:path w="1856232" h="1853692">
                  <a:moveTo>
                    <a:pt x="0" y="0"/>
                  </a:moveTo>
                  <a:cubicBezTo>
                    <a:pt x="0" y="1022985"/>
                    <a:pt x="828294" y="1853692"/>
                    <a:pt x="1851152" y="1853692"/>
                  </a:cubicBezTo>
                  <a:lnTo>
                    <a:pt x="1856232" y="1853692"/>
                  </a:lnTo>
                  <a:lnTo>
                    <a:pt x="1856232" y="1027811"/>
                  </a:lnTo>
                  <a:cubicBezTo>
                    <a:pt x="1287399" y="1027811"/>
                    <a:pt x="825754" y="568833"/>
                    <a:pt x="825754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</p:grpSp>
      <p:grpSp>
        <p:nvGrpSpPr>
          <p:cNvPr id="6" name="Group 6"/>
          <p:cNvGrpSpPr/>
          <p:nvPr/>
        </p:nvGrpSpPr>
        <p:grpSpPr>
          <a:xfrm rot="5400000">
            <a:off x="16662993" y="8707802"/>
            <a:ext cx="1393890" cy="1392170"/>
            <a:chOff x="0" y="0"/>
            <a:chExt cx="1123472" cy="1122085"/>
          </a:xfrm>
        </p:grpSpPr>
        <p:sp>
          <p:nvSpPr>
            <p:cNvPr id="7" name="Freeform 7"/>
            <p:cNvSpPr/>
            <p:nvPr/>
          </p:nvSpPr>
          <p:spPr>
            <a:xfrm>
              <a:off x="0" y="127"/>
              <a:ext cx="1123442" cy="1121918"/>
            </a:xfrm>
            <a:custGeom>
              <a:avLst/>
              <a:gdLst/>
              <a:ahLst/>
              <a:cxnLst/>
              <a:rect l="l" t="t" r="r" b="b"/>
              <a:pathLst>
                <a:path w="1123442" h="1121918">
                  <a:moveTo>
                    <a:pt x="0" y="0"/>
                  </a:moveTo>
                  <a:cubicBezTo>
                    <a:pt x="0" y="619125"/>
                    <a:pt x="501269" y="1121918"/>
                    <a:pt x="1120394" y="1121918"/>
                  </a:cubicBezTo>
                  <a:lnTo>
                    <a:pt x="1123442" y="1121918"/>
                  </a:lnTo>
                  <a:lnTo>
                    <a:pt x="1123442" y="622046"/>
                  </a:lnTo>
                  <a:cubicBezTo>
                    <a:pt x="779145" y="622046"/>
                    <a:pt x="499745" y="344297"/>
                    <a:pt x="499745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273288" y="590428"/>
            <a:ext cx="15377955" cy="845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7"/>
              </a:lnSpc>
            </a:pPr>
            <a:r>
              <a:rPr lang="en-US" sz="5656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3.1. </a:t>
            </a:r>
            <a:r>
              <a:rPr lang="en-US" sz="5656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Điều</a:t>
            </a:r>
            <a:r>
              <a:rPr lang="en-US" sz="5656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5656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khiển</a:t>
            </a:r>
            <a:r>
              <a:rPr lang="en-US" sz="5656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5656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với</a:t>
            </a:r>
            <a:r>
              <a:rPr lang="en-US" sz="5656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RC5</a:t>
            </a:r>
          </a:p>
        </p:txBody>
      </p:sp>
      <p:sp>
        <p:nvSpPr>
          <p:cNvPr id="9" name="Freeform 9"/>
          <p:cNvSpPr/>
          <p:nvPr/>
        </p:nvSpPr>
        <p:spPr>
          <a:xfrm>
            <a:off x="11925289" y="2150084"/>
            <a:ext cx="3534861" cy="4488713"/>
          </a:xfrm>
          <a:custGeom>
            <a:avLst/>
            <a:gdLst/>
            <a:ahLst/>
            <a:cxnLst/>
            <a:rect l="l" t="t" r="r" b="b"/>
            <a:pathLst>
              <a:path w="3534861" h="4488713">
                <a:moveTo>
                  <a:pt x="0" y="0"/>
                </a:moveTo>
                <a:lnTo>
                  <a:pt x="3534861" y="0"/>
                </a:lnTo>
                <a:lnTo>
                  <a:pt x="3534861" y="4488713"/>
                </a:lnTo>
                <a:lnTo>
                  <a:pt x="0" y="4488713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190213" y="2976031"/>
            <a:ext cx="4148915" cy="2836820"/>
          </a:xfrm>
          <a:custGeom>
            <a:avLst/>
            <a:gdLst/>
            <a:ahLst/>
            <a:cxnLst/>
            <a:rect l="l" t="t" r="r" b="b"/>
            <a:pathLst>
              <a:path w="4148915" h="2836820">
                <a:moveTo>
                  <a:pt x="0" y="0"/>
                </a:moveTo>
                <a:lnTo>
                  <a:pt x="4148914" y="0"/>
                </a:lnTo>
                <a:lnTo>
                  <a:pt x="4148914" y="2836820"/>
                </a:lnTo>
                <a:lnTo>
                  <a:pt x="0" y="2836820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>
            <a:off x="6339127" y="4394441"/>
            <a:ext cx="558616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triangle" w="lg" len="med"/>
            <a:tailEnd type="triangle" w="lg" len="med"/>
          </a:ln>
        </p:spPr>
      </p:sp>
      <p:sp>
        <p:nvSpPr>
          <p:cNvPr id="12" name="TextBox 12"/>
          <p:cNvSpPr txBox="1"/>
          <p:nvPr/>
        </p:nvSpPr>
        <p:spPr>
          <a:xfrm>
            <a:off x="11328965" y="6873470"/>
            <a:ext cx="5710786" cy="266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3178C"/>
                </a:solidFill>
                <a:latin typeface="Arial Bold"/>
                <a:ea typeface="Arial Bold"/>
                <a:cs typeface="Arial Bold"/>
                <a:sym typeface="Arial Bold"/>
              </a:rPr>
              <a:t>Robot: VS-6577E*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trục tự do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Chiều dài cánh tay: 770mm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Tầm với tối đa: 854mm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Tải trọng tối đa: 7kg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95049" y="6664092"/>
            <a:ext cx="5820591" cy="320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3178C"/>
                </a:solidFill>
                <a:latin typeface="Arial Bold"/>
                <a:ea typeface="Arial Bold"/>
                <a:cs typeface="Arial Bold"/>
                <a:sym typeface="Arial Bold"/>
              </a:rPr>
              <a:t>Robot Controller: RC5-VSE6B*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Tương thích Robot VS*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Tương thích với PLC, hỗ trợ Teach Pendant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1.25MB bộ nhớ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Ngôn ngữ lập trình WINCAPS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3288" y="1528231"/>
            <a:ext cx="4518922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 err="1">
                <a:sym typeface="Arial MT Pro Bold Italics"/>
              </a:rPr>
              <a:t>Thiết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bị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điều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khiển</a:t>
            </a:r>
            <a:endParaRPr lang="en-US" dirty="0">
              <a:sym typeface="Arial MT Pro Bold Italic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12560" y="718232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3" y="4620021"/>
            <a:ext cx="988100" cy="1385350"/>
          </a:xfrm>
          <a:custGeom>
            <a:avLst/>
            <a:gdLst/>
            <a:ahLst/>
            <a:cxnLst/>
            <a:rect l="l" t="t" r="r" b="b"/>
            <a:pathLst>
              <a:path w="988100" h="1385350">
                <a:moveTo>
                  <a:pt x="0" y="0"/>
                </a:moveTo>
                <a:lnTo>
                  <a:pt x="988100" y="0"/>
                </a:lnTo>
                <a:lnTo>
                  <a:pt x="988100" y="1385350"/>
                </a:lnTo>
                <a:lnTo>
                  <a:pt x="0" y="1385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895830" y="-24"/>
            <a:ext cx="1392174" cy="1390454"/>
            <a:chOff x="0" y="0"/>
            <a:chExt cx="1856232" cy="1853939"/>
          </a:xfrm>
        </p:grpSpPr>
        <p:sp>
          <p:nvSpPr>
            <p:cNvPr id="5" name="Freeform 5"/>
            <p:cNvSpPr/>
            <p:nvPr/>
          </p:nvSpPr>
          <p:spPr>
            <a:xfrm>
              <a:off x="0" y="127"/>
              <a:ext cx="1856232" cy="1853692"/>
            </a:xfrm>
            <a:custGeom>
              <a:avLst/>
              <a:gdLst/>
              <a:ahLst/>
              <a:cxnLst/>
              <a:rect l="l" t="t" r="r" b="b"/>
              <a:pathLst>
                <a:path w="1856232" h="1853692">
                  <a:moveTo>
                    <a:pt x="0" y="0"/>
                  </a:moveTo>
                  <a:cubicBezTo>
                    <a:pt x="0" y="1022985"/>
                    <a:pt x="828294" y="1853692"/>
                    <a:pt x="1851152" y="1853692"/>
                  </a:cubicBezTo>
                  <a:lnTo>
                    <a:pt x="1856232" y="1853692"/>
                  </a:lnTo>
                  <a:lnTo>
                    <a:pt x="1856232" y="1027811"/>
                  </a:lnTo>
                  <a:cubicBezTo>
                    <a:pt x="1287399" y="1027811"/>
                    <a:pt x="825754" y="568833"/>
                    <a:pt x="825754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299985" y="524041"/>
            <a:ext cx="15377955" cy="81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7"/>
              </a:lnSpc>
            </a:pPr>
            <a:r>
              <a:rPr lang="en-US" sz="5656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3.1. </a:t>
            </a:r>
            <a:r>
              <a:rPr lang="en-US" sz="5656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Điều</a:t>
            </a:r>
            <a:r>
              <a:rPr lang="en-US" sz="5656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5656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khiển</a:t>
            </a:r>
            <a:r>
              <a:rPr lang="en-US" sz="5656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5656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với</a:t>
            </a:r>
            <a:r>
              <a:rPr lang="en-US" sz="5656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RC5</a:t>
            </a:r>
          </a:p>
        </p:txBody>
      </p:sp>
      <p:sp>
        <p:nvSpPr>
          <p:cNvPr id="9" name="Freeform 9"/>
          <p:cNvSpPr/>
          <p:nvPr/>
        </p:nvSpPr>
        <p:spPr>
          <a:xfrm>
            <a:off x="0" y="2069478"/>
            <a:ext cx="10120389" cy="7552340"/>
          </a:xfrm>
          <a:custGeom>
            <a:avLst/>
            <a:gdLst/>
            <a:ahLst/>
            <a:cxnLst/>
            <a:rect l="l" t="t" r="r" b="b"/>
            <a:pathLst>
              <a:path w="10120389" h="7552340">
                <a:moveTo>
                  <a:pt x="0" y="0"/>
                </a:moveTo>
                <a:lnTo>
                  <a:pt x="10120389" y="0"/>
                </a:lnTo>
                <a:lnTo>
                  <a:pt x="10120389" y="7552340"/>
                </a:lnTo>
                <a:lnTo>
                  <a:pt x="0" y="7552340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851248" y="6196975"/>
            <a:ext cx="4357056" cy="218771"/>
          </a:xfrm>
          <a:custGeom>
            <a:avLst/>
            <a:gdLst/>
            <a:ahLst/>
            <a:cxnLst/>
            <a:rect l="l" t="t" r="r" b="b"/>
            <a:pathLst>
              <a:path w="4357056" h="218771">
                <a:moveTo>
                  <a:pt x="0" y="218771"/>
                </a:moveTo>
                <a:lnTo>
                  <a:pt x="2934331" y="218771"/>
                </a:lnTo>
                <a:cubicBezTo>
                  <a:pt x="2963342" y="218771"/>
                  <a:pt x="2991165" y="207246"/>
                  <a:pt x="3011679" y="186733"/>
                </a:cubicBezTo>
                <a:cubicBezTo>
                  <a:pt x="3032192" y="166219"/>
                  <a:pt x="3043717" y="138396"/>
                  <a:pt x="3043717" y="109386"/>
                </a:cubicBezTo>
                <a:lnTo>
                  <a:pt x="3043717" y="109386"/>
                </a:lnTo>
                <a:cubicBezTo>
                  <a:pt x="3043717" y="80375"/>
                  <a:pt x="3055242" y="52552"/>
                  <a:pt x="3075755" y="32039"/>
                </a:cubicBezTo>
                <a:cubicBezTo>
                  <a:pt x="3096269" y="11525"/>
                  <a:pt x="3124092" y="0"/>
                  <a:pt x="3153103" y="0"/>
                </a:cubicBezTo>
                <a:lnTo>
                  <a:pt x="4357056" y="0"/>
                </a:lnTo>
              </a:path>
            </a:pathLst>
          </a:custGeom>
          <a:ln w="66675" cap="rnd">
            <a:solidFill>
              <a:srgbClr val="B4B4B4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0348364" y="2501680"/>
            <a:ext cx="743806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TASK0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nhận lệnh UART và thông báo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48364" y="3276245"/>
            <a:ext cx="7330254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u="none" strike="noStrike">
                <a:solidFill>
                  <a:srgbClr val="00BF63"/>
                </a:solidFill>
                <a:latin typeface="Arial Bold"/>
                <a:ea typeface="Arial Bold"/>
                <a:cs typeface="Arial Bold"/>
                <a:sym typeface="Arial Bold"/>
              </a:rPr>
              <a:t>TASK1CRC:</a:t>
            </a:r>
            <a:r>
              <a:rPr lang="en-US" sz="3000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Xử lý lệnh UART để trích xuất giá trị điều khiển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56354" y="4603260"/>
            <a:ext cx="662226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1" u="none" strike="noStrike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J1,J2,J3,J4,J5,J6#CRC_LENGTH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48364" y="7200140"/>
            <a:ext cx="7603701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u="none" strike="noStrike" dirty="0">
                <a:solidFill>
                  <a:srgbClr val="FF914D"/>
                </a:solidFill>
                <a:latin typeface="Arial Bold"/>
                <a:ea typeface="Arial Bold"/>
                <a:cs typeface="Arial Bold"/>
                <a:sym typeface="Arial Bold"/>
              </a:rPr>
              <a:t>TASK3</a:t>
            </a:r>
            <a:r>
              <a:rPr lang="en-US" sz="3000" b="1" u="none" strike="noStrike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: </a:t>
            </a:r>
            <a:r>
              <a:rPr lang="en-US" sz="300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Xoay</a:t>
            </a:r>
            <a:r>
              <a:rPr lang="en-US" sz="300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robot </a:t>
            </a:r>
            <a:r>
              <a:rPr lang="en-US" sz="300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</a:t>
            </a:r>
            <a:r>
              <a:rPr lang="en-US" sz="300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giá</a:t>
            </a:r>
            <a:r>
              <a:rPr lang="en-US" sz="300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trị</a:t>
            </a:r>
            <a:r>
              <a:rPr lang="en-US" sz="300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điều</a:t>
            </a:r>
            <a:r>
              <a:rPr lang="en-US" sz="300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khiển</a:t>
            </a:r>
            <a:endParaRPr lang="en-US" sz="300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208304" y="5358775"/>
            <a:ext cx="6348690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Ring buffer: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tách biệt giữa luồng xử lý chuỗi và thực thi: </a:t>
            </a:r>
            <a:r>
              <a:rPr lang="en-US" sz="3000" b="1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I5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tăng khi có lệnh mới, </a:t>
            </a:r>
            <a:r>
              <a:rPr lang="en-US" sz="3000" b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I4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đuổi theo để xoay robot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48364" y="8508105"/>
            <a:ext cx="760370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CB6CE6"/>
                </a:solidFill>
                <a:latin typeface="Arial Bold"/>
                <a:ea typeface="Arial Bold"/>
                <a:cs typeface="Arial Bold"/>
                <a:sym typeface="Arial Bold"/>
              </a:rPr>
              <a:t>GET_JOINT</a:t>
            </a: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: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Gửi giá trị Joint thực tế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3288" y="1528231"/>
            <a:ext cx="4518922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 err="1">
                <a:sym typeface="Arial MT Pro Bold Italics"/>
              </a:rPr>
              <a:t>Chương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trình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điều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khiển</a:t>
            </a:r>
            <a:endParaRPr lang="en-US" dirty="0">
              <a:sym typeface="Arial MT Pro Bold Itali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06400" y="1503126"/>
            <a:ext cx="866950" cy="823550"/>
          </a:xfrm>
          <a:custGeom>
            <a:avLst/>
            <a:gdLst/>
            <a:ahLst/>
            <a:cxnLst/>
            <a:rect l="l" t="t" r="r" b="b"/>
            <a:pathLst>
              <a:path w="866950" h="823550">
                <a:moveTo>
                  <a:pt x="0" y="0"/>
                </a:moveTo>
                <a:lnTo>
                  <a:pt x="866950" y="0"/>
                </a:lnTo>
                <a:lnTo>
                  <a:pt x="866950" y="823550"/>
                </a:lnTo>
                <a:lnTo>
                  <a:pt x="0" y="82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69042" y="756386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" y="9217150"/>
            <a:ext cx="2797805" cy="1069896"/>
          </a:xfrm>
          <a:custGeom>
            <a:avLst/>
            <a:gdLst/>
            <a:ahLst/>
            <a:cxnLst/>
            <a:rect l="l" t="t" r="r" b="b"/>
            <a:pathLst>
              <a:path w="2797805" h="1069896">
                <a:moveTo>
                  <a:pt x="0" y="0"/>
                </a:moveTo>
                <a:lnTo>
                  <a:pt x="2797805" y="0"/>
                </a:lnTo>
                <a:lnTo>
                  <a:pt x="2797805" y="1069896"/>
                </a:lnTo>
                <a:lnTo>
                  <a:pt x="0" y="10698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31425" y="594861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87"/>
              </a:lnSpc>
              <a:defRPr sz="5656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3.2. </a:t>
            </a:r>
            <a:r>
              <a:rPr lang="en-US" dirty="0" err="1">
                <a:sym typeface="Arial MT Pro Bold"/>
              </a:rPr>
              <a:t>Hệ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thống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điều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khiển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với</a:t>
            </a:r>
            <a:r>
              <a:rPr lang="en-US" dirty="0">
                <a:sym typeface="Arial MT Pro Bold"/>
              </a:rPr>
              <a:t> ROS2</a:t>
            </a:r>
          </a:p>
        </p:txBody>
      </p:sp>
      <p:sp>
        <p:nvSpPr>
          <p:cNvPr id="8" name="Freeform 8"/>
          <p:cNvSpPr/>
          <p:nvPr/>
        </p:nvSpPr>
        <p:spPr>
          <a:xfrm>
            <a:off x="2616634" y="1670922"/>
            <a:ext cx="13054733" cy="8616124"/>
          </a:xfrm>
          <a:custGeom>
            <a:avLst/>
            <a:gdLst/>
            <a:ahLst/>
            <a:cxnLst/>
            <a:rect l="l" t="t" r="r" b="b"/>
            <a:pathLst>
              <a:path w="13054733" h="8616124">
                <a:moveTo>
                  <a:pt x="0" y="0"/>
                </a:moveTo>
                <a:lnTo>
                  <a:pt x="13054732" y="0"/>
                </a:lnTo>
                <a:lnTo>
                  <a:pt x="13054732" y="8616124"/>
                </a:lnTo>
                <a:lnTo>
                  <a:pt x="0" y="8616124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73288" y="1528231"/>
            <a:ext cx="4518922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 err="1">
                <a:sym typeface="Arial MT Pro Bold Italics"/>
              </a:rPr>
              <a:t>Kiến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trúc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tổng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quát</a:t>
            </a:r>
            <a:endParaRPr lang="en-US" dirty="0">
              <a:sym typeface="Arial MT Pro Bold Itali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06400" y="1503126"/>
            <a:ext cx="866950" cy="823550"/>
          </a:xfrm>
          <a:custGeom>
            <a:avLst/>
            <a:gdLst/>
            <a:ahLst/>
            <a:cxnLst/>
            <a:rect l="l" t="t" r="r" b="b"/>
            <a:pathLst>
              <a:path w="866950" h="823550">
                <a:moveTo>
                  <a:pt x="0" y="0"/>
                </a:moveTo>
                <a:lnTo>
                  <a:pt x="866950" y="0"/>
                </a:lnTo>
                <a:lnTo>
                  <a:pt x="866950" y="823550"/>
                </a:lnTo>
                <a:lnTo>
                  <a:pt x="0" y="82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69042" y="756386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418115">
            <a:off x="-976621" y="9586452"/>
            <a:ext cx="2797805" cy="1069896"/>
          </a:xfrm>
          <a:custGeom>
            <a:avLst/>
            <a:gdLst/>
            <a:ahLst/>
            <a:cxnLst/>
            <a:rect l="l" t="t" r="r" b="b"/>
            <a:pathLst>
              <a:path w="2797805" h="1069896">
                <a:moveTo>
                  <a:pt x="0" y="0"/>
                </a:moveTo>
                <a:lnTo>
                  <a:pt x="2797805" y="0"/>
                </a:lnTo>
                <a:lnTo>
                  <a:pt x="2797805" y="1069896"/>
                </a:lnTo>
                <a:lnTo>
                  <a:pt x="0" y="10698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932742" y="5143500"/>
            <a:ext cx="3914723" cy="3464529"/>
          </a:xfrm>
          <a:custGeom>
            <a:avLst/>
            <a:gdLst/>
            <a:ahLst/>
            <a:cxnLst/>
            <a:rect l="l" t="t" r="r" b="b"/>
            <a:pathLst>
              <a:path w="3914723" h="3464529">
                <a:moveTo>
                  <a:pt x="0" y="0"/>
                </a:moveTo>
                <a:lnTo>
                  <a:pt x="3914722" y="0"/>
                </a:lnTo>
                <a:lnTo>
                  <a:pt x="3914722" y="3464529"/>
                </a:lnTo>
                <a:lnTo>
                  <a:pt x="0" y="3464529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31425" y="594861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3.2. </a:t>
            </a:r>
            <a:r>
              <a:rPr lang="en-US" dirty="0" err="1">
                <a:sym typeface="Arial MT Pro Bold"/>
              </a:rPr>
              <a:t>Hệ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thống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điều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khiển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với</a:t>
            </a:r>
            <a:r>
              <a:rPr lang="en-US" dirty="0">
                <a:sym typeface="Arial MT Pro Bold"/>
              </a:rPr>
              <a:t> ROS2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3288" y="1528231"/>
            <a:ext cx="451892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>
                <a:sym typeface="Arial MT Pro Bold Italics"/>
              </a:rPr>
              <a:t>Khối Hardware Interface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EBC6291C-C858-7C2A-8976-4790EBDE8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34384"/>
            <a:ext cx="12886889" cy="777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6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10F81B-E296-1609-F586-DAC5502FB70F}"/>
              </a:ext>
            </a:extLst>
          </p:cNvPr>
          <p:cNvSpPr txBox="1"/>
          <p:nvPr/>
        </p:nvSpPr>
        <p:spPr>
          <a:xfrm>
            <a:off x="13127232" y="8596712"/>
            <a:ext cx="3721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Chu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Ros2-Control</a:t>
            </a: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FC9EDA87-9B4D-5CE8-A62C-22F2A95BA1FF}"/>
              </a:ext>
            </a:extLst>
          </p:cNvPr>
          <p:cNvSpPr txBox="1"/>
          <p:nvPr/>
        </p:nvSpPr>
        <p:spPr>
          <a:xfrm>
            <a:off x="14402703" y="6630023"/>
            <a:ext cx="1170075" cy="491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10Hz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3A0B0B-23DB-D071-A307-31113123E11B}"/>
              </a:ext>
            </a:extLst>
          </p:cNvPr>
          <p:cNvSpPr/>
          <p:nvPr/>
        </p:nvSpPr>
        <p:spPr>
          <a:xfrm>
            <a:off x="2848219" y="4305300"/>
            <a:ext cx="7037561" cy="3962400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06400" y="1503126"/>
            <a:ext cx="866950" cy="823550"/>
          </a:xfrm>
          <a:custGeom>
            <a:avLst/>
            <a:gdLst/>
            <a:ahLst/>
            <a:cxnLst/>
            <a:rect l="l" t="t" r="r" b="b"/>
            <a:pathLst>
              <a:path w="866950" h="823550">
                <a:moveTo>
                  <a:pt x="0" y="0"/>
                </a:moveTo>
                <a:lnTo>
                  <a:pt x="866950" y="0"/>
                </a:lnTo>
                <a:lnTo>
                  <a:pt x="866950" y="823550"/>
                </a:lnTo>
                <a:lnTo>
                  <a:pt x="0" y="82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69042" y="756386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4116350">
            <a:off x="-1133996" y="9855899"/>
            <a:ext cx="2797805" cy="1069896"/>
          </a:xfrm>
          <a:custGeom>
            <a:avLst/>
            <a:gdLst/>
            <a:ahLst/>
            <a:cxnLst/>
            <a:rect l="l" t="t" r="r" b="b"/>
            <a:pathLst>
              <a:path w="2797805" h="1069896">
                <a:moveTo>
                  <a:pt x="0" y="0"/>
                </a:moveTo>
                <a:lnTo>
                  <a:pt x="2797805" y="0"/>
                </a:lnTo>
                <a:lnTo>
                  <a:pt x="2797805" y="1069896"/>
                </a:lnTo>
                <a:lnTo>
                  <a:pt x="0" y="10698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876800" y="2165890"/>
            <a:ext cx="7640548" cy="3562405"/>
          </a:xfrm>
          <a:custGeom>
            <a:avLst/>
            <a:gdLst/>
            <a:ahLst/>
            <a:cxnLst/>
            <a:rect l="l" t="t" r="r" b="b"/>
            <a:pathLst>
              <a:path w="7640548" h="3562405">
                <a:moveTo>
                  <a:pt x="0" y="0"/>
                </a:moveTo>
                <a:lnTo>
                  <a:pt x="7640548" y="0"/>
                </a:lnTo>
                <a:lnTo>
                  <a:pt x="7640548" y="3562405"/>
                </a:lnTo>
                <a:lnTo>
                  <a:pt x="0" y="3562405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31425" y="594861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3.2. </a:t>
            </a:r>
            <a:r>
              <a:rPr lang="en-US" dirty="0" err="1">
                <a:sym typeface="Arial MT Pro Bold"/>
              </a:rPr>
              <a:t>Hệ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thống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điều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khiển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với</a:t>
            </a:r>
            <a:r>
              <a:rPr lang="en-US" dirty="0">
                <a:sym typeface="Arial MT Pro Bold"/>
              </a:rPr>
              <a:t> ROS2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3288" y="1528231"/>
            <a:ext cx="8480312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 err="1">
                <a:sym typeface="Arial MT Pro Bold Italics"/>
              </a:rPr>
              <a:t>Khối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Ứng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dụng</a:t>
            </a:r>
            <a:r>
              <a:rPr lang="en-US" dirty="0">
                <a:sym typeface="Arial MT Pro Bold Italics"/>
              </a:rPr>
              <a:t> ROS2: Denso Remote Control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4649" y="5994190"/>
            <a:ext cx="4492549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Denso Remote Control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0561" y="6471811"/>
            <a:ext cx="695563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l"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Cung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cấp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Action Server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Planning &amp; Execute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tới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một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vị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trí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cụ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thể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1569" y="7395141"/>
            <a:ext cx="3905758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  <a:ea typeface="IBM Plex Mono Italics"/>
                <a:cs typeface="IBM Plex Mono Italics"/>
                <a:sym typeface="IBM Plex Mono Italics"/>
              </a:rPr>
              <a:t># Reque</a:t>
            </a:r>
            <a:r>
              <a:rPr lang="en-US" i="1" u="none" strike="noStrike" dirty="0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  <a:ea typeface="IBM Plex Mono Italics"/>
                <a:cs typeface="IBM Plex Mono Italics"/>
                <a:sym typeface="IBM Plex Mono Italics"/>
              </a:rPr>
              <a:t>st</a:t>
            </a:r>
          </a:p>
          <a:p>
            <a:pPr algn="l"/>
            <a:r>
              <a:rPr lang="en-US" i="1" u="none" strike="noStrike" dirty="0" err="1">
                <a:solidFill>
                  <a:srgbClr val="000000"/>
                </a:solidFill>
                <a:latin typeface="Bookman Old Style" panose="02050604050505020204" pitchFamily="18" charset="0"/>
                <a:ea typeface="IBM Plex Mono Italics"/>
                <a:cs typeface="IBM Plex Mono Italics"/>
                <a:sym typeface="IBM Plex Mono Italics"/>
              </a:rPr>
              <a:t>geometry_msgs</a:t>
            </a:r>
            <a:r>
              <a:rPr lang="en-US" i="1" u="none" strike="noStrike" dirty="0">
                <a:solidFill>
                  <a:srgbClr val="000000"/>
                </a:solidFill>
                <a:latin typeface="Bookman Old Style" panose="02050604050505020204" pitchFamily="18" charset="0"/>
                <a:ea typeface="IBM Plex Mono Italics"/>
                <a:cs typeface="IBM Plex Mono Italics"/>
                <a:sym typeface="IBM Plex Mono Italics"/>
              </a:rPr>
              <a:t> / Pose </a:t>
            </a:r>
            <a:r>
              <a:rPr lang="en-US" i="1" u="none" strike="noStrike" dirty="0" err="1">
                <a:solidFill>
                  <a:srgbClr val="000000"/>
                </a:solidFill>
                <a:latin typeface="Bookman Old Style" panose="02050604050505020204" pitchFamily="18" charset="0"/>
                <a:ea typeface="IBM Plex Mono Italics"/>
                <a:cs typeface="IBM Plex Mono Italics"/>
                <a:sym typeface="IBM Plex Mono Italics"/>
              </a:rPr>
              <a:t>pose</a:t>
            </a:r>
            <a:endParaRPr lang="en-US" i="1" u="none" strike="noStrike" dirty="0">
              <a:solidFill>
                <a:srgbClr val="000000"/>
              </a:solidFill>
              <a:latin typeface="Bookman Old Style" panose="02050604050505020204" pitchFamily="18" charset="0"/>
              <a:ea typeface="IBM Plex Mono Italics"/>
              <a:cs typeface="IBM Plex Mono Italics"/>
              <a:sym typeface="IBM Plex Mono Italics"/>
            </a:endParaRPr>
          </a:p>
          <a:p>
            <a:pPr algn="l"/>
            <a:r>
              <a:rPr lang="en-US" i="1" u="none" strike="noStrike" dirty="0">
                <a:solidFill>
                  <a:srgbClr val="000000"/>
                </a:solidFill>
                <a:latin typeface="Bookman Old Style" panose="02050604050505020204" pitchFamily="18" charset="0"/>
                <a:ea typeface="IBM Plex Mono Italics"/>
                <a:cs typeface="IBM Plex Mono Italics"/>
                <a:sym typeface="IBM Plex Mono Italics"/>
              </a:rPr>
              <a:t>float64 [] joints</a:t>
            </a:r>
          </a:p>
          <a:p>
            <a:pPr algn="l"/>
            <a:r>
              <a:rPr lang="en-US" i="1" u="none" strike="noStrike" dirty="0">
                <a:solidFill>
                  <a:srgbClr val="000000"/>
                </a:solidFill>
                <a:latin typeface="Bookman Old Style" panose="02050604050505020204" pitchFamily="18" charset="0"/>
                <a:ea typeface="IBM Plex Mono Italics"/>
                <a:cs typeface="IBM Plex Mono Italics"/>
                <a:sym typeface="IBM Plex Mono Italics"/>
              </a:rPr>
              <a:t>bool </a:t>
            </a:r>
            <a:r>
              <a:rPr lang="en-US" i="1" u="none" strike="noStrike" dirty="0" err="1">
                <a:solidFill>
                  <a:srgbClr val="000000"/>
                </a:solidFill>
                <a:latin typeface="Bookman Old Style" panose="02050604050505020204" pitchFamily="18" charset="0"/>
                <a:ea typeface="IBM Plex Mono Italics"/>
                <a:cs typeface="IBM Plex Mono Italics"/>
                <a:sym typeface="IBM Plex Mono Italics"/>
              </a:rPr>
              <a:t>use_pose</a:t>
            </a:r>
            <a:endParaRPr lang="en-US" i="1" u="none" strike="noStrike" dirty="0">
              <a:solidFill>
                <a:srgbClr val="000000"/>
              </a:solidFill>
              <a:latin typeface="Bookman Old Style" panose="02050604050505020204" pitchFamily="18" charset="0"/>
              <a:ea typeface="IBM Plex Mono Italics"/>
              <a:cs typeface="IBM Plex Mono Italics"/>
              <a:sym typeface="IBM Plex Mono Italics"/>
            </a:endParaRPr>
          </a:p>
          <a:p>
            <a:pPr algn="l"/>
            <a:r>
              <a:rPr lang="en-US" i="1" u="none" strike="noStrike" dirty="0">
                <a:solidFill>
                  <a:srgbClr val="000000"/>
                </a:solidFill>
                <a:latin typeface="Bookman Old Style" panose="02050604050505020204" pitchFamily="18" charset="0"/>
                <a:ea typeface="IBM Plex Mono Italics"/>
                <a:cs typeface="IBM Plex Mono Italics"/>
                <a:sym typeface="IBM Plex Mono Italics"/>
              </a:rPr>
              <a:t>---</a:t>
            </a:r>
          </a:p>
          <a:p>
            <a:pPr algn="l"/>
            <a:r>
              <a:rPr lang="en-US" i="1" u="none" strike="noStrike" dirty="0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  <a:ea typeface="IBM Plex Mono Italics"/>
                <a:cs typeface="IBM Plex Mono Italics"/>
                <a:sym typeface="IBM Plex Mono Italics"/>
              </a:rPr>
              <a:t># Result</a:t>
            </a:r>
          </a:p>
          <a:p>
            <a:pPr algn="l"/>
            <a:r>
              <a:rPr lang="en-US" i="1" u="none" strike="noStrike" dirty="0">
                <a:solidFill>
                  <a:srgbClr val="000000"/>
                </a:solidFill>
                <a:latin typeface="Bookman Old Style" panose="02050604050505020204" pitchFamily="18" charset="0"/>
                <a:ea typeface="IBM Plex Mono Italics"/>
                <a:cs typeface="IBM Plex Mono Italics"/>
                <a:sym typeface="IBM Plex Mono Italics"/>
              </a:rPr>
              <a:t>bool completed</a:t>
            </a:r>
          </a:p>
          <a:p>
            <a:pPr algn="l"/>
            <a:r>
              <a:rPr lang="en-US" i="1" u="none" strike="noStrike" dirty="0">
                <a:solidFill>
                  <a:srgbClr val="000000"/>
                </a:solidFill>
                <a:latin typeface="Bookman Old Style" panose="02050604050505020204" pitchFamily="18" charset="0"/>
                <a:ea typeface="IBM Plex Mono Italics"/>
                <a:cs typeface="IBM Plex Mono Italics"/>
                <a:sym typeface="IBM Plex Mono Italics"/>
              </a:rPr>
              <a:t>---</a:t>
            </a:r>
          </a:p>
          <a:p>
            <a:pPr algn="l"/>
            <a:r>
              <a:rPr lang="en-US" i="1" u="none" strike="noStrike" dirty="0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  <a:ea typeface="IBM Plex Mono Italics"/>
                <a:cs typeface="IBM Plex Mono Italics"/>
                <a:sym typeface="IBM Plex Mono Italics"/>
              </a:rPr>
              <a:t># Feedback</a:t>
            </a:r>
          </a:p>
          <a:p>
            <a:pPr algn="l"/>
            <a:r>
              <a:rPr lang="en-US" i="1" u="none" strike="noStrike" dirty="0">
                <a:solidFill>
                  <a:srgbClr val="000000"/>
                </a:solidFill>
                <a:latin typeface="Bookman Old Style" panose="02050604050505020204" pitchFamily="18" charset="0"/>
                <a:ea typeface="IBM Plex Mono Italics"/>
                <a:cs typeface="IBM Plex Mono Italics"/>
                <a:sym typeface="IBM Plex Mono Italics"/>
              </a:rPr>
              <a:t>string step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29F15D-15EA-3355-D2AF-BF01E46C1A2A}"/>
              </a:ext>
            </a:extLst>
          </p:cNvPr>
          <p:cNvSpPr/>
          <p:nvPr/>
        </p:nvSpPr>
        <p:spPr>
          <a:xfrm>
            <a:off x="6275716" y="3288504"/>
            <a:ext cx="4544684" cy="1255490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01CFF5A9-0B5E-736A-8D07-A25C8B0437D3}"/>
              </a:ext>
            </a:extLst>
          </p:cNvPr>
          <p:cNvSpPr txBox="1"/>
          <p:nvPr/>
        </p:nvSpPr>
        <p:spPr>
          <a:xfrm>
            <a:off x="8709861" y="5994190"/>
            <a:ext cx="3709550" cy="491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Denso </a:t>
            </a:r>
            <a:r>
              <a:rPr lang="en-US" sz="3000" b="1" dirty="0" err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MoveIt</a:t>
            </a:r>
            <a:r>
              <a:rPr lang="en-US" sz="3000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 Servo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056FBD12-1C05-39E4-012E-3EE29A9AA9D6}"/>
              </a:ext>
            </a:extLst>
          </p:cNvPr>
          <p:cNvSpPr txBox="1"/>
          <p:nvPr/>
        </p:nvSpPr>
        <p:spPr>
          <a:xfrm>
            <a:off x="8709861" y="6579521"/>
            <a:ext cx="9470912" cy="491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phép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bật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tắt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tính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năng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Servoing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59E77985-E304-BCE5-F9EF-3BAE53E045C1}"/>
              </a:ext>
            </a:extLst>
          </p:cNvPr>
          <p:cNvSpPr txBox="1"/>
          <p:nvPr/>
        </p:nvSpPr>
        <p:spPr>
          <a:xfrm>
            <a:off x="8709861" y="8353856"/>
            <a:ext cx="9470912" cy="491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Hỗ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trợ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 topic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điều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khiển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từng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trục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tọa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độ</a:t>
            </a: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TextBox 13">
            <a:extLst>
              <a:ext uri="{FF2B5EF4-FFF2-40B4-BE49-F238E27FC236}">
                <a16:creationId xmlns:a16="http://schemas.microsoft.com/office/drawing/2014/main" id="{82FAFA58-C1D7-110A-51DE-3ACDC6D6A469}"/>
              </a:ext>
            </a:extLst>
          </p:cNvPr>
          <p:cNvSpPr txBox="1"/>
          <p:nvPr/>
        </p:nvSpPr>
        <p:spPr>
          <a:xfrm>
            <a:off x="9915860" y="7338736"/>
            <a:ext cx="7547491" cy="789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i="1" dirty="0" err="1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de</a:t>
            </a:r>
            <a:r>
              <a:rPr lang="en-US" sz="2300" i="1" u="none" strike="noStrike" dirty="0" err="1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nso_moveit_servo_node</a:t>
            </a:r>
            <a:r>
              <a:rPr lang="en-US" sz="2300" i="1" u="none" strike="noStrike" dirty="0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/</a:t>
            </a:r>
            <a:r>
              <a:rPr lang="en-US" sz="2300" i="1" u="none" strike="noStrike" dirty="0" err="1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start_servo</a:t>
            </a:r>
            <a:endParaRPr lang="en-US" sz="2300" i="1" u="none" strike="noStrike" dirty="0">
              <a:solidFill>
                <a:srgbClr val="000000"/>
              </a:solidFill>
              <a:latin typeface="IBM Plex Mono Italics"/>
              <a:ea typeface="IBM Plex Mono Italics"/>
              <a:cs typeface="IBM Plex Mono Italics"/>
              <a:sym typeface="IBM Plex Mono Italics"/>
            </a:endParaRPr>
          </a:p>
          <a:p>
            <a:pPr algn="l">
              <a:lnSpc>
                <a:spcPts val="3220"/>
              </a:lnSpc>
            </a:pPr>
            <a:r>
              <a:rPr lang="en-US" sz="2300" i="1" u="none" strike="noStrike" dirty="0" err="1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denso_moveit_servo_node</a:t>
            </a:r>
            <a:r>
              <a:rPr lang="en-US" sz="2300" i="1" u="none" strike="noStrike" dirty="0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/</a:t>
            </a:r>
            <a:r>
              <a:rPr lang="en-US" sz="2300" i="1" u="none" strike="noStrike" dirty="0" err="1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stop_servo</a:t>
            </a:r>
            <a:r>
              <a:rPr lang="en-US" sz="2300" i="1" u="none" strike="noStrike" dirty="0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 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CF23A26E-B408-AD62-CF98-60A1229F4048}"/>
              </a:ext>
            </a:extLst>
          </p:cNvPr>
          <p:cNvSpPr txBox="1"/>
          <p:nvPr/>
        </p:nvSpPr>
        <p:spPr>
          <a:xfrm>
            <a:off x="9915860" y="9113071"/>
            <a:ext cx="7547491" cy="793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2300" i="1" dirty="0" err="1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denso_moveit_servo_node</a:t>
            </a:r>
            <a:r>
              <a:rPr lang="en-US" sz="2300" i="1" dirty="0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/</a:t>
            </a:r>
            <a:r>
              <a:rPr lang="en-US" sz="2300" i="1" dirty="0" err="1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delta_joint_cmds</a:t>
            </a:r>
            <a:endParaRPr lang="en-US" sz="2300" i="1" dirty="0">
              <a:solidFill>
                <a:srgbClr val="000000"/>
              </a:solidFill>
              <a:latin typeface="IBM Plex Mono Italics"/>
              <a:ea typeface="IBM Plex Mono Italics"/>
              <a:cs typeface="IBM Plex Mono Italics"/>
              <a:sym typeface="IBM Plex Mono Italics"/>
            </a:endParaRPr>
          </a:p>
          <a:p>
            <a:pPr algn="l">
              <a:lnSpc>
                <a:spcPts val="3220"/>
              </a:lnSpc>
            </a:pPr>
            <a:r>
              <a:rPr lang="en-US" sz="2300" i="1" dirty="0" err="1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de</a:t>
            </a:r>
            <a:r>
              <a:rPr lang="en-US" sz="2300" i="1" u="none" strike="noStrike" dirty="0" err="1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nso_moveit_servo_node</a:t>
            </a:r>
            <a:r>
              <a:rPr lang="en-US" sz="2300" i="1" u="none" strike="noStrike" dirty="0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/</a:t>
            </a:r>
            <a:r>
              <a:rPr lang="en-US" sz="2300" i="1" u="none" strike="noStrike" dirty="0" err="1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delta_twist_cmds</a:t>
            </a:r>
            <a:endParaRPr lang="en-US" sz="2300" i="1" u="none" strike="noStrike" dirty="0">
              <a:solidFill>
                <a:srgbClr val="000000"/>
              </a:solidFill>
              <a:latin typeface="IBM Plex Mono Italics"/>
              <a:ea typeface="IBM Plex Mono Italics"/>
              <a:cs typeface="IBM Plex Mono Italics"/>
              <a:sym typeface="IBM Plex Mono Itali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74633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96807" y="-1813656"/>
            <a:ext cx="4292076" cy="13914286"/>
          </a:xfrm>
          <a:custGeom>
            <a:avLst/>
            <a:gdLst/>
            <a:ahLst/>
            <a:cxnLst/>
            <a:rect l="l" t="t" r="r" b="b"/>
            <a:pathLst>
              <a:path w="4292076" h="13914286">
                <a:moveTo>
                  <a:pt x="0" y="0"/>
                </a:moveTo>
                <a:lnTo>
                  <a:pt x="4292076" y="0"/>
                </a:lnTo>
                <a:lnTo>
                  <a:pt x="4292076" y="13914286"/>
                </a:lnTo>
                <a:lnTo>
                  <a:pt x="0" y="139142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475462" y="-4"/>
            <a:ext cx="1385350" cy="988100"/>
          </a:xfrm>
          <a:custGeom>
            <a:avLst/>
            <a:gdLst/>
            <a:ahLst/>
            <a:cxnLst/>
            <a:rect l="l" t="t" r="r" b="b"/>
            <a:pathLst>
              <a:path w="1385350" h="988100">
                <a:moveTo>
                  <a:pt x="0" y="0"/>
                </a:moveTo>
                <a:lnTo>
                  <a:pt x="1385350" y="0"/>
                </a:lnTo>
                <a:lnTo>
                  <a:pt x="1385350" y="988100"/>
                </a:lnTo>
                <a:lnTo>
                  <a:pt x="0" y="988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10800000">
            <a:off x="-8" y="9443702"/>
            <a:ext cx="842604" cy="841564"/>
            <a:chOff x="0" y="0"/>
            <a:chExt cx="1123472" cy="1122085"/>
          </a:xfrm>
        </p:grpSpPr>
        <p:sp>
          <p:nvSpPr>
            <p:cNvPr id="6" name="Freeform 6"/>
            <p:cNvSpPr/>
            <p:nvPr/>
          </p:nvSpPr>
          <p:spPr>
            <a:xfrm>
              <a:off x="0" y="127"/>
              <a:ext cx="1123442" cy="1121918"/>
            </a:xfrm>
            <a:custGeom>
              <a:avLst/>
              <a:gdLst/>
              <a:ahLst/>
              <a:cxnLst/>
              <a:rect l="l" t="t" r="r" b="b"/>
              <a:pathLst>
                <a:path w="1123442" h="1121918">
                  <a:moveTo>
                    <a:pt x="0" y="0"/>
                  </a:moveTo>
                  <a:cubicBezTo>
                    <a:pt x="0" y="619125"/>
                    <a:pt x="501269" y="1121918"/>
                    <a:pt x="1120394" y="1121918"/>
                  </a:cubicBezTo>
                  <a:lnTo>
                    <a:pt x="1123442" y="1121918"/>
                  </a:lnTo>
                  <a:lnTo>
                    <a:pt x="1123442" y="622046"/>
                  </a:lnTo>
                  <a:cubicBezTo>
                    <a:pt x="779145" y="622046"/>
                    <a:pt x="499745" y="344297"/>
                    <a:pt x="499745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217844" y="3212659"/>
            <a:ext cx="7626645" cy="4976386"/>
          </a:xfrm>
          <a:custGeom>
            <a:avLst/>
            <a:gdLst/>
            <a:ahLst/>
            <a:cxnLst/>
            <a:rect l="l" t="t" r="r" b="b"/>
            <a:pathLst>
              <a:path w="7626645" h="4976386">
                <a:moveTo>
                  <a:pt x="0" y="0"/>
                </a:moveTo>
                <a:lnTo>
                  <a:pt x="7626645" y="0"/>
                </a:lnTo>
                <a:lnTo>
                  <a:pt x="7626645" y="4976386"/>
                </a:lnTo>
                <a:lnTo>
                  <a:pt x="0" y="4976386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71705" y="762851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3.3. </a:t>
            </a:r>
            <a:r>
              <a:rPr lang="en-US" dirty="0" err="1">
                <a:sym typeface="Arial MT Pro Bold"/>
              </a:rPr>
              <a:t>Ứng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dụng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điều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khiển</a:t>
            </a:r>
            <a:r>
              <a:rPr lang="en-US" dirty="0">
                <a:sym typeface="Arial MT Pro Bold"/>
              </a:rPr>
              <a:t> VR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71705" y="1658201"/>
            <a:ext cx="451892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>
                <a:sym typeface="Arial MT Pro Bold Italics"/>
              </a:rPr>
              <a:t>Thiết kế tổng quát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57554" y="2664064"/>
            <a:ext cx="3135126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Meta XR SDK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57554" y="3326208"/>
            <a:ext cx="7835817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Cung cấp các module cần thiết cho xây dựng ứng dụng VR trên kính Meta Quest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57554" y="5186887"/>
            <a:ext cx="3135126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Ros-Sharp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57554" y="5849031"/>
            <a:ext cx="7835817" cy="320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Module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phía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Unity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trong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bộ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công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cụ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Ros-Sharp,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hỗ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trợ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tạo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nối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tới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RosBridge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server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thực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hiện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thao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tác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với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topic/service/action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mở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phép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người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dùng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tự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định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nghĩa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message/service/action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602200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74633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96807" y="-1813656"/>
            <a:ext cx="4292076" cy="13914286"/>
          </a:xfrm>
          <a:custGeom>
            <a:avLst/>
            <a:gdLst/>
            <a:ahLst/>
            <a:cxnLst/>
            <a:rect l="l" t="t" r="r" b="b"/>
            <a:pathLst>
              <a:path w="4292076" h="13914286">
                <a:moveTo>
                  <a:pt x="0" y="0"/>
                </a:moveTo>
                <a:lnTo>
                  <a:pt x="4292076" y="0"/>
                </a:lnTo>
                <a:lnTo>
                  <a:pt x="4292076" y="13914286"/>
                </a:lnTo>
                <a:lnTo>
                  <a:pt x="0" y="139142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475462" y="-4"/>
            <a:ext cx="1385350" cy="988100"/>
          </a:xfrm>
          <a:custGeom>
            <a:avLst/>
            <a:gdLst/>
            <a:ahLst/>
            <a:cxnLst/>
            <a:rect l="l" t="t" r="r" b="b"/>
            <a:pathLst>
              <a:path w="1385350" h="988100">
                <a:moveTo>
                  <a:pt x="0" y="0"/>
                </a:moveTo>
                <a:lnTo>
                  <a:pt x="1385350" y="0"/>
                </a:lnTo>
                <a:lnTo>
                  <a:pt x="1385350" y="988100"/>
                </a:lnTo>
                <a:lnTo>
                  <a:pt x="0" y="988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10800000">
            <a:off x="-8" y="9443702"/>
            <a:ext cx="842604" cy="841564"/>
            <a:chOff x="0" y="0"/>
            <a:chExt cx="1123472" cy="1122085"/>
          </a:xfrm>
        </p:grpSpPr>
        <p:sp>
          <p:nvSpPr>
            <p:cNvPr id="6" name="Freeform 6"/>
            <p:cNvSpPr/>
            <p:nvPr/>
          </p:nvSpPr>
          <p:spPr>
            <a:xfrm>
              <a:off x="0" y="127"/>
              <a:ext cx="1123442" cy="1121918"/>
            </a:xfrm>
            <a:custGeom>
              <a:avLst/>
              <a:gdLst/>
              <a:ahLst/>
              <a:cxnLst/>
              <a:rect l="l" t="t" r="r" b="b"/>
              <a:pathLst>
                <a:path w="1123442" h="1121918">
                  <a:moveTo>
                    <a:pt x="0" y="0"/>
                  </a:moveTo>
                  <a:cubicBezTo>
                    <a:pt x="0" y="619125"/>
                    <a:pt x="501269" y="1121918"/>
                    <a:pt x="1120394" y="1121918"/>
                  </a:cubicBezTo>
                  <a:lnTo>
                    <a:pt x="1123442" y="1121918"/>
                  </a:lnTo>
                  <a:lnTo>
                    <a:pt x="1123442" y="622046"/>
                  </a:lnTo>
                  <a:cubicBezTo>
                    <a:pt x="779145" y="622046"/>
                    <a:pt x="499745" y="344297"/>
                    <a:pt x="499745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771705" y="762851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3.3. </a:t>
            </a:r>
            <a:r>
              <a:rPr lang="en-US" dirty="0" err="1">
                <a:sym typeface="Arial MT Pro Bold"/>
              </a:rPr>
              <a:t>Ứng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dụng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điều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khiển</a:t>
            </a:r>
            <a:r>
              <a:rPr lang="en-US" dirty="0">
                <a:sym typeface="Arial MT Pro Bold"/>
              </a:rPr>
              <a:t> VR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71705" y="1658201"/>
            <a:ext cx="593390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 err="1">
                <a:sym typeface="Arial MT Pro Bold Italics"/>
              </a:rPr>
              <a:t>Thiết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kế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tổng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quát</a:t>
            </a:r>
            <a:r>
              <a:rPr lang="en-US" dirty="0">
                <a:sym typeface="Arial MT Pro Bold Italics"/>
              </a:rPr>
              <a:t>: ROS-Sharp</a:t>
            </a:r>
          </a:p>
        </p:txBody>
      </p:sp>
      <p:sp>
        <p:nvSpPr>
          <p:cNvPr id="9" name="Freeform 9"/>
          <p:cNvSpPr/>
          <p:nvPr/>
        </p:nvSpPr>
        <p:spPr>
          <a:xfrm>
            <a:off x="842596" y="2915501"/>
            <a:ext cx="15876284" cy="6707730"/>
          </a:xfrm>
          <a:custGeom>
            <a:avLst/>
            <a:gdLst/>
            <a:ahLst/>
            <a:cxnLst/>
            <a:rect l="l" t="t" r="r" b="b"/>
            <a:pathLst>
              <a:path w="15876284" h="6707730">
                <a:moveTo>
                  <a:pt x="0" y="0"/>
                </a:moveTo>
                <a:lnTo>
                  <a:pt x="15876284" y="0"/>
                </a:lnTo>
                <a:lnTo>
                  <a:pt x="15876284" y="6707731"/>
                </a:lnTo>
                <a:lnTo>
                  <a:pt x="0" y="6707731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74633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96807" y="-1813656"/>
            <a:ext cx="4292076" cy="13914286"/>
          </a:xfrm>
          <a:custGeom>
            <a:avLst/>
            <a:gdLst/>
            <a:ahLst/>
            <a:cxnLst/>
            <a:rect l="l" t="t" r="r" b="b"/>
            <a:pathLst>
              <a:path w="4292076" h="13914286">
                <a:moveTo>
                  <a:pt x="0" y="0"/>
                </a:moveTo>
                <a:lnTo>
                  <a:pt x="4292076" y="0"/>
                </a:lnTo>
                <a:lnTo>
                  <a:pt x="4292076" y="13914286"/>
                </a:lnTo>
                <a:lnTo>
                  <a:pt x="0" y="139142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475462" y="-4"/>
            <a:ext cx="1385350" cy="988100"/>
          </a:xfrm>
          <a:custGeom>
            <a:avLst/>
            <a:gdLst/>
            <a:ahLst/>
            <a:cxnLst/>
            <a:rect l="l" t="t" r="r" b="b"/>
            <a:pathLst>
              <a:path w="1385350" h="988100">
                <a:moveTo>
                  <a:pt x="0" y="0"/>
                </a:moveTo>
                <a:lnTo>
                  <a:pt x="1385350" y="0"/>
                </a:lnTo>
                <a:lnTo>
                  <a:pt x="1385350" y="988100"/>
                </a:lnTo>
                <a:lnTo>
                  <a:pt x="0" y="988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10800000">
            <a:off x="-8" y="9443702"/>
            <a:ext cx="842604" cy="841564"/>
            <a:chOff x="0" y="0"/>
            <a:chExt cx="1123472" cy="1122085"/>
          </a:xfrm>
        </p:grpSpPr>
        <p:sp>
          <p:nvSpPr>
            <p:cNvPr id="6" name="Freeform 6"/>
            <p:cNvSpPr/>
            <p:nvPr/>
          </p:nvSpPr>
          <p:spPr>
            <a:xfrm>
              <a:off x="0" y="127"/>
              <a:ext cx="1123442" cy="1121918"/>
            </a:xfrm>
            <a:custGeom>
              <a:avLst/>
              <a:gdLst/>
              <a:ahLst/>
              <a:cxnLst/>
              <a:rect l="l" t="t" r="r" b="b"/>
              <a:pathLst>
                <a:path w="1123442" h="1121918">
                  <a:moveTo>
                    <a:pt x="0" y="0"/>
                  </a:moveTo>
                  <a:cubicBezTo>
                    <a:pt x="0" y="619125"/>
                    <a:pt x="501269" y="1121918"/>
                    <a:pt x="1120394" y="1121918"/>
                  </a:cubicBezTo>
                  <a:lnTo>
                    <a:pt x="1123442" y="1121918"/>
                  </a:lnTo>
                  <a:lnTo>
                    <a:pt x="1123442" y="622046"/>
                  </a:lnTo>
                  <a:cubicBezTo>
                    <a:pt x="779145" y="622046"/>
                    <a:pt x="499745" y="344297"/>
                    <a:pt x="499745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677535" y="3325120"/>
            <a:ext cx="7675469" cy="1583065"/>
          </a:xfrm>
          <a:custGeom>
            <a:avLst/>
            <a:gdLst/>
            <a:ahLst/>
            <a:cxnLst/>
            <a:rect l="l" t="t" r="r" b="b"/>
            <a:pathLst>
              <a:path w="7675469" h="1583065">
                <a:moveTo>
                  <a:pt x="0" y="0"/>
                </a:moveTo>
                <a:lnTo>
                  <a:pt x="7675469" y="0"/>
                </a:lnTo>
                <a:lnTo>
                  <a:pt x="7675469" y="1583066"/>
                </a:lnTo>
                <a:lnTo>
                  <a:pt x="0" y="1583066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144000" y="3248687"/>
            <a:ext cx="8331554" cy="4738571"/>
          </a:xfrm>
          <a:custGeom>
            <a:avLst/>
            <a:gdLst/>
            <a:ahLst/>
            <a:cxnLst/>
            <a:rect l="l" t="t" r="r" b="b"/>
            <a:pathLst>
              <a:path w="8331554" h="4738571">
                <a:moveTo>
                  <a:pt x="0" y="0"/>
                </a:moveTo>
                <a:lnTo>
                  <a:pt x="8331554" y="0"/>
                </a:lnTo>
                <a:lnTo>
                  <a:pt x="8331554" y="4738572"/>
                </a:lnTo>
                <a:lnTo>
                  <a:pt x="0" y="4738572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71705" y="762851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3.3. </a:t>
            </a:r>
            <a:r>
              <a:rPr lang="en-US" dirty="0" err="1">
                <a:sym typeface="Arial MT Pro Bold"/>
              </a:rPr>
              <a:t>Ứng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dụng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điều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khiển</a:t>
            </a:r>
            <a:r>
              <a:rPr lang="en-US" dirty="0">
                <a:sym typeface="Arial MT Pro Bold"/>
              </a:rPr>
              <a:t> VR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71705" y="1658201"/>
            <a:ext cx="641446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 err="1">
                <a:sym typeface="Arial MT Pro Bold Italics"/>
              </a:rPr>
              <a:t>Kết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nối</a:t>
            </a:r>
            <a:r>
              <a:rPr lang="en-US" dirty="0">
                <a:sym typeface="Arial MT Pro Bold Italics"/>
              </a:rPr>
              <a:t> ROS2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7187" y="5474122"/>
            <a:ext cx="7835817" cy="210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Sử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dụng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Ros Connector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để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tạo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nối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tới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RosBridge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với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IP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Port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đã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chọn</a:t>
            </a: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Thêm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cơ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chế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nối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ngắt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nối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quản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lý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trạng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thái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nối</a:t>
            </a: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17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7FC0E04-D12D-9DF5-DC0D-235C9657B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5979" y="3164477"/>
            <a:ext cx="597025" cy="59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98A39FFC-23FC-8E95-0D7A-86BA3AEA1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219857"/>
            <a:ext cx="687687" cy="687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CE0923CE-692C-FD04-6586-DE04ADDAC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924285"/>
            <a:ext cx="10176236" cy="2919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2"/>
          <p:cNvSpPr/>
          <p:nvPr/>
        </p:nvSpPr>
        <p:spPr>
          <a:xfrm>
            <a:off x="-1974633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96807" y="-1813656"/>
            <a:ext cx="4292076" cy="13914286"/>
          </a:xfrm>
          <a:custGeom>
            <a:avLst/>
            <a:gdLst/>
            <a:ahLst/>
            <a:cxnLst/>
            <a:rect l="l" t="t" r="r" b="b"/>
            <a:pathLst>
              <a:path w="4292076" h="13914286">
                <a:moveTo>
                  <a:pt x="0" y="0"/>
                </a:moveTo>
                <a:lnTo>
                  <a:pt x="4292076" y="0"/>
                </a:lnTo>
                <a:lnTo>
                  <a:pt x="4292076" y="13914286"/>
                </a:lnTo>
                <a:lnTo>
                  <a:pt x="0" y="139142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475462" y="-4"/>
            <a:ext cx="1385350" cy="988100"/>
          </a:xfrm>
          <a:custGeom>
            <a:avLst/>
            <a:gdLst/>
            <a:ahLst/>
            <a:cxnLst/>
            <a:rect l="l" t="t" r="r" b="b"/>
            <a:pathLst>
              <a:path w="1385350" h="988100">
                <a:moveTo>
                  <a:pt x="0" y="0"/>
                </a:moveTo>
                <a:lnTo>
                  <a:pt x="1385350" y="0"/>
                </a:lnTo>
                <a:lnTo>
                  <a:pt x="1385350" y="988100"/>
                </a:lnTo>
                <a:lnTo>
                  <a:pt x="0" y="988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10800000">
            <a:off x="-8" y="9443702"/>
            <a:ext cx="842604" cy="841564"/>
            <a:chOff x="0" y="0"/>
            <a:chExt cx="1123472" cy="1122085"/>
          </a:xfrm>
        </p:grpSpPr>
        <p:sp>
          <p:nvSpPr>
            <p:cNvPr id="6" name="Freeform 6"/>
            <p:cNvSpPr/>
            <p:nvPr/>
          </p:nvSpPr>
          <p:spPr>
            <a:xfrm>
              <a:off x="0" y="127"/>
              <a:ext cx="1123442" cy="1121918"/>
            </a:xfrm>
            <a:custGeom>
              <a:avLst/>
              <a:gdLst/>
              <a:ahLst/>
              <a:cxnLst/>
              <a:rect l="l" t="t" r="r" b="b"/>
              <a:pathLst>
                <a:path w="1123442" h="1121918">
                  <a:moveTo>
                    <a:pt x="0" y="0"/>
                  </a:moveTo>
                  <a:cubicBezTo>
                    <a:pt x="0" y="619125"/>
                    <a:pt x="501269" y="1121918"/>
                    <a:pt x="1120394" y="1121918"/>
                  </a:cubicBezTo>
                  <a:lnTo>
                    <a:pt x="1123442" y="1121918"/>
                  </a:lnTo>
                  <a:lnTo>
                    <a:pt x="1123442" y="622046"/>
                  </a:lnTo>
                  <a:cubicBezTo>
                    <a:pt x="779145" y="622046"/>
                    <a:pt x="499745" y="344297"/>
                    <a:pt x="499745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7204055" y="5143500"/>
            <a:ext cx="9777513" cy="4974025"/>
          </a:xfrm>
          <a:custGeom>
            <a:avLst/>
            <a:gdLst/>
            <a:ahLst/>
            <a:cxnLst/>
            <a:rect l="l" t="t" r="r" b="b"/>
            <a:pathLst>
              <a:path w="10358141" h="5632239">
                <a:moveTo>
                  <a:pt x="0" y="0"/>
                </a:moveTo>
                <a:lnTo>
                  <a:pt x="10358141" y="0"/>
                </a:lnTo>
                <a:lnTo>
                  <a:pt x="10358141" y="5632238"/>
                </a:lnTo>
                <a:lnTo>
                  <a:pt x="0" y="5632238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71705" y="762851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3.3. </a:t>
            </a:r>
            <a:r>
              <a:rPr lang="en-US" dirty="0" err="1">
                <a:sym typeface="Arial MT Pro Bold"/>
              </a:rPr>
              <a:t>Ứng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dụng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điều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khiển</a:t>
            </a:r>
            <a:r>
              <a:rPr lang="en-US" dirty="0">
                <a:sym typeface="Arial MT Pro Bold"/>
              </a:rPr>
              <a:t> VR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71704" y="1658201"/>
            <a:ext cx="6979437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 err="1">
                <a:sym typeface="Arial MT Pro Bold Italics"/>
              </a:rPr>
              <a:t>Cập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nhật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trạng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thái</a:t>
            </a:r>
            <a:r>
              <a:rPr lang="en-US" dirty="0">
                <a:sym typeface="Arial MT Pro Bold Italics"/>
              </a:rPr>
              <a:t> Robot + Camera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2000" y="3874001"/>
            <a:ext cx="5480589" cy="4800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Joint State Subscriber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đọc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i="1" dirty="0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/</a:t>
            </a:r>
            <a:r>
              <a:rPr lang="en-US" sz="3000" i="1" dirty="0" err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joint_states</a:t>
            </a:r>
            <a:r>
              <a:rPr lang="en-US" sz="3000" i="1" dirty="0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cập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nhật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mô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hình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3D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cánh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tay</a:t>
            </a: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lvl="1" indent="-323850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Subscribe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tới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 topic camera </a:t>
            </a:r>
          </a:p>
          <a:p>
            <a:pPr marL="647700" lvl="1" indent="-323850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 subscriber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dõi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trạng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thái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nối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để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tự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subscribe/unsubscribe.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18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275F71D3-774A-02F1-F7A1-9F271C029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744" y="2483427"/>
            <a:ext cx="597025" cy="59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59F17E86-2FD8-EAF3-8909-2CB06485E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5462" y="3559160"/>
            <a:ext cx="597025" cy="59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24031106-88D4-3697-019D-6378BF8F8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5462" y="1846185"/>
            <a:ext cx="597025" cy="59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74633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549326" y="-1980801"/>
            <a:ext cx="4292076" cy="13914286"/>
          </a:xfrm>
          <a:custGeom>
            <a:avLst/>
            <a:gdLst/>
            <a:ahLst/>
            <a:cxnLst/>
            <a:rect l="l" t="t" r="r" b="b"/>
            <a:pathLst>
              <a:path w="4292076" h="13914286">
                <a:moveTo>
                  <a:pt x="0" y="0"/>
                </a:moveTo>
                <a:lnTo>
                  <a:pt x="4292076" y="0"/>
                </a:lnTo>
                <a:lnTo>
                  <a:pt x="4292076" y="13914286"/>
                </a:lnTo>
                <a:lnTo>
                  <a:pt x="0" y="139142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475462" y="-4"/>
            <a:ext cx="1385350" cy="988100"/>
          </a:xfrm>
          <a:custGeom>
            <a:avLst/>
            <a:gdLst/>
            <a:ahLst/>
            <a:cxnLst/>
            <a:rect l="l" t="t" r="r" b="b"/>
            <a:pathLst>
              <a:path w="1385350" h="988100">
                <a:moveTo>
                  <a:pt x="0" y="0"/>
                </a:moveTo>
                <a:lnTo>
                  <a:pt x="1385350" y="0"/>
                </a:lnTo>
                <a:lnTo>
                  <a:pt x="1385350" y="988100"/>
                </a:lnTo>
                <a:lnTo>
                  <a:pt x="0" y="988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10800000">
            <a:off x="-8" y="9443702"/>
            <a:ext cx="842604" cy="841564"/>
            <a:chOff x="0" y="0"/>
            <a:chExt cx="1123472" cy="1122085"/>
          </a:xfrm>
        </p:grpSpPr>
        <p:sp>
          <p:nvSpPr>
            <p:cNvPr id="6" name="Freeform 6"/>
            <p:cNvSpPr/>
            <p:nvPr/>
          </p:nvSpPr>
          <p:spPr>
            <a:xfrm>
              <a:off x="0" y="127"/>
              <a:ext cx="1123442" cy="1121918"/>
            </a:xfrm>
            <a:custGeom>
              <a:avLst/>
              <a:gdLst/>
              <a:ahLst/>
              <a:cxnLst/>
              <a:rect l="l" t="t" r="r" b="b"/>
              <a:pathLst>
                <a:path w="1123442" h="1121918">
                  <a:moveTo>
                    <a:pt x="0" y="0"/>
                  </a:moveTo>
                  <a:cubicBezTo>
                    <a:pt x="0" y="619125"/>
                    <a:pt x="501269" y="1121918"/>
                    <a:pt x="1120394" y="1121918"/>
                  </a:cubicBezTo>
                  <a:lnTo>
                    <a:pt x="1123442" y="1121918"/>
                  </a:lnTo>
                  <a:lnTo>
                    <a:pt x="1123442" y="622046"/>
                  </a:lnTo>
                  <a:cubicBezTo>
                    <a:pt x="779145" y="622046"/>
                    <a:pt x="499745" y="344297"/>
                    <a:pt x="499745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2130494" y="2454748"/>
            <a:ext cx="11301259" cy="5043187"/>
          </a:xfrm>
          <a:custGeom>
            <a:avLst/>
            <a:gdLst/>
            <a:ahLst/>
            <a:cxnLst/>
            <a:rect l="l" t="t" r="r" b="b"/>
            <a:pathLst>
              <a:path w="11301259" h="5043187">
                <a:moveTo>
                  <a:pt x="0" y="0"/>
                </a:moveTo>
                <a:lnTo>
                  <a:pt x="11301259" y="0"/>
                </a:lnTo>
                <a:lnTo>
                  <a:pt x="11301259" y="5043187"/>
                </a:lnTo>
                <a:lnTo>
                  <a:pt x="0" y="5043187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615385" y="3035853"/>
            <a:ext cx="2770783" cy="4067204"/>
          </a:xfrm>
          <a:custGeom>
            <a:avLst/>
            <a:gdLst/>
            <a:ahLst/>
            <a:cxnLst/>
            <a:rect l="l" t="t" r="r" b="b"/>
            <a:pathLst>
              <a:path w="2770783" h="4067204">
                <a:moveTo>
                  <a:pt x="0" y="0"/>
                </a:moveTo>
                <a:lnTo>
                  <a:pt x="2770782" y="0"/>
                </a:lnTo>
                <a:lnTo>
                  <a:pt x="2770782" y="4067204"/>
                </a:lnTo>
                <a:lnTo>
                  <a:pt x="0" y="4067204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71705" y="762851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3.3. </a:t>
            </a:r>
            <a:r>
              <a:rPr lang="en-US" dirty="0" err="1">
                <a:sym typeface="Arial MT Pro Bold"/>
              </a:rPr>
              <a:t>Ứng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dụng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điều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khiển</a:t>
            </a:r>
            <a:r>
              <a:rPr lang="en-US" dirty="0">
                <a:sym typeface="Arial MT Pro Bold"/>
              </a:rPr>
              <a:t> VR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71705" y="1658201"/>
            <a:ext cx="999197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>
                <a:sym typeface="Arial MT Pro Bold Italics"/>
              </a:rPr>
              <a:t>Điều khiển với MoveIt Servo và Gripper Command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72096" y="7843502"/>
            <a:ext cx="12743809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Giá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trị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trục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robot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được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cập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nhật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lên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bảng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MoveIt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Servo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Hỗ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trợ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điều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khiển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robot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thông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qua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MoveIt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Servo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Hỗ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trợ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điều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khiển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phần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tay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gắp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thông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qua Gripper Command Action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19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BBF9599B-E8EA-11A3-495D-FB99CAE8E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2336101"/>
            <a:ext cx="597025" cy="59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C6871804-A80A-B5D4-2FC3-74A4B3E35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6114" y="4379316"/>
            <a:ext cx="597025" cy="59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744D353-D3EE-DE14-481A-3BFC1F780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3662998"/>
            <a:ext cx="597024" cy="59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E07989D8-0D03-CA67-1F95-E19D5D7D6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472431"/>
            <a:ext cx="597024" cy="59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F8238EAF-7A96-480B-D555-D71F170CD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5388159"/>
            <a:ext cx="597024" cy="59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0C5A00C1-35AE-3BAE-CC49-52A5A86E2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7256" y="6144535"/>
            <a:ext cx="597024" cy="59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6636C64-8C1E-345D-95CA-565E0D292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5462" y="4649937"/>
            <a:ext cx="687687" cy="687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713DEA69-876D-ECED-8166-19ECA3E3B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0" y="2489628"/>
            <a:ext cx="687687" cy="687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74633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535525" y="-1813643"/>
            <a:ext cx="4292076" cy="13914286"/>
          </a:xfrm>
          <a:custGeom>
            <a:avLst/>
            <a:gdLst/>
            <a:ahLst/>
            <a:cxnLst/>
            <a:rect l="l" t="t" r="r" b="b"/>
            <a:pathLst>
              <a:path w="4292076" h="13914286">
                <a:moveTo>
                  <a:pt x="0" y="0"/>
                </a:moveTo>
                <a:lnTo>
                  <a:pt x="4292076" y="0"/>
                </a:lnTo>
                <a:lnTo>
                  <a:pt x="4292076" y="13914286"/>
                </a:lnTo>
                <a:lnTo>
                  <a:pt x="0" y="139142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475462" y="-4"/>
            <a:ext cx="1385350" cy="988100"/>
          </a:xfrm>
          <a:custGeom>
            <a:avLst/>
            <a:gdLst/>
            <a:ahLst/>
            <a:cxnLst/>
            <a:rect l="l" t="t" r="r" b="b"/>
            <a:pathLst>
              <a:path w="1385350" h="988100">
                <a:moveTo>
                  <a:pt x="0" y="0"/>
                </a:moveTo>
                <a:lnTo>
                  <a:pt x="1385350" y="0"/>
                </a:lnTo>
                <a:lnTo>
                  <a:pt x="1385350" y="988100"/>
                </a:lnTo>
                <a:lnTo>
                  <a:pt x="0" y="988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10800000">
            <a:off x="-8" y="9443702"/>
            <a:ext cx="842604" cy="841564"/>
            <a:chOff x="0" y="0"/>
            <a:chExt cx="1123472" cy="1122085"/>
          </a:xfrm>
        </p:grpSpPr>
        <p:sp>
          <p:nvSpPr>
            <p:cNvPr id="6" name="Freeform 6"/>
            <p:cNvSpPr/>
            <p:nvPr/>
          </p:nvSpPr>
          <p:spPr>
            <a:xfrm>
              <a:off x="0" y="127"/>
              <a:ext cx="1123442" cy="1121918"/>
            </a:xfrm>
            <a:custGeom>
              <a:avLst/>
              <a:gdLst/>
              <a:ahLst/>
              <a:cxnLst/>
              <a:rect l="l" t="t" r="r" b="b"/>
              <a:pathLst>
                <a:path w="1123442" h="1121918">
                  <a:moveTo>
                    <a:pt x="0" y="0"/>
                  </a:moveTo>
                  <a:cubicBezTo>
                    <a:pt x="0" y="619125"/>
                    <a:pt x="501269" y="1121918"/>
                    <a:pt x="1120394" y="1121918"/>
                  </a:cubicBezTo>
                  <a:lnTo>
                    <a:pt x="1123442" y="1121918"/>
                  </a:lnTo>
                  <a:lnTo>
                    <a:pt x="1123442" y="622046"/>
                  </a:lnTo>
                  <a:cubicBezTo>
                    <a:pt x="779145" y="622046"/>
                    <a:pt x="499745" y="344297"/>
                    <a:pt x="499745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6455774" y="7192971"/>
            <a:ext cx="11301259" cy="3107846"/>
          </a:xfrm>
          <a:custGeom>
            <a:avLst/>
            <a:gdLst/>
            <a:ahLst/>
            <a:cxnLst/>
            <a:rect l="l" t="t" r="r" b="b"/>
            <a:pathLst>
              <a:path w="11301259" h="3107846">
                <a:moveTo>
                  <a:pt x="0" y="0"/>
                </a:moveTo>
                <a:lnTo>
                  <a:pt x="11301259" y="0"/>
                </a:lnTo>
                <a:lnTo>
                  <a:pt x="11301259" y="3107846"/>
                </a:lnTo>
                <a:lnTo>
                  <a:pt x="0" y="3107846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510805" y="2182077"/>
            <a:ext cx="8748495" cy="4619390"/>
          </a:xfrm>
          <a:custGeom>
            <a:avLst/>
            <a:gdLst/>
            <a:ahLst/>
            <a:cxnLst/>
            <a:rect l="l" t="t" r="r" b="b"/>
            <a:pathLst>
              <a:path w="8748495" h="4619390">
                <a:moveTo>
                  <a:pt x="0" y="0"/>
                </a:moveTo>
                <a:lnTo>
                  <a:pt x="8748495" y="0"/>
                </a:lnTo>
                <a:lnTo>
                  <a:pt x="8748495" y="4619389"/>
                </a:lnTo>
                <a:lnTo>
                  <a:pt x="0" y="4619389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71705" y="762851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3.3. </a:t>
            </a:r>
            <a:r>
              <a:rPr lang="en-US" dirty="0" err="1">
                <a:sym typeface="Arial MT Pro Bold"/>
              </a:rPr>
              <a:t>Ứng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dụng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điều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khiển</a:t>
            </a:r>
            <a:r>
              <a:rPr lang="en-US" dirty="0">
                <a:sym typeface="Arial MT Pro Bold"/>
              </a:rPr>
              <a:t> VR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71705" y="1658201"/>
            <a:ext cx="958209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 err="1">
                <a:sym typeface="Arial MT Pro Bold Italics"/>
              </a:rPr>
              <a:t>Điều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khiển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với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MoveToPose</a:t>
            </a:r>
            <a:r>
              <a:rPr lang="en-US" dirty="0">
                <a:sym typeface="Arial MT Pro Bold Italics"/>
              </a:rPr>
              <a:t> Action: Slider Control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1294" y="3945989"/>
            <a:ext cx="7152041" cy="320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Điều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khiển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mô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hình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robot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tương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lai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thông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qua Slider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trên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panel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“Execute”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gửi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yêu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cầu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xuống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Denso Remote Control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để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thực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hiện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xoay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robot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thực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tế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tới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hình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dạng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như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robot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tương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lai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720008" y="7258666"/>
            <a:ext cx="5815517" cy="1488228"/>
            <a:chOff x="0" y="0"/>
            <a:chExt cx="1531667" cy="3919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31667" cy="391943"/>
            </a:xfrm>
            <a:custGeom>
              <a:avLst/>
              <a:gdLst/>
              <a:ahLst/>
              <a:cxnLst/>
              <a:rect l="l" t="t" r="r" b="b"/>
              <a:pathLst>
                <a:path w="1531667" h="391943">
                  <a:moveTo>
                    <a:pt x="1531667" y="38606"/>
                  </a:moveTo>
                  <a:lnTo>
                    <a:pt x="1531667" y="353336"/>
                  </a:lnTo>
                  <a:cubicBezTo>
                    <a:pt x="1531667" y="374658"/>
                    <a:pt x="1514382" y="391943"/>
                    <a:pt x="1493060" y="391943"/>
                  </a:cubicBezTo>
                  <a:lnTo>
                    <a:pt x="38606" y="391943"/>
                  </a:lnTo>
                  <a:cubicBezTo>
                    <a:pt x="17285" y="391943"/>
                    <a:pt x="0" y="374658"/>
                    <a:pt x="0" y="353336"/>
                  </a:cubicBezTo>
                  <a:lnTo>
                    <a:pt x="0" y="38606"/>
                  </a:lnTo>
                  <a:cubicBezTo>
                    <a:pt x="0" y="17285"/>
                    <a:pt x="17285" y="0"/>
                    <a:pt x="38606" y="0"/>
                  </a:cubicBezTo>
                  <a:lnTo>
                    <a:pt x="1493060" y="0"/>
                  </a:lnTo>
                  <a:cubicBezTo>
                    <a:pt x="1514382" y="0"/>
                    <a:pt x="1531667" y="17285"/>
                    <a:pt x="1531667" y="38606"/>
                  </a:cubicBezTo>
                  <a:close/>
                </a:path>
              </a:pathLst>
            </a:custGeom>
            <a:ln w="7620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31667" cy="43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20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F7CBEDFF-C6BE-AC02-7B1D-413272BFB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6282" y="7784398"/>
            <a:ext cx="597025" cy="59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C8C78CBE-A950-AF30-517B-94D44BA38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1476" y="7784399"/>
            <a:ext cx="597024" cy="59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3814F309-EA1C-A7EE-E2C4-82C41922C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6236" y="8715581"/>
            <a:ext cx="687687" cy="687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>
            <a:extLst>
              <a:ext uri="{FF2B5EF4-FFF2-40B4-BE49-F238E27FC236}">
                <a16:creationId xmlns:a16="http://schemas.microsoft.com/office/drawing/2014/main" id="{9C4D80F5-9DCF-FDC9-920A-4378DE573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5456" y="7146389"/>
            <a:ext cx="687687" cy="687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>
            <a:extLst>
              <a:ext uri="{FF2B5EF4-FFF2-40B4-BE49-F238E27FC236}">
                <a16:creationId xmlns:a16="http://schemas.microsoft.com/office/drawing/2014/main" id="{8FDEE3B9-F6C2-FD9B-5AC3-0DC603C8B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6669" y="7146389"/>
            <a:ext cx="687687" cy="687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>
            <a:extLst>
              <a:ext uri="{FF2B5EF4-FFF2-40B4-BE49-F238E27FC236}">
                <a16:creationId xmlns:a16="http://schemas.microsoft.com/office/drawing/2014/main" id="{5E0337D6-C08F-AC4D-8579-11623CB62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347" y="8713439"/>
            <a:ext cx="687687" cy="687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74633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441278" y="-1698037"/>
            <a:ext cx="4292076" cy="13914286"/>
          </a:xfrm>
          <a:custGeom>
            <a:avLst/>
            <a:gdLst/>
            <a:ahLst/>
            <a:cxnLst/>
            <a:rect l="l" t="t" r="r" b="b"/>
            <a:pathLst>
              <a:path w="4292076" h="13914286">
                <a:moveTo>
                  <a:pt x="0" y="0"/>
                </a:moveTo>
                <a:lnTo>
                  <a:pt x="4292076" y="0"/>
                </a:lnTo>
                <a:lnTo>
                  <a:pt x="4292076" y="13914286"/>
                </a:lnTo>
                <a:lnTo>
                  <a:pt x="0" y="139142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475462" y="-4"/>
            <a:ext cx="1385350" cy="988100"/>
          </a:xfrm>
          <a:custGeom>
            <a:avLst/>
            <a:gdLst/>
            <a:ahLst/>
            <a:cxnLst/>
            <a:rect l="l" t="t" r="r" b="b"/>
            <a:pathLst>
              <a:path w="1385350" h="988100">
                <a:moveTo>
                  <a:pt x="0" y="0"/>
                </a:moveTo>
                <a:lnTo>
                  <a:pt x="1385350" y="0"/>
                </a:lnTo>
                <a:lnTo>
                  <a:pt x="1385350" y="988100"/>
                </a:lnTo>
                <a:lnTo>
                  <a:pt x="0" y="988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10800000">
            <a:off x="-8" y="9443702"/>
            <a:ext cx="842604" cy="841564"/>
            <a:chOff x="0" y="0"/>
            <a:chExt cx="1123472" cy="1122085"/>
          </a:xfrm>
        </p:grpSpPr>
        <p:sp>
          <p:nvSpPr>
            <p:cNvPr id="6" name="Freeform 6"/>
            <p:cNvSpPr/>
            <p:nvPr/>
          </p:nvSpPr>
          <p:spPr>
            <a:xfrm>
              <a:off x="0" y="127"/>
              <a:ext cx="1123442" cy="1121918"/>
            </a:xfrm>
            <a:custGeom>
              <a:avLst/>
              <a:gdLst/>
              <a:ahLst/>
              <a:cxnLst/>
              <a:rect l="l" t="t" r="r" b="b"/>
              <a:pathLst>
                <a:path w="1123442" h="1121918">
                  <a:moveTo>
                    <a:pt x="0" y="0"/>
                  </a:moveTo>
                  <a:cubicBezTo>
                    <a:pt x="0" y="619125"/>
                    <a:pt x="501269" y="1121918"/>
                    <a:pt x="1120394" y="1121918"/>
                  </a:cubicBezTo>
                  <a:lnTo>
                    <a:pt x="1123442" y="1121918"/>
                  </a:lnTo>
                  <a:lnTo>
                    <a:pt x="1123442" y="622046"/>
                  </a:lnTo>
                  <a:cubicBezTo>
                    <a:pt x="779145" y="622046"/>
                    <a:pt x="499745" y="344297"/>
                    <a:pt x="499745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6546945" y="2182077"/>
            <a:ext cx="11301259" cy="3107846"/>
          </a:xfrm>
          <a:custGeom>
            <a:avLst/>
            <a:gdLst/>
            <a:ahLst/>
            <a:cxnLst/>
            <a:rect l="l" t="t" r="r" b="b"/>
            <a:pathLst>
              <a:path w="11301259" h="3107846">
                <a:moveTo>
                  <a:pt x="0" y="0"/>
                </a:moveTo>
                <a:lnTo>
                  <a:pt x="11301259" y="0"/>
                </a:lnTo>
                <a:lnTo>
                  <a:pt x="11301259" y="3107846"/>
                </a:lnTo>
                <a:lnTo>
                  <a:pt x="0" y="3107846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746826" y="5289923"/>
            <a:ext cx="8748495" cy="4726939"/>
          </a:xfrm>
          <a:custGeom>
            <a:avLst/>
            <a:gdLst/>
            <a:ahLst/>
            <a:cxnLst/>
            <a:rect l="l" t="t" r="r" b="b"/>
            <a:pathLst>
              <a:path w="8748495" h="4726939">
                <a:moveTo>
                  <a:pt x="0" y="0"/>
                </a:moveTo>
                <a:lnTo>
                  <a:pt x="8748495" y="0"/>
                </a:lnTo>
                <a:lnTo>
                  <a:pt x="8748495" y="4726938"/>
                </a:lnTo>
                <a:lnTo>
                  <a:pt x="0" y="4726938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71705" y="762851"/>
            <a:ext cx="15225150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3.3. </a:t>
            </a:r>
            <a:r>
              <a:rPr lang="en-US" dirty="0" err="1">
                <a:sym typeface="Arial MT Pro Bold"/>
              </a:rPr>
              <a:t>Ứng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dụng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điều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khiển</a:t>
            </a:r>
            <a:r>
              <a:rPr lang="en-US" dirty="0">
                <a:sym typeface="Arial MT Pro Bold"/>
              </a:rPr>
              <a:t> VR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71705" y="1658201"/>
            <a:ext cx="965829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 err="1">
                <a:sym typeface="Arial MT Pro Bold Italics"/>
              </a:rPr>
              <a:t>Điều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khiển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với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MoveToPose</a:t>
            </a:r>
            <a:r>
              <a:rPr lang="en-US" dirty="0">
                <a:sym typeface="Arial MT Pro Bold Italics"/>
              </a:rPr>
              <a:t> Action: Grab Interaction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1294" y="4712882"/>
            <a:ext cx="7152041" cy="266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phép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tương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tác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với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mô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hình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3D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tương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lai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xoay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từng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trục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Giá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trị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trục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được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cập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nhật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lên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panel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“Execute”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sẽ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gửi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lệnh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để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xoay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robot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tới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vị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trí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yêu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cầu</a:t>
            </a: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1917544" y="3736000"/>
            <a:ext cx="5930660" cy="1407500"/>
            <a:chOff x="0" y="0"/>
            <a:chExt cx="1561993" cy="37068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61993" cy="370682"/>
            </a:xfrm>
            <a:custGeom>
              <a:avLst/>
              <a:gdLst/>
              <a:ahLst/>
              <a:cxnLst/>
              <a:rect l="l" t="t" r="r" b="b"/>
              <a:pathLst>
                <a:path w="1561993" h="370682">
                  <a:moveTo>
                    <a:pt x="1561993" y="37857"/>
                  </a:moveTo>
                  <a:lnTo>
                    <a:pt x="1561993" y="332825"/>
                  </a:lnTo>
                  <a:cubicBezTo>
                    <a:pt x="1561993" y="353733"/>
                    <a:pt x="1545044" y="370682"/>
                    <a:pt x="1524136" y="370682"/>
                  </a:cubicBezTo>
                  <a:lnTo>
                    <a:pt x="37857" y="370682"/>
                  </a:lnTo>
                  <a:cubicBezTo>
                    <a:pt x="16949" y="370682"/>
                    <a:pt x="0" y="353733"/>
                    <a:pt x="0" y="332825"/>
                  </a:cubicBezTo>
                  <a:lnTo>
                    <a:pt x="0" y="37857"/>
                  </a:lnTo>
                  <a:cubicBezTo>
                    <a:pt x="0" y="16949"/>
                    <a:pt x="16949" y="0"/>
                    <a:pt x="37857" y="0"/>
                  </a:cubicBezTo>
                  <a:lnTo>
                    <a:pt x="1524136" y="0"/>
                  </a:lnTo>
                  <a:cubicBezTo>
                    <a:pt x="1545044" y="0"/>
                    <a:pt x="1561993" y="16949"/>
                    <a:pt x="1561993" y="37857"/>
                  </a:cubicBezTo>
                  <a:close/>
                </a:path>
              </a:pathLst>
            </a:custGeom>
            <a:ln w="7620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61993" cy="408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21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ED4EA886-4DCA-933F-1162-765327AF0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711" y="2757871"/>
            <a:ext cx="597025" cy="59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D6F20206-2225-6551-88BA-5858AD4F1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905" y="2757872"/>
            <a:ext cx="597024" cy="59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CB11A4F6-9A7A-02E8-947E-D3295A193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7665" y="3689054"/>
            <a:ext cx="687687" cy="687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>
            <a:extLst>
              <a:ext uri="{FF2B5EF4-FFF2-40B4-BE49-F238E27FC236}">
                <a16:creationId xmlns:a16="http://schemas.microsoft.com/office/drawing/2014/main" id="{9673AC4D-09FD-6CB2-3E41-66EE6708D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885" y="2119862"/>
            <a:ext cx="687687" cy="687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>
            <a:extLst>
              <a:ext uri="{FF2B5EF4-FFF2-40B4-BE49-F238E27FC236}">
                <a16:creationId xmlns:a16="http://schemas.microsoft.com/office/drawing/2014/main" id="{936FEC8E-4088-1209-8F65-0C34DEDB2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8098" y="2119862"/>
            <a:ext cx="687687" cy="687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>
            <a:extLst>
              <a:ext uri="{FF2B5EF4-FFF2-40B4-BE49-F238E27FC236}">
                <a16:creationId xmlns:a16="http://schemas.microsoft.com/office/drawing/2014/main" id="{986D7554-1804-D736-83C1-FE4FD8D42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776" y="3686912"/>
            <a:ext cx="687687" cy="687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20" y="8896526"/>
            <a:ext cx="1392174" cy="1390454"/>
            <a:chOff x="0" y="0"/>
            <a:chExt cx="1856232" cy="1853939"/>
          </a:xfrm>
        </p:grpSpPr>
        <p:sp>
          <p:nvSpPr>
            <p:cNvPr id="3" name="Freeform 3"/>
            <p:cNvSpPr/>
            <p:nvPr/>
          </p:nvSpPr>
          <p:spPr>
            <a:xfrm>
              <a:off x="0" y="127"/>
              <a:ext cx="1856232" cy="1853692"/>
            </a:xfrm>
            <a:custGeom>
              <a:avLst/>
              <a:gdLst/>
              <a:ahLst/>
              <a:cxnLst/>
              <a:rect l="l" t="t" r="r" b="b"/>
              <a:pathLst>
                <a:path w="1856232" h="1853692">
                  <a:moveTo>
                    <a:pt x="0" y="0"/>
                  </a:moveTo>
                  <a:cubicBezTo>
                    <a:pt x="0" y="1022985"/>
                    <a:pt x="828294" y="1853692"/>
                    <a:pt x="1851152" y="1853692"/>
                  </a:cubicBezTo>
                  <a:lnTo>
                    <a:pt x="1856232" y="1853692"/>
                  </a:lnTo>
                  <a:lnTo>
                    <a:pt x="1856232" y="1027811"/>
                  </a:lnTo>
                  <a:cubicBezTo>
                    <a:pt x="1287399" y="1027811"/>
                    <a:pt x="825754" y="568833"/>
                    <a:pt x="825754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-701055" y="-2118221"/>
            <a:ext cx="6930502" cy="4200642"/>
          </a:xfrm>
          <a:custGeom>
            <a:avLst/>
            <a:gdLst/>
            <a:ahLst/>
            <a:cxnLst/>
            <a:rect l="l" t="t" r="r" b="b"/>
            <a:pathLst>
              <a:path w="6930502" h="4200642">
                <a:moveTo>
                  <a:pt x="0" y="0"/>
                </a:moveTo>
                <a:lnTo>
                  <a:pt x="6930502" y="0"/>
                </a:lnTo>
                <a:lnTo>
                  <a:pt x="6930502" y="4200642"/>
                </a:lnTo>
                <a:lnTo>
                  <a:pt x="0" y="42006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624831" y="-64656"/>
            <a:ext cx="4292048" cy="7021805"/>
          </a:xfrm>
          <a:custGeom>
            <a:avLst/>
            <a:gdLst/>
            <a:ahLst/>
            <a:cxnLst/>
            <a:rect l="l" t="t" r="r" b="b"/>
            <a:pathLst>
              <a:path w="4292048" h="7021805">
                <a:moveTo>
                  <a:pt x="0" y="0"/>
                </a:moveTo>
                <a:lnTo>
                  <a:pt x="4292048" y="0"/>
                </a:lnTo>
                <a:lnTo>
                  <a:pt x="4292048" y="7021805"/>
                </a:lnTo>
                <a:lnTo>
                  <a:pt x="0" y="7021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31425" y="4619550"/>
            <a:ext cx="9952350" cy="378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Kết</a:t>
            </a:r>
            <a:r>
              <a:rPr lang="en-US" sz="12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quả</a:t>
            </a:r>
            <a:r>
              <a:rPr lang="en-US" sz="12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và</a:t>
            </a:r>
            <a:r>
              <a:rPr lang="en-US" sz="12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đánh</a:t>
            </a:r>
            <a:r>
              <a:rPr lang="en-US" sz="12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giá</a:t>
            </a:r>
            <a:endParaRPr lang="en-US" sz="12000" b="1" dirty="0">
              <a:solidFill>
                <a:srgbClr val="03178C"/>
              </a:solidFill>
              <a:latin typeface="Arimo Bold" panose="020B0604020202020204" charset="0"/>
              <a:ea typeface="Arimo Bold" panose="020B0604020202020204" charset="0"/>
              <a:cs typeface="Arimo Bold" panose="020B0604020202020204" charset="0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31425" y="2771925"/>
            <a:ext cx="2465550" cy="195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 b="1">
                <a:solidFill>
                  <a:srgbClr val="03178C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8" name="Freeform 8"/>
          <p:cNvSpPr/>
          <p:nvPr/>
        </p:nvSpPr>
        <p:spPr>
          <a:xfrm>
            <a:off x="12203559" y="5078825"/>
            <a:ext cx="4292048" cy="7021805"/>
          </a:xfrm>
          <a:custGeom>
            <a:avLst/>
            <a:gdLst/>
            <a:ahLst/>
            <a:cxnLst/>
            <a:rect l="l" t="t" r="r" b="b"/>
            <a:pathLst>
              <a:path w="4292048" h="7021805">
                <a:moveTo>
                  <a:pt x="0" y="0"/>
                </a:moveTo>
                <a:lnTo>
                  <a:pt x="4292048" y="0"/>
                </a:lnTo>
                <a:lnTo>
                  <a:pt x="4292048" y="7021805"/>
                </a:lnTo>
                <a:lnTo>
                  <a:pt x="0" y="7021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449732" y="1674738"/>
            <a:ext cx="1183906" cy="1124640"/>
          </a:xfrm>
          <a:custGeom>
            <a:avLst/>
            <a:gdLst/>
            <a:ahLst/>
            <a:cxnLst/>
            <a:rect l="l" t="t" r="r" b="b"/>
            <a:pathLst>
              <a:path w="1183906" h="1124640">
                <a:moveTo>
                  <a:pt x="0" y="0"/>
                </a:moveTo>
                <a:lnTo>
                  <a:pt x="1183906" y="0"/>
                </a:lnTo>
                <a:lnTo>
                  <a:pt x="1183906" y="1124640"/>
                </a:lnTo>
                <a:lnTo>
                  <a:pt x="0" y="1124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50083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4680" y="0"/>
            <a:ext cx="1683300" cy="841540"/>
          </a:xfrm>
          <a:custGeom>
            <a:avLst/>
            <a:gdLst/>
            <a:ahLst/>
            <a:cxnLst/>
            <a:rect l="l" t="t" r="r" b="b"/>
            <a:pathLst>
              <a:path w="1683300" h="841540">
                <a:moveTo>
                  <a:pt x="0" y="0"/>
                </a:moveTo>
                <a:lnTo>
                  <a:pt x="1683300" y="0"/>
                </a:lnTo>
                <a:lnTo>
                  <a:pt x="1683300" y="841540"/>
                </a:lnTo>
                <a:lnTo>
                  <a:pt x="0" y="8415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508250" y="9327700"/>
            <a:ext cx="1385350" cy="988100"/>
          </a:xfrm>
          <a:custGeom>
            <a:avLst/>
            <a:gdLst/>
            <a:ahLst/>
            <a:cxnLst/>
            <a:rect l="l" t="t" r="r" b="b"/>
            <a:pathLst>
              <a:path w="1385350" h="988100">
                <a:moveTo>
                  <a:pt x="0" y="0"/>
                </a:moveTo>
                <a:lnTo>
                  <a:pt x="1385350" y="0"/>
                </a:lnTo>
                <a:lnTo>
                  <a:pt x="1385350" y="988100"/>
                </a:lnTo>
                <a:lnTo>
                  <a:pt x="0" y="988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31425" y="867175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4 . </a:t>
            </a:r>
            <a:r>
              <a:rPr lang="en-US" dirty="0" err="1">
                <a:sym typeface="Arial MT Pro Bold"/>
              </a:rPr>
              <a:t>Kết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quả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và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đánh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giá</a:t>
            </a:r>
            <a:endParaRPr lang="en-US" dirty="0">
              <a:sym typeface="Arial MT Pro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4970226" y="8805350"/>
            <a:ext cx="866950" cy="823550"/>
          </a:xfrm>
          <a:custGeom>
            <a:avLst/>
            <a:gdLst/>
            <a:ahLst/>
            <a:cxnLst/>
            <a:rect l="l" t="t" r="r" b="b"/>
            <a:pathLst>
              <a:path w="866950" h="823550">
                <a:moveTo>
                  <a:pt x="0" y="0"/>
                </a:moveTo>
                <a:lnTo>
                  <a:pt x="866950" y="0"/>
                </a:lnTo>
                <a:lnTo>
                  <a:pt x="866950" y="823550"/>
                </a:lnTo>
                <a:lnTo>
                  <a:pt x="0" y="82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71705" y="1658201"/>
            <a:ext cx="697512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Chương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trình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điều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khiển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trên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RC5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17875" y="3557390"/>
            <a:ext cx="9004997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So sánh với chương trình RC5 ở giai đoạn 1: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17875" y="4305300"/>
            <a:ext cx="14977477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còn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lỗi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ngừng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hệ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thống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dữ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liệu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UART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bị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hỏng</a:t>
            </a: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phép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điều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khiển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robot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với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vận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tốc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cao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hơn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nhưng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vẫn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ổn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định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trong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thời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gian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dài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sử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dụng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cả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ngày</a:t>
            </a: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Tần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số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hoạt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động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tối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ưu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là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10Hz (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Nhận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lệnh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Xử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lý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Thực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50083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4680" y="0"/>
            <a:ext cx="1683300" cy="841540"/>
          </a:xfrm>
          <a:custGeom>
            <a:avLst/>
            <a:gdLst/>
            <a:ahLst/>
            <a:cxnLst/>
            <a:rect l="l" t="t" r="r" b="b"/>
            <a:pathLst>
              <a:path w="1683300" h="841540">
                <a:moveTo>
                  <a:pt x="0" y="0"/>
                </a:moveTo>
                <a:lnTo>
                  <a:pt x="1683300" y="0"/>
                </a:lnTo>
                <a:lnTo>
                  <a:pt x="1683300" y="841540"/>
                </a:lnTo>
                <a:lnTo>
                  <a:pt x="0" y="8415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508250" y="9327700"/>
            <a:ext cx="1385350" cy="988100"/>
          </a:xfrm>
          <a:custGeom>
            <a:avLst/>
            <a:gdLst/>
            <a:ahLst/>
            <a:cxnLst/>
            <a:rect l="l" t="t" r="r" b="b"/>
            <a:pathLst>
              <a:path w="1385350" h="988100">
                <a:moveTo>
                  <a:pt x="0" y="0"/>
                </a:moveTo>
                <a:lnTo>
                  <a:pt x="1385350" y="0"/>
                </a:lnTo>
                <a:lnTo>
                  <a:pt x="1385350" y="988100"/>
                </a:lnTo>
                <a:lnTo>
                  <a:pt x="0" y="988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31425" y="867175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4 . </a:t>
            </a:r>
            <a:r>
              <a:rPr lang="en-US" dirty="0" err="1">
                <a:sym typeface="Arial MT Pro Bold"/>
              </a:rPr>
              <a:t>Kết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quả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và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đánh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giá</a:t>
            </a:r>
            <a:endParaRPr lang="en-US" dirty="0">
              <a:sym typeface="Arial MT Pro Bold"/>
            </a:endParaRPr>
          </a:p>
        </p:txBody>
      </p:sp>
      <p:sp>
        <p:nvSpPr>
          <p:cNvPr id="6" name="Freeform 6"/>
          <p:cNvSpPr/>
          <p:nvPr/>
        </p:nvSpPr>
        <p:spPr>
          <a:xfrm rot="-2454629">
            <a:off x="16768459" y="9799172"/>
            <a:ext cx="866950" cy="823550"/>
          </a:xfrm>
          <a:custGeom>
            <a:avLst/>
            <a:gdLst/>
            <a:ahLst/>
            <a:cxnLst/>
            <a:rect l="l" t="t" r="r" b="b"/>
            <a:pathLst>
              <a:path w="866950" h="823550">
                <a:moveTo>
                  <a:pt x="0" y="0"/>
                </a:moveTo>
                <a:lnTo>
                  <a:pt x="866950" y="0"/>
                </a:lnTo>
                <a:lnTo>
                  <a:pt x="866950" y="823550"/>
                </a:lnTo>
                <a:lnTo>
                  <a:pt x="0" y="82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71705" y="1658201"/>
            <a:ext cx="755253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Hệ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thống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điều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khiển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với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ROS2: MoveIt2</a:t>
            </a:r>
          </a:p>
        </p:txBody>
      </p:sp>
      <p:sp>
        <p:nvSpPr>
          <p:cNvPr id="8" name="Freeform 8"/>
          <p:cNvSpPr/>
          <p:nvPr/>
        </p:nvSpPr>
        <p:spPr>
          <a:xfrm>
            <a:off x="528974" y="2868239"/>
            <a:ext cx="8509259" cy="6234556"/>
          </a:xfrm>
          <a:custGeom>
            <a:avLst/>
            <a:gdLst/>
            <a:ahLst/>
            <a:cxnLst/>
            <a:rect l="l" t="t" r="r" b="b"/>
            <a:pathLst>
              <a:path w="8509259" h="6234556">
                <a:moveTo>
                  <a:pt x="0" y="0"/>
                </a:moveTo>
                <a:lnTo>
                  <a:pt x="8509259" y="0"/>
                </a:lnTo>
                <a:lnTo>
                  <a:pt x="8509259" y="6234557"/>
                </a:lnTo>
                <a:lnTo>
                  <a:pt x="0" y="6234557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907896" y="2182077"/>
            <a:ext cx="7351404" cy="6536205"/>
            <a:chOff x="0" y="0"/>
            <a:chExt cx="9801872" cy="8714941"/>
          </a:xfrm>
        </p:grpSpPr>
        <p:sp>
          <p:nvSpPr>
            <p:cNvPr id="10" name="Freeform 10"/>
            <p:cNvSpPr/>
            <p:nvPr/>
          </p:nvSpPr>
          <p:spPr>
            <a:xfrm>
              <a:off x="23002" y="1219684"/>
              <a:ext cx="9755868" cy="7495257"/>
            </a:xfrm>
            <a:custGeom>
              <a:avLst/>
              <a:gdLst/>
              <a:ahLst/>
              <a:cxnLst/>
              <a:rect l="l" t="t" r="r" b="b"/>
              <a:pathLst>
                <a:path w="9755868" h="7495257">
                  <a:moveTo>
                    <a:pt x="0" y="0"/>
                  </a:moveTo>
                  <a:lnTo>
                    <a:pt x="9755868" y="0"/>
                  </a:lnTo>
                  <a:lnTo>
                    <a:pt x="9755868" y="7495257"/>
                  </a:lnTo>
                  <a:lnTo>
                    <a:pt x="0" y="74952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9801872" cy="5905460"/>
            </a:xfrm>
            <a:custGeom>
              <a:avLst/>
              <a:gdLst/>
              <a:ahLst/>
              <a:cxnLst/>
              <a:rect l="l" t="t" r="r" b="b"/>
              <a:pathLst>
                <a:path w="9801872" h="5905460">
                  <a:moveTo>
                    <a:pt x="0" y="0"/>
                  </a:moveTo>
                  <a:lnTo>
                    <a:pt x="9801872" y="0"/>
                  </a:lnTo>
                  <a:lnTo>
                    <a:pt x="9801872" y="5905460"/>
                  </a:lnTo>
                  <a:lnTo>
                    <a:pt x="0" y="5905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50083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4680" y="0"/>
            <a:ext cx="1683300" cy="841540"/>
          </a:xfrm>
          <a:custGeom>
            <a:avLst/>
            <a:gdLst/>
            <a:ahLst/>
            <a:cxnLst/>
            <a:rect l="l" t="t" r="r" b="b"/>
            <a:pathLst>
              <a:path w="1683300" h="841540">
                <a:moveTo>
                  <a:pt x="0" y="0"/>
                </a:moveTo>
                <a:lnTo>
                  <a:pt x="1683300" y="0"/>
                </a:lnTo>
                <a:lnTo>
                  <a:pt x="1683300" y="841540"/>
                </a:lnTo>
                <a:lnTo>
                  <a:pt x="0" y="8415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508250" y="9327700"/>
            <a:ext cx="1385350" cy="988100"/>
          </a:xfrm>
          <a:custGeom>
            <a:avLst/>
            <a:gdLst/>
            <a:ahLst/>
            <a:cxnLst/>
            <a:rect l="l" t="t" r="r" b="b"/>
            <a:pathLst>
              <a:path w="1385350" h="988100">
                <a:moveTo>
                  <a:pt x="0" y="0"/>
                </a:moveTo>
                <a:lnTo>
                  <a:pt x="1385350" y="0"/>
                </a:lnTo>
                <a:lnTo>
                  <a:pt x="1385350" y="988100"/>
                </a:lnTo>
                <a:lnTo>
                  <a:pt x="0" y="988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31425" y="867175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4 . </a:t>
            </a:r>
            <a:r>
              <a:rPr lang="en-US" dirty="0" err="1">
                <a:sym typeface="Arial MT Pro Bold"/>
              </a:rPr>
              <a:t>Kết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quả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và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đánh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giá</a:t>
            </a:r>
            <a:endParaRPr lang="en-US" dirty="0">
              <a:sym typeface="Arial MT Pro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4970226" y="8805350"/>
            <a:ext cx="866950" cy="823550"/>
          </a:xfrm>
          <a:custGeom>
            <a:avLst/>
            <a:gdLst/>
            <a:ahLst/>
            <a:cxnLst/>
            <a:rect l="l" t="t" r="r" b="b"/>
            <a:pathLst>
              <a:path w="866950" h="823550">
                <a:moveTo>
                  <a:pt x="0" y="0"/>
                </a:moveTo>
                <a:lnTo>
                  <a:pt x="866950" y="0"/>
                </a:lnTo>
                <a:lnTo>
                  <a:pt x="866950" y="823550"/>
                </a:lnTo>
                <a:lnTo>
                  <a:pt x="0" y="82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71705" y="1658201"/>
            <a:ext cx="8555403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Hệ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thống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điều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khiển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với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ROS2: Gazebo Sim</a:t>
            </a:r>
          </a:p>
        </p:txBody>
      </p:sp>
      <p:sp>
        <p:nvSpPr>
          <p:cNvPr id="8" name="Freeform 8"/>
          <p:cNvSpPr/>
          <p:nvPr/>
        </p:nvSpPr>
        <p:spPr>
          <a:xfrm>
            <a:off x="750621" y="2334476"/>
            <a:ext cx="9002979" cy="7449124"/>
          </a:xfrm>
          <a:custGeom>
            <a:avLst/>
            <a:gdLst/>
            <a:ahLst/>
            <a:cxnLst/>
            <a:rect l="l" t="t" r="r" b="b"/>
            <a:pathLst>
              <a:path w="16786757" h="7449124">
                <a:moveTo>
                  <a:pt x="0" y="0"/>
                </a:moveTo>
                <a:lnTo>
                  <a:pt x="16786758" y="0"/>
                </a:lnTo>
                <a:lnTo>
                  <a:pt x="16786758" y="7449124"/>
                </a:lnTo>
                <a:lnTo>
                  <a:pt x="0" y="7449124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r="-86458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25</a:t>
            </a: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CAB0F4E9-EC41-6FDB-65C6-DA62681A6C7F}"/>
              </a:ext>
            </a:extLst>
          </p:cNvPr>
          <p:cNvSpPr/>
          <p:nvPr/>
        </p:nvSpPr>
        <p:spPr>
          <a:xfrm>
            <a:off x="10134600" y="2705100"/>
            <a:ext cx="7507782" cy="6553200"/>
          </a:xfrm>
          <a:custGeom>
            <a:avLst/>
            <a:gdLst/>
            <a:ahLst/>
            <a:cxnLst/>
            <a:rect l="l" t="t" r="r" b="b"/>
            <a:pathLst>
              <a:path w="16786757" h="7449124">
                <a:moveTo>
                  <a:pt x="0" y="0"/>
                </a:moveTo>
                <a:lnTo>
                  <a:pt x="16786758" y="0"/>
                </a:lnTo>
                <a:lnTo>
                  <a:pt x="16786758" y="7449124"/>
                </a:lnTo>
                <a:lnTo>
                  <a:pt x="0" y="7449124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r="1"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50083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4680" y="0"/>
            <a:ext cx="1683300" cy="841540"/>
          </a:xfrm>
          <a:custGeom>
            <a:avLst/>
            <a:gdLst/>
            <a:ahLst/>
            <a:cxnLst/>
            <a:rect l="l" t="t" r="r" b="b"/>
            <a:pathLst>
              <a:path w="1683300" h="841540">
                <a:moveTo>
                  <a:pt x="0" y="0"/>
                </a:moveTo>
                <a:lnTo>
                  <a:pt x="1683300" y="0"/>
                </a:lnTo>
                <a:lnTo>
                  <a:pt x="1683300" y="841540"/>
                </a:lnTo>
                <a:lnTo>
                  <a:pt x="0" y="8415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36025" y="9616405"/>
            <a:ext cx="1385350" cy="988100"/>
          </a:xfrm>
          <a:custGeom>
            <a:avLst/>
            <a:gdLst/>
            <a:ahLst/>
            <a:cxnLst/>
            <a:rect l="l" t="t" r="r" b="b"/>
            <a:pathLst>
              <a:path w="1385350" h="988100">
                <a:moveTo>
                  <a:pt x="0" y="0"/>
                </a:moveTo>
                <a:lnTo>
                  <a:pt x="1385350" y="0"/>
                </a:lnTo>
                <a:lnTo>
                  <a:pt x="1385350" y="988100"/>
                </a:lnTo>
                <a:lnTo>
                  <a:pt x="0" y="988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837176" y="9904025"/>
            <a:ext cx="866950" cy="823550"/>
          </a:xfrm>
          <a:custGeom>
            <a:avLst/>
            <a:gdLst/>
            <a:ahLst/>
            <a:cxnLst/>
            <a:rect l="l" t="t" r="r" b="b"/>
            <a:pathLst>
              <a:path w="866950" h="823550">
                <a:moveTo>
                  <a:pt x="0" y="0"/>
                </a:moveTo>
                <a:lnTo>
                  <a:pt x="866950" y="0"/>
                </a:lnTo>
                <a:lnTo>
                  <a:pt x="866950" y="823550"/>
                </a:lnTo>
                <a:lnTo>
                  <a:pt x="0" y="82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49568" y="2584081"/>
            <a:ext cx="11910330" cy="4511038"/>
          </a:xfrm>
          <a:custGeom>
            <a:avLst/>
            <a:gdLst/>
            <a:ahLst/>
            <a:cxnLst/>
            <a:rect l="l" t="t" r="r" b="b"/>
            <a:pathLst>
              <a:path w="11910330" h="4511038">
                <a:moveTo>
                  <a:pt x="0" y="0"/>
                </a:moveTo>
                <a:lnTo>
                  <a:pt x="11910330" y="0"/>
                </a:lnTo>
                <a:lnTo>
                  <a:pt x="11910330" y="4511037"/>
                </a:lnTo>
                <a:lnTo>
                  <a:pt x="0" y="45110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31425" y="867175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4 . </a:t>
            </a:r>
            <a:r>
              <a:rPr lang="en-US" dirty="0" err="1">
                <a:sym typeface="Arial MT Pro Bold"/>
              </a:rPr>
              <a:t>Kết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quả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và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đánh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giá</a:t>
            </a:r>
            <a:endParaRPr lang="en-US" dirty="0">
              <a:sym typeface="Arial MT Pr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71705" y="1658201"/>
            <a:ext cx="1141089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Hệ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thống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điều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khiển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với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ROS2: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Đánh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giá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độ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trễ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điều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khiển</a:t>
            </a:r>
            <a:endParaRPr lang="en-US" sz="3000" b="1" i="1" dirty="0">
              <a:solidFill>
                <a:srgbClr val="292929"/>
              </a:solidFill>
              <a:latin typeface="Arimo Bold" panose="020B0604020202020204" charset="0"/>
              <a:ea typeface="Arimo Bold" panose="020B0604020202020204" charset="0"/>
              <a:cs typeface="Arimo Bold" panose="020B0604020202020204" charset="0"/>
              <a:sym typeface="Arial MT Pro Bold Itali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475650" y="3534722"/>
            <a:ext cx="5812350" cy="234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CB6CE6"/>
                </a:solidFill>
                <a:latin typeface="Arial Bold"/>
                <a:ea typeface="Arial Bold"/>
                <a:cs typeface="Arial Bold"/>
                <a:sym typeface="Arial Bold"/>
              </a:rPr>
              <a:t>T_tổng</a:t>
            </a: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thời gian từ lúc bắt đầu thực thi đến khi cánh tay dừng hẳn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00BF63"/>
                </a:solidFill>
                <a:latin typeface="Arial Bold"/>
                <a:ea typeface="Arial Bold"/>
                <a:cs typeface="Arial Bold"/>
                <a:sym typeface="Arial Bold"/>
              </a:rPr>
              <a:t>T_gửi</a:t>
            </a: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thời gian Ros2-Control gửi chuỗi lệnh xuống cánh tay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F83D3E"/>
                </a:solidFill>
                <a:latin typeface="Arial Bold"/>
                <a:ea typeface="Arial Bold"/>
                <a:cs typeface="Arial Bold"/>
                <a:sym typeface="Arial Bold"/>
              </a:rPr>
              <a:t>T_dừng</a:t>
            </a: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thời gian kể từ khi Ros2-Control ngừng gửi lệnh đến khi cánh tay dừng hẳn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4759" y="7713310"/>
            <a:ext cx="14798483" cy="1903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Độ trễ điều khiển (</a:t>
            </a:r>
            <a:r>
              <a:rPr lang="en-US" sz="2699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T_dừng</a:t>
            </a:r>
            <a:r>
              <a:rPr lang="en-US" sz="2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rơi vào khoảng </a:t>
            </a:r>
            <a:r>
              <a:rPr lang="en-US" sz="26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2-3s</a:t>
            </a:r>
            <a:r>
              <a:rPr lang="en-US" sz="2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tỉ lệ với thời gian thực thi lệnh và số lượng trục xoay cùng lúc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Giới hạn về cơ học của cánh tay robot khiến cánh tay vận hành chưa hoàn toàn trùng khớp với lệnh điều khiển trong chu kì 100ms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50083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4680" y="0"/>
            <a:ext cx="1683300" cy="841540"/>
          </a:xfrm>
          <a:custGeom>
            <a:avLst/>
            <a:gdLst/>
            <a:ahLst/>
            <a:cxnLst/>
            <a:rect l="l" t="t" r="r" b="b"/>
            <a:pathLst>
              <a:path w="1683300" h="841540">
                <a:moveTo>
                  <a:pt x="0" y="0"/>
                </a:moveTo>
                <a:lnTo>
                  <a:pt x="1683300" y="0"/>
                </a:lnTo>
                <a:lnTo>
                  <a:pt x="1683300" y="841540"/>
                </a:lnTo>
                <a:lnTo>
                  <a:pt x="0" y="8415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16104" y="9591942"/>
            <a:ext cx="1385350" cy="988100"/>
          </a:xfrm>
          <a:custGeom>
            <a:avLst/>
            <a:gdLst/>
            <a:ahLst/>
            <a:cxnLst/>
            <a:rect l="l" t="t" r="r" b="b"/>
            <a:pathLst>
              <a:path w="1385350" h="988100">
                <a:moveTo>
                  <a:pt x="0" y="0"/>
                </a:moveTo>
                <a:lnTo>
                  <a:pt x="1385350" y="0"/>
                </a:lnTo>
                <a:lnTo>
                  <a:pt x="1385350" y="988100"/>
                </a:lnTo>
                <a:lnTo>
                  <a:pt x="0" y="988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747387" y="8707047"/>
            <a:ext cx="866950" cy="823550"/>
          </a:xfrm>
          <a:custGeom>
            <a:avLst/>
            <a:gdLst/>
            <a:ahLst/>
            <a:cxnLst/>
            <a:rect l="l" t="t" r="r" b="b"/>
            <a:pathLst>
              <a:path w="866950" h="823550">
                <a:moveTo>
                  <a:pt x="0" y="0"/>
                </a:moveTo>
                <a:lnTo>
                  <a:pt x="866950" y="0"/>
                </a:lnTo>
                <a:lnTo>
                  <a:pt x="866950" y="823550"/>
                </a:lnTo>
                <a:lnTo>
                  <a:pt x="0" y="82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31425" y="867175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4 . </a:t>
            </a:r>
            <a:r>
              <a:rPr lang="en-US" dirty="0" err="1">
                <a:sym typeface="Arial MT Pro Bold"/>
              </a:rPr>
              <a:t>Kết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quả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và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đánh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giá</a:t>
            </a:r>
            <a:endParaRPr lang="en-US" dirty="0">
              <a:sym typeface="Arial MT Pr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71705" y="1658201"/>
            <a:ext cx="16166179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 err="1">
                <a:latin typeface="Arial" panose="020B0604020202020204" pitchFamily="34" charset="0"/>
                <a:ea typeface="Arial MT Pro Bold Italics"/>
                <a:cs typeface="Arial" panose="020B0604020202020204" pitchFamily="34" charset="0"/>
                <a:sym typeface="Arial MT Pro Bold Italics"/>
              </a:rPr>
              <a:t>Ứng</a:t>
            </a:r>
            <a:r>
              <a:rPr lang="en-US" dirty="0">
                <a:latin typeface="Arial" panose="020B0604020202020204" pitchFamily="34" charset="0"/>
                <a:ea typeface="Arial MT Pro Bold Italics"/>
                <a:cs typeface="Arial" panose="020B0604020202020204" pitchFamily="34" charset="0"/>
                <a:sym typeface="Arial MT Pro Bold Italics"/>
              </a:rPr>
              <a:t> </a:t>
            </a:r>
            <a:r>
              <a:rPr lang="en-US" dirty="0" err="1">
                <a:latin typeface="Arial" panose="020B0604020202020204" pitchFamily="34" charset="0"/>
                <a:ea typeface="Arial MT Pro Bold Italics"/>
                <a:cs typeface="Arial" panose="020B0604020202020204" pitchFamily="34" charset="0"/>
                <a:sym typeface="Arial MT Pro Bold Italics"/>
              </a:rPr>
              <a:t>dụng</a:t>
            </a:r>
            <a:r>
              <a:rPr lang="en-US" dirty="0">
                <a:latin typeface="Arial" panose="020B0604020202020204" pitchFamily="34" charset="0"/>
                <a:ea typeface="Arial MT Pro Bold Italics"/>
                <a:cs typeface="Arial" panose="020B0604020202020204" pitchFamily="34" charset="0"/>
                <a:sym typeface="Arial MT Pro Bold Italics"/>
              </a:rPr>
              <a:t> </a:t>
            </a:r>
            <a:r>
              <a:rPr lang="en-US" dirty="0" err="1">
                <a:latin typeface="Arial" panose="020B0604020202020204" pitchFamily="34" charset="0"/>
                <a:ea typeface="Arial MT Pro Bold Italics"/>
                <a:cs typeface="Arial" panose="020B0604020202020204" pitchFamily="34" charset="0"/>
                <a:sym typeface="Arial MT Pro Bold Italics"/>
              </a:rPr>
              <a:t>điều</a:t>
            </a:r>
            <a:r>
              <a:rPr lang="en-US" dirty="0">
                <a:latin typeface="Arial" panose="020B0604020202020204" pitchFamily="34" charset="0"/>
                <a:ea typeface="Arial MT Pro Bold Italics"/>
                <a:cs typeface="Arial" panose="020B0604020202020204" pitchFamily="34" charset="0"/>
                <a:sym typeface="Arial MT Pro Bold Italics"/>
              </a:rPr>
              <a:t> </a:t>
            </a:r>
            <a:r>
              <a:rPr lang="en-US" dirty="0" err="1">
                <a:latin typeface="Arial" panose="020B0604020202020204" pitchFamily="34" charset="0"/>
                <a:ea typeface="Arial MT Pro Bold Italics"/>
                <a:cs typeface="Arial" panose="020B0604020202020204" pitchFamily="34" charset="0"/>
                <a:sym typeface="Arial MT Pro Bold Italics"/>
              </a:rPr>
              <a:t>khiển</a:t>
            </a:r>
            <a:r>
              <a:rPr lang="en-US" dirty="0">
                <a:latin typeface="Arial" panose="020B0604020202020204" pitchFamily="34" charset="0"/>
                <a:ea typeface="Arial MT Pro Bold Italics"/>
                <a:cs typeface="Arial" panose="020B0604020202020204" pitchFamily="34" charset="0"/>
                <a:sym typeface="Arial MT Pro Bold Italics"/>
              </a:rPr>
              <a:t> VR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 MT Pro Bold Italics"/>
              </a:rPr>
              <a:t>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Arial MT Pro Bold Italics"/>
              </a:rPr>
              <a:t>Đánh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 MT Pro Bold Italics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Arial MT Pro Bold Italics"/>
              </a:rPr>
              <a:t>giá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 MT Pro Bold Italics"/>
              </a:rPr>
              <a:t> RTT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Arial MT Pro Bold Italics"/>
              </a:rPr>
              <a:t>giữa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 MT Pro Bold Italics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Arial MT Pro Bold Italics"/>
              </a:rPr>
              <a:t>ứng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 MT Pro Bold Italics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Arial MT Pro Bold Italics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 MT Pro Bold Italics"/>
              </a:rPr>
              <a:t> VR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Arial MT Pro Bold Italics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 MT Pro Bold Italics"/>
              </a:rPr>
              <a:t> ROS2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06197" y="7469182"/>
            <a:ext cx="14798483" cy="1906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Ở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điều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kiện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bình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thường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RTT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trung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vị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vào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khoảng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19ms</a:t>
            </a:r>
            <a:r>
              <a:rPr lang="en-US" sz="269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</a:t>
            </a:r>
            <a:r>
              <a:rPr lang="en-US" sz="269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End-to-end delay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khoảng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10ms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Tải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mạng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càng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cao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RTT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tính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tăng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tuyến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tính</a:t>
            </a:r>
            <a:endParaRPr lang="en-US" sz="26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Ở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tải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mạng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200Mbit/s, RTT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đạt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50.2ms, end-to-end delay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khoảng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25ms. Ros-Sharp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vẫn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là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cơ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chế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giao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tiếp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qua WebSocket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với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TCP/IP,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nên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mạng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tải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cao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sẽ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khiến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tăng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độ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trễ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ứng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dụng</a:t>
            </a:r>
            <a:endParaRPr lang="en-US" sz="26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46931" y="3526343"/>
            <a:ext cx="5264276" cy="285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Thí nghiệm đo RTT khi gửi gói tin và nhận phản hồi từ Ros2 → ứng dụng VR ⟶ Ros2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Điều kiện mạng tải cao được mô phỏng bằng </a:t>
            </a:r>
            <a:r>
              <a:rPr lang="en-US" sz="2699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Iperf </a:t>
            </a:r>
            <a:r>
              <a:rPr lang="en-US" sz="2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trên Linux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27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E8910F-D13E-5AE3-4973-4E7D3F51101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81330" y="2936527"/>
            <a:ext cx="10708507" cy="41881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50083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4680" y="0"/>
            <a:ext cx="1683300" cy="841540"/>
          </a:xfrm>
          <a:custGeom>
            <a:avLst/>
            <a:gdLst/>
            <a:ahLst/>
            <a:cxnLst/>
            <a:rect l="l" t="t" r="r" b="b"/>
            <a:pathLst>
              <a:path w="1683300" h="841540">
                <a:moveTo>
                  <a:pt x="0" y="0"/>
                </a:moveTo>
                <a:lnTo>
                  <a:pt x="1683300" y="0"/>
                </a:lnTo>
                <a:lnTo>
                  <a:pt x="1683300" y="841540"/>
                </a:lnTo>
                <a:lnTo>
                  <a:pt x="0" y="8415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16104" y="9519362"/>
            <a:ext cx="1385350" cy="988100"/>
          </a:xfrm>
          <a:custGeom>
            <a:avLst/>
            <a:gdLst/>
            <a:ahLst/>
            <a:cxnLst/>
            <a:rect l="l" t="t" r="r" b="b"/>
            <a:pathLst>
              <a:path w="1385350" h="988100">
                <a:moveTo>
                  <a:pt x="0" y="0"/>
                </a:moveTo>
                <a:lnTo>
                  <a:pt x="1385350" y="0"/>
                </a:lnTo>
                <a:lnTo>
                  <a:pt x="1385350" y="988100"/>
                </a:lnTo>
                <a:lnTo>
                  <a:pt x="0" y="988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747387" y="8792331"/>
            <a:ext cx="866950" cy="823550"/>
          </a:xfrm>
          <a:custGeom>
            <a:avLst/>
            <a:gdLst/>
            <a:ahLst/>
            <a:cxnLst/>
            <a:rect l="l" t="t" r="r" b="b"/>
            <a:pathLst>
              <a:path w="866950" h="823550">
                <a:moveTo>
                  <a:pt x="0" y="0"/>
                </a:moveTo>
                <a:lnTo>
                  <a:pt x="866950" y="0"/>
                </a:lnTo>
                <a:lnTo>
                  <a:pt x="866950" y="823550"/>
                </a:lnTo>
                <a:lnTo>
                  <a:pt x="0" y="82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736099"/>
              </p:ext>
            </p:extLst>
          </p:nvPr>
        </p:nvGraphicFramePr>
        <p:xfrm>
          <a:off x="135643" y="2764619"/>
          <a:ext cx="12129869" cy="6172201"/>
        </p:xfrm>
        <a:graphic>
          <a:graphicData uri="http://schemas.openxmlformats.org/drawingml/2006/table">
            <a:tbl>
              <a:tblPr/>
              <a:tblGrid>
                <a:gridCol w="4650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7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29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89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81743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Tiêu chí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Min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Trung bình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Max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1743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FPS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 dirty="0">
                          <a:solidFill>
                            <a:srgbClr val="00B05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62</a:t>
                      </a:r>
                      <a:endParaRPr lang="en-US" sz="1100" dirty="0">
                        <a:solidFill>
                          <a:srgbClr val="00B050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72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73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1743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Thời gian GPU render (ms)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5.95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8.60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 dirty="0">
                          <a:solidFill>
                            <a:srgbClr val="00BF63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11.03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1743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CPU Ultilization (%)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35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52.8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 dirty="0">
                          <a:solidFill>
                            <a:srgbClr val="00B05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69</a:t>
                      </a:r>
                      <a:endParaRPr lang="en-US" sz="1100" dirty="0">
                        <a:solidFill>
                          <a:srgbClr val="00B050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1743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GPU Ultilization (%)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55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75.1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 dirty="0">
                          <a:solidFill>
                            <a:srgbClr val="00BF63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83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1743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RAM (MB)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940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1010.7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1038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1743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Nhiệt độ (°C)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43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46.3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47</a:t>
                      </a:r>
                      <a:endParaRPr lang="en-US" sz="11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531425" y="867175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4 . </a:t>
            </a:r>
            <a:r>
              <a:rPr lang="en-US" dirty="0" err="1">
                <a:sym typeface="Arial MT Pro Bold"/>
              </a:rPr>
              <a:t>Kết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quả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và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đánh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giá</a:t>
            </a:r>
            <a:endParaRPr lang="en-US" dirty="0">
              <a:sym typeface="Arial MT Pr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71705" y="1658201"/>
            <a:ext cx="1323969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Ứng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dụng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điều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khiển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VR: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Đánh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giá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hiệu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năng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ứng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dụng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VR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65512" y="3874006"/>
            <a:ext cx="6022468" cy="385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FPS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trung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bình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đạt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72.0,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đem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lại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trải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nghiệm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ổn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định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trong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suốt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quá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trình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sử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dụng</a:t>
            </a:r>
            <a:endParaRPr lang="en-US" sz="26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GPU VÀ CPU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ultilization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phần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trăm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ultilization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&lt;= 85%,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đạt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ngưỡng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100%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RAM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dấu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hiệu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tràn</a:t>
            </a:r>
            <a:endParaRPr lang="en-US" sz="26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Nhiệt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độ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tương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đối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ổn</a:t>
            </a: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định</a:t>
            </a:r>
            <a:endParaRPr lang="en-US" sz="26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19F0-2759-50E4-4CC6-C7E8D149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007F198-28D3-0F97-8CB3-CB47414D3F16}"/>
              </a:ext>
            </a:extLst>
          </p:cNvPr>
          <p:cNvSpPr/>
          <p:nvPr/>
        </p:nvSpPr>
        <p:spPr>
          <a:xfrm>
            <a:off x="-1950083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831D178-2EED-9EBD-A692-F4D5570A3E3F}"/>
              </a:ext>
            </a:extLst>
          </p:cNvPr>
          <p:cNvSpPr/>
          <p:nvPr/>
        </p:nvSpPr>
        <p:spPr>
          <a:xfrm>
            <a:off x="16604680" y="0"/>
            <a:ext cx="1683300" cy="841540"/>
          </a:xfrm>
          <a:custGeom>
            <a:avLst/>
            <a:gdLst/>
            <a:ahLst/>
            <a:cxnLst/>
            <a:rect l="l" t="t" r="r" b="b"/>
            <a:pathLst>
              <a:path w="1683300" h="841540">
                <a:moveTo>
                  <a:pt x="0" y="0"/>
                </a:moveTo>
                <a:lnTo>
                  <a:pt x="1683300" y="0"/>
                </a:lnTo>
                <a:lnTo>
                  <a:pt x="1683300" y="841540"/>
                </a:lnTo>
                <a:lnTo>
                  <a:pt x="0" y="8415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AD08BF8-D1ED-03C8-B26D-6A06859F8701}"/>
              </a:ext>
            </a:extLst>
          </p:cNvPr>
          <p:cNvSpPr txBox="1"/>
          <p:nvPr/>
        </p:nvSpPr>
        <p:spPr>
          <a:xfrm>
            <a:off x="1531425" y="867175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4 . </a:t>
            </a:r>
            <a:r>
              <a:rPr lang="en-US" dirty="0" err="1">
                <a:sym typeface="Arial MT Pro Bold"/>
              </a:rPr>
              <a:t>Kết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quả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và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đánh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giá</a:t>
            </a:r>
            <a:endParaRPr lang="en-US" dirty="0">
              <a:sym typeface="Arial MT Pro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62334EC-4276-94AE-43E6-3E532901A5A3}"/>
              </a:ext>
            </a:extLst>
          </p:cNvPr>
          <p:cNvSpPr txBox="1"/>
          <p:nvPr/>
        </p:nvSpPr>
        <p:spPr>
          <a:xfrm>
            <a:off x="1771705" y="1658201"/>
            <a:ext cx="697512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1" i="1" dirty="0" err="1">
                <a:solidFill>
                  <a:srgbClr val="292929"/>
                </a:solidFill>
                <a:latin typeface="Arial" panose="020B0604020202020204" pitchFamily="34" charset="0"/>
                <a:ea typeface="Arial MT Pro Bold Italics"/>
                <a:cs typeface="Arial" panose="020B0604020202020204" pitchFamily="34" charset="0"/>
                <a:sym typeface="Arial MT Pro Bold Italics"/>
              </a:rPr>
              <a:t>Ứng</a:t>
            </a:r>
            <a:r>
              <a:rPr lang="en-US" sz="3000" b="1" i="1" dirty="0">
                <a:solidFill>
                  <a:srgbClr val="292929"/>
                </a:solidFill>
                <a:latin typeface="Arial" panose="020B0604020202020204" pitchFamily="34" charset="0"/>
                <a:ea typeface="Arial MT Pro Bold Italics"/>
                <a:cs typeface="Arial" panose="020B0604020202020204" pitchFamily="3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al" panose="020B0604020202020204" pitchFamily="34" charset="0"/>
                <a:ea typeface="Arial MT Pro Bold Italics"/>
                <a:cs typeface="Arial" panose="020B0604020202020204" pitchFamily="34" charset="0"/>
                <a:sym typeface="Arial MT Pro Bold Italics"/>
              </a:rPr>
              <a:t>dụng</a:t>
            </a:r>
            <a:r>
              <a:rPr lang="en-US" sz="3000" b="1" i="1" dirty="0">
                <a:solidFill>
                  <a:srgbClr val="292929"/>
                </a:solidFill>
                <a:latin typeface="Arial" panose="020B0604020202020204" pitchFamily="34" charset="0"/>
                <a:ea typeface="Arial MT Pro Bold Italics"/>
                <a:cs typeface="Arial" panose="020B0604020202020204" pitchFamily="3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al" panose="020B0604020202020204" pitchFamily="34" charset="0"/>
                <a:ea typeface="Arial MT Pro Bold Italics"/>
                <a:cs typeface="Arial" panose="020B0604020202020204" pitchFamily="34" charset="0"/>
                <a:sym typeface="Arial MT Pro Bold Italics"/>
              </a:rPr>
              <a:t>điều</a:t>
            </a:r>
            <a:r>
              <a:rPr lang="en-US" sz="3000" b="1" i="1" dirty="0">
                <a:solidFill>
                  <a:srgbClr val="292929"/>
                </a:solidFill>
                <a:latin typeface="Arial" panose="020B0604020202020204" pitchFamily="34" charset="0"/>
                <a:ea typeface="Arial MT Pro Bold Italics"/>
                <a:cs typeface="Arial" panose="020B0604020202020204" pitchFamily="3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al" panose="020B0604020202020204" pitchFamily="34" charset="0"/>
                <a:ea typeface="Arial MT Pro Bold Italics"/>
                <a:cs typeface="Arial" panose="020B0604020202020204" pitchFamily="34" charset="0"/>
                <a:sym typeface="Arial MT Pro Bold Italics"/>
              </a:rPr>
              <a:t>khiển</a:t>
            </a:r>
            <a:r>
              <a:rPr lang="en-US" sz="3000" b="1" i="1" dirty="0">
                <a:solidFill>
                  <a:srgbClr val="292929"/>
                </a:solidFill>
                <a:latin typeface="Arial" panose="020B0604020202020204" pitchFamily="34" charset="0"/>
                <a:ea typeface="Arial MT Pro Bold Italics"/>
                <a:cs typeface="Arial" panose="020B0604020202020204" pitchFamily="34" charset="0"/>
                <a:sym typeface="Arial MT Pro Bold Italics"/>
              </a:rPr>
              <a:t> VR: Demo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61C6907-F86C-ED82-6659-CC4C1FEE9596}"/>
              </a:ext>
            </a:extLst>
          </p:cNvPr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29</a:t>
            </a:r>
          </a:p>
        </p:txBody>
      </p:sp>
      <p:pic>
        <p:nvPicPr>
          <p:cNvPr id="4" name="Online Media 3" title="final Thesis demo very short">
            <a:hlinkClick r:id="" action="ppaction://media"/>
            <a:extLst>
              <a:ext uri="{FF2B5EF4-FFF2-40B4-BE49-F238E27FC236}">
                <a16:creationId xmlns:a16="http://schemas.microsoft.com/office/drawing/2014/main" id="{FA567BE6-843E-3198-A873-3C9BD8121E5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2202880" y="2292072"/>
            <a:ext cx="13882240" cy="78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768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20" y="8896526"/>
            <a:ext cx="1392174" cy="1390454"/>
            <a:chOff x="0" y="0"/>
            <a:chExt cx="1856232" cy="1853939"/>
          </a:xfrm>
        </p:grpSpPr>
        <p:sp>
          <p:nvSpPr>
            <p:cNvPr id="3" name="Freeform 3"/>
            <p:cNvSpPr/>
            <p:nvPr/>
          </p:nvSpPr>
          <p:spPr>
            <a:xfrm>
              <a:off x="0" y="127"/>
              <a:ext cx="1856232" cy="1853692"/>
            </a:xfrm>
            <a:custGeom>
              <a:avLst/>
              <a:gdLst/>
              <a:ahLst/>
              <a:cxnLst/>
              <a:rect l="l" t="t" r="r" b="b"/>
              <a:pathLst>
                <a:path w="1856232" h="1853692">
                  <a:moveTo>
                    <a:pt x="0" y="0"/>
                  </a:moveTo>
                  <a:cubicBezTo>
                    <a:pt x="0" y="1022985"/>
                    <a:pt x="828294" y="1853692"/>
                    <a:pt x="1851152" y="1853692"/>
                  </a:cubicBezTo>
                  <a:lnTo>
                    <a:pt x="1856232" y="1853692"/>
                  </a:lnTo>
                  <a:lnTo>
                    <a:pt x="1856232" y="1027811"/>
                  </a:lnTo>
                  <a:cubicBezTo>
                    <a:pt x="1287399" y="1027811"/>
                    <a:pt x="825754" y="568833"/>
                    <a:pt x="825754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-701055" y="-2118221"/>
            <a:ext cx="6930502" cy="4200642"/>
          </a:xfrm>
          <a:custGeom>
            <a:avLst/>
            <a:gdLst/>
            <a:ahLst/>
            <a:cxnLst/>
            <a:rect l="l" t="t" r="r" b="b"/>
            <a:pathLst>
              <a:path w="6930502" h="4200642">
                <a:moveTo>
                  <a:pt x="0" y="0"/>
                </a:moveTo>
                <a:lnTo>
                  <a:pt x="6930502" y="0"/>
                </a:lnTo>
                <a:lnTo>
                  <a:pt x="6930502" y="4200642"/>
                </a:lnTo>
                <a:lnTo>
                  <a:pt x="0" y="42006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624831" y="-64656"/>
            <a:ext cx="4292048" cy="7021805"/>
          </a:xfrm>
          <a:custGeom>
            <a:avLst/>
            <a:gdLst/>
            <a:ahLst/>
            <a:cxnLst/>
            <a:rect l="l" t="t" r="r" b="b"/>
            <a:pathLst>
              <a:path w="4292048" h="7021805">
                <a:moveTo>
                  <a:pt x="0" y="0"/>
                </a:moveTo>
                <a:lnTo>
                  <a:pt x="4292048" y="0"/>
                </a:lnTo>
                <a:lnTo>
                  <a:pt x="4292048" y="7021805"/>
                </a:lnTo>
                <a:lnTo>
                  <a:pt x="0" y="7021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31425" y="4619550"/>
            <a:ext cx="13728986" cy="378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Kết</a:t>
            </a:r>
            <a:r>
              <a:rPr lang="en-US" sz="12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luận</a:t>
            </a:r>
            <a:r>
              <a:rPr lang="en-US" sz="12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và</a:t>
            </a:r>
            <a:r>
              <a:rPr lang="en-US" sz="12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hướng</a:t>
            </a:r>
            <a:r>
              <a:rPr lang="en-US" sz="12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phát</a:t>
            </a:r>
            <a:r>
              <a:rPr lang="en-US" sz="120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120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triển</a:t>
            </a:r>
            <a:endParaRPr lang="en-US" sz="12000" b="1" dirty="0">
              <a:solidFill>
                <a:srgbClr val="03178C"/>
              </a:solidFill>
              <a:latin typeface="Arimo Bold" panose="020B0604020202020204" charset="0"/>
              <a:ea typeface="Arimo Bold" panose="020B0604020202020204" charset="0"/>
              <a:cs typeface="Arimo Bold" panose="020B0604020202020204" charset="0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31425" y="2771925"/>
            <a:ext cx="2465550" cy="195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 b="1">
                <a:solidFill>
                  <a:srgbClr val="03178C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id="8" name="Freeform 8"/>
          <p:cNvSpPr/>
          <p:nvPr/>
        </p:nvSpPr>
        <p:spPr>
          <a:xfrm>
            <a:off x="12203559" y="5078825"/>
            <a:ext cx="4292048" cy="7021805"/>
          </a:xfrm>
          <a:custGeom>
            <a:avLst/>
            <a:gdLst/>
            <a:ahLst/>
            <a:cxnLst/>
            <a:rect l="l" t="t" r="r" b="b"/>
            <a:pathLst>
              <a:path w="4292048" h="7021805">
                <a:moveTo>
                  <a:pt x="0" y="0"/>
                </a:moveTo>
                <a:lnTo>
                  <a:pt x="4292048" y="0"/>
                </a:lnTo>
                <a:lnTo>
                  <a:pt x="4292048" y="7021805"/>
                </a:lnTo>
                <a:lnTo>
                  <a:pt x="0" y="7021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449732" y="1674738"/>
            <a:ext cx="1183906" cy="1124640"/>
          </a:xfrm>
          <a:custGeom>
            <a:avLst/>
            <a:gdLst/>
            <a:ahLst/>
            <a:cxnLst/>
            <a:rect l="l" t="t" r="r" b="b"/>
            <a:pathLst>
              <a:path w="1183906" h="1124640">
                <a:moveTo>
                  <a:pt x="0" y="0"/>
                </a:moveTo>
                <a:lnTo>
                  <a:pt x="1183906" y="0"/>
                </a:lnTo>
                <a:lnTo>
                  <a:pt x="1183906" y="1124640"/>
                </a:lnTo>
                <a:lnTo>
                  <a:pt x="0" y="1124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9408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895830" y="-24"/>
            <a:ext cx="1392174" cy="1390454"/>
            <a:chOff x="0" y="0"/>
            <a:chExt cx="1856232" cy="1853939"/>
          </a:xfrm>
        </p:grpSpPr>
        <p:sp>
          <p:nvSpPr>
            <p:cNvPr id="5" name="Freeform 5"/>
            <p:cNvSpPr/>
            <p:nvPr/>
          </p:nvSpPr>
          <p:spPr>
            <a:xfrm>
              <a:off x="0" y="127"/>
              <a:ext cx="1856232" cy="1853692"/>
            </a:xfrm>
            <a:custGeom>
              <a:avLst/>
              <a:gdLst/>
              <a:ahLst/>
              <a:cxnLst/>
              <a:rect l="l" t="t" r="r" b="b"/>
              <a:pathLst>
                <a:path w="1856232" h="1853692">
                  <a:moveTo>
                    <a:pt x="0" y="0"/>
                  </a:moveTo>
                  <a:cubicBezTo>
                    <a:pt x="0" y="1022985"/>
                    <a:pt x="828294" y="1853692"/>
                    <a:pt x="1851152" y="1853692"/>
                  </a:cubicBezTo>
                  <a:lnTo>
                    <a:pt x="1856232" y="1853692"/>
                  </a:lnTo>
                  <a:lnTo>
                    <a:pt x="1856232" y="1027811"/>
                  </a:lnTo>
                  <a:cubicBezTo>
                    <a:pt x="1287399" y="1027811"/>
                    <a:pt x="825754" y="568833"/>
                    <a:pt x="825754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9782" y="3108339"/>
            <a:ext cx="2795452" cy="4601879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531425" y="867175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5. </a:t>
            </a:r>
            <a:r>
              <a:rPr lang="en-US" dirty="0" err="1">
                <a:sym typeface="Arial MT Pro Bold"/>
              </a:rPr>
              <a:t>Kết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luận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và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hướng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phát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triển</a:t>
            </a:r>
            <a:endParaRPr lang="en-US" dirty="0">
              <a:sym typeface="Arial MT Pro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641558" y="6680454"/>
            <a:ext cx="15225150" cy="58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4967"/>
              </a:lnSpc>
              <a:defRPr sz="3600" b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Poppins Bold"/>
              </a:rPr>
              <a:t>3. </a:t>
            </a:r>
            <a:r>
              <a:rPr lang="en-US" dirty="0" err="1">
                <a:sym typeface="Poppins Bold"/>
              </a:rPr>
              <a:t>Phát</a:t>
            </a:r>
            <a:r>
              <a:rPr lang="en-US" dirty="0">
                <a:sym typeface="Poppins Bold"/>
              </a:rPr>
              <a:t> </a:t>
            </a:r>
            <a:r>
              <a:rPr lang="en-US" dirty="0" err="1">
                <a:sym typeface="Poppins Bold"/>
              </a:rPr>
              <a:t>triển</a:t>
            </a:r>
            <a:r>
              <a:rPr lang="en-US" dirty="0">
                <a:sym typeface="Poppins Bold"/>
              </a:rPr>
              <a:t> </a:t>
            </a:r>
            <a:r>
              <a:rPr lang="en-US" dirty="0" err="1">
                <a:sym typeface="Poppins Bold"/>
              </a:rPr>
              <a:t>ứng</a:t>
            </a:r>
            <a:r>
              <a:rPr lang="en-US" dirty="0">
                <a:sym typeface="Poppins Bold"/>
              </a:rPr>
              <a:t> </a:t>
            </a:r>
            <a:r>
              <a:rPr lang="en-US" dirty="0" err="1">
                <a:sym typeface="Poppins Bold"/>
              </a:rPr>
              <a:t>dụng</a:t>
            </a:r>
            <a:r>
              <a:rPr lang="en-US" dirty="0">
                <a:sym typeface="Poppins Bold"/>
              </a:rPr>
              <a:t> VR Digital Twin </a:t>
            </a:r>
            <a:r>
              <a:rPr lang="en-US" dirty="0" err="1">
                <a:sym typeface="Poppins Bold"/>
              </a:rPr>
              <a:t>đồng</a:t>
            </a:r>
            <a:r>
              <a:rPr lang="en-US" dirty="0">
                <a:sym typeface="Poppins Bold"/>
              </a:rPr>
              <a:t> </a:t>
            </a:r>
            <a:r>
              <a:rPr lang="en-US" dirty="0" err="1">
                <a:sym typeface="Poppins Bold"/>
              </a:rPr>
              <a:t>bộ</a:t>
            </a:r>
            <a:r>
              <a:rPr lang="en-US" dirty="0">
                <a:sym typeface="Poppins Bold"/>
              </a:rPr>
              <a:t> </a:t>
            </a:r>
            <a:r>
              <a:rPr lang="en-US" dirty="0" err="1">
                <a:sym typeface="Poppins Bold"/>
              </a:rPr>
              <a:t>với</a:t>
            </a:r>
            <a:r>
              <a:rPr lang="en-US" dirty="0">
                <a:sym typeface="Poppins Bold"/>
              </a:rPr>
              <a:t> </a:t>
            </a:r>
            <a:r>
              <a:rPr lang="en-US" dirty="0" err="1">
                <a:sym typeface="Poppins Bold"/>
              </a:rPr>
              <a:t>thiết</a:t>
            </a:r>
            <a:r>
              <a:rPr lang="en-US" dirty="0">
                <a:sym typeface="Poppins Bold"/>
              </a:rPr>
              <a:t> </a:t>
            </a:r>
            <a:r>
              <a:rPr lang="en-US" dirty="0" err="1">
                <a:sym typeface="Poppins Bold"/>
              </a:rPr>
              <a:t>bị</a:t>
            </a:r>
            <a:r>
              <a:rPr lang="en-US" dirty="0">
                <a:sym typeface="Poppins Bold"/>
              </a:rPr>
              <a:t> </a:t>
            </a:r>
            <a:r>
              <a:rPr lang="en-US" dirty="0" err="1">
                <a:sym typeface="Poppins Bold"/>
              </a:rPr>
              <a:t>thực</a:t>
            </a:r>
            <a:endParaRPr lang="en-US" dirty="0"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641558" y="5409279"/>
            <a:ext cx="15225150" cy="972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ROS2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tích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hợp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Ros2-Control + MoveIt2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dùng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làm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hệ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thống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điều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khiển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Robot,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có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sự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phân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tầng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và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dễ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dàng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cải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tiến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,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thay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đổi</a:t>
            </a:r>
            <a:endParaRPr lang="en-US" sz="2799" dirty="0">
              <a:solidFill>
                <a:srgbClr val="292929"/>
              </a:solidFill>
              <a:latin typeface="Arial MT Pro" panose="020B0604020202020204" charset="0"/>
              <a:ea typeface="DM Sans"/>
              <a:cs typeface="DM Sans"/>
              <a:sym typeface="DM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641558" y="4653375"/>
            <a:ext cx="15225150" cy="604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7"/>
              </a:lnSpc>
            </a:pPr>
            <a:r>
              <a:rPr lang="en-US" sz="36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2. </a:t>
            </a:r>
            <a:r>
              <a:rPr lang="en-US" sz="36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Hiện</a:t>
            </a:r>
            <a:r>
              <a:rPr lang="en-US" sz="36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thực</a:t>
            </a:r>
            <a:r>
              <a:rPr lang="en-US" sz="36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thành</a:t>
            </a:r>
            <a:r>
              <a:rPr lang="en-US" sz="36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công</a:t>
            </a:r>
            <a:r>
              <a:rPr lang="en-US" sz="36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hệ</a:t>
            </a:r>
            <a:r>
              <a:rPr lang="en-US" sz="36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thống</a:t>
            </a:r>
            <a:r>
              <a:rPr lang="en-US" sz="36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điều</a:t>
            </a:r>
            <a:r>
              <a:rPr lang="en-US" sz="36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khiển</a:t>
            </a:r>
            <a:r>
              <a:rPr lang="en-US" sz="36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ROS2 </a:t>
            </a:r>
            <a:r>
              <a:rPr lang="en-US" sz="36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tích</a:t>
            </a:r>
            <a:r>
              <a:rPr lang="en-US" sz="36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hợp</a:t>
            </a:r>
            <a:endParaRPr lang="en-US" sz="3600" b="1" dirty="0">
              <a:solidFill>
                <a:srgbClr val="03178C"/>
              </a:solidFill>
              <a:latin typeface="Arimo Bold" panose="020B0604020202020204" charset="0"/>
              <a:ea typeface="Arimo Bold" panose="020B0604020202020204" charset="0"/>
              <a:cs typeface="Arimo Bold" panose="020B0604020202020204" charset="0"/>
              <a:sym typeface="Poppi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641558" y="7436358"/>
            <a:ext cx="15225150" cy="1473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Ứng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dụng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VR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giao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tiếp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sử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dụng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Ros-Sharp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tới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ROS2,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khả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năng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đồng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bộ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thời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gian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thực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(RTT ~ 19ms),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cho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phép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nhiều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phương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thức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điều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khiển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và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đem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lại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góc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nhìn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trực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quan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.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Ứng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dụng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có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FPS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trung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bình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72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và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chạy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ổn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định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trong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thời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gian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sử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dụng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dài</a:t>
            </a:r>
            <a:endParaRPr lang="en-US" sz="2799" dirty="0">
              <a:solidFill>
                <a:srgbClr val="292929"/>
              </a:solidFill>
              <a:latin typeface="Arial MT Pro" panose="020B0604020202020204" charset="0"/>
              <a:ea typeface="DM Sans"/>
              <a:cs typeface="DM Sans"/>
              <a:sym typeface="DM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641558" y="3373311"/>
            <a:ext cx="15225150" cy="972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RC5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cùng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cánh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tay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VS-6577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có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thể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nhận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lệnh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điều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khiển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và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hoạt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động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liên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tục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mà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không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bị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lỗi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dừng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hệ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thống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,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cho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phép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điều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khiển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tốc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độ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cao</a:t>
            </a:r>
            <a:r>
              <a:rPr lang="en-US" sz="2799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hơn</a:t>
            </a:r>
            <a:endParaRPr lang="en-US" sz="2799" dirty="0">
              <a:solidFill>
                <a:srgbClr val="292929"/>
              </a:solidFill>
              <a:latin typeface="Arial MT Pro" panose="020B0604020202020204" charset="0"/>
              <a:ea typeface="DM Sans"/>
              <a:cs typeface="DM Sans"/>
              <a:sym typeface="DM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641558" y="2621627"/>
            <a:ext cx="15225150" cy="58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7"/>
              </a:lnSpc>
            </a:pPr>
            <a:r>
              <a:rPr lang="en-US" sz="36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1. </a:t>
            </a:r>
            <a:r>
              <a:rPr lang="en-US" sz="36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Hiện</a:t>
            </a:r>
            <a:r>
              <a:rPr lang="en-US" sz="36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thực</a:t>
            </a:r>
            <a:r>
              <a:rPr lang="en-US" sz="36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chương</a:t>
            </a:r>
            <a:r>
              <a:rPr lang="en-US" sz="36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trình</a:t>
            </a:r>
            <a:r>
              <a:rPr lang="en-US" sz="36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RC5 </a:t>
            </a:r>
            <a:r>
              <a:rPr lang="en-US" sz="36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ổn</a:t>
            </a:r>
            <a:r>
              <a:rPr lang="en-US" sz="36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định</a:t>
            </a:r>
            <a:r>
              <a:rPr lang="en-US" sz="36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và</a:t>
            </a:r>
            <a:r>
              <a:rPr lang="en-US" sz="36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hiệu</a:t>
            </a:r>
            <a:r>
              <a:rPr lang="en-US" sz="3600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quả</a:t>
            </a:r>
            <a:endParaRPr lang="en-US" sz="3600" b="1" dirty="0">
              <a:solidFill>
                <a:srgbClr val="03178C"/>
              </a:solidFill>
              <a:latin typeface="Arimo Bold" panose="020B0604020202020204" charset="0"/>
              <a:ea typeface="Arimo Bold" panose="020B0604020202020204" charset="0"/>
              <a:cs typeface="Arimo Bold" panose="020B0604020202020204" charset="0"/>
              <a:sym typeface="Poppi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31425" y="1658201"/>
            <a:ext cx="697512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Kết</a:t>
            </a:r>
            <a:r>
              <a:rPr lang="en-US" sz="3000" b="1" i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 Italics"/>
              </a:rPr>
              <a:t>luận</a:t>
            </a:r>
            <a:endParaRPr lang="en-US" sz="3000" b="1" i="1" dirty="0">
              <a:solidFill>
                <a:srgbClr val="292929"/>
              </a:solidFill>
              <a:latin typeface="Arimo Bold" panose="020B0604020202020204" charset="0"/>
              <a:ea typeface="Arimo Bold" panose="020B0604020202020204" charset="0"/>
              <a:cs typeface="Arimo Bold" panose="020B0604020202020204" charset="0"/>
              <a:sym typeface="Arial MT Pro Bold Itali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9408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895830" y="-24"/>
            <a:ext cx="1392174" cy="1390454"/>
            <a:chOff x="0" y="0"/>
            <a:chExt cx="1856232" cy="1853939"/>
          </a:xfrm>
        </p:grpSpPr>
        <p:sp>
          <p:nvSpPr>
            <p:cNvPr id="5" name="Freeform 5"/>
            <p:cNvSpPr/>
            <p:nvPr/>
          </p:nvSpPr>
          <p:spPr>
            <a:xfrm>
              <a:off x="0" y="127"/>
              <a:ext cx="1856232" cy="1853692"/>
            </a:xfrm>
            <a:custGeom>
              <a:avLst/>
              <a:gdLst/>
              <a:ahLst/>
              <a:cxnLst/>
              <a:rect l="l" t="t" r="r" b="b"/>
              <a:pathLst>
                <a:path w="1856232" h="1853692">
                  <a:moveTo>
                    <a:pt x="0" y="0"/>
                  </a:moveTo>
                  <a:cubicBezTo>
                    <a:pt x="0" y="1022985"/>
                    <a:pt x="828294" y="1853692"/>
                    <a:pt x="1851152" y="1853692"/>
                  </a:cubicBezTo>
                  <a:lnTo>
                    <a:pt x="1856232" y="1853692"/>
                  </a:lnTo>
                  <a:lnTo>
                    <a:pt x="1856232" y="1027811"/>
                  </a:lnTo>
                  <a:cubicBezTo>
                    <a:pt x="1287399" y="1027811"/>
                    <a:pt x="825754" y="568833"/>
                    <a:pt x="825754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0" y="3238500"/>
            <a:ext cx="3226123" cy="434936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531425" y="867175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5. </a:t>
            </a:r>
            <a:r>
              <a:rPr lang="en-US" dirty="0" err="1">
                <a:sym typeface="Arial MT Pro Bold"/>
              </a:rPr>
              <a:t>Kết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luận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và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hướng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phát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triển</a:t>
            </a:r>
            <a:endParaRPr lang="en-US" dirty="0">
              <a:sym typeface="Arial MT Pro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590800" y="2834801"/>
            <a:ext cx="13868400" cy="56481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8765" lvl="1" algn="l">
              <a:lnSpc>
                <a:spcPts val="4202"/>
              </a:lnSpc>
              <a:spcBef>
                <a:spcPts val="1800"/>
              </a:spcBef>
            </a:pPr>
            <a:r>
              <a:rPr lang="en-US" sz="3045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Ros2 – VS-6577</a:t>
            </a:r>
          </a:p>
          <a:p>
            <a:pPr marL="843115" lvl="1" indent="-514350" algn="l">
              <a:lnSpc>
                <a:spcPts val="4202"/>
              </a:lnSpc>
              <a:spcBef>
                <a:spcPts val="1800"/>
              </a:spcBef>
              <a:buFont typeface="+mj-lt"/>
              <a:buAutoNum type="arabicPeriod"/>
            </a:pP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Rút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ngắn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thời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gian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trễ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của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điều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khiển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Ros2-Control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và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hoạt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động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thực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tế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của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cánh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tay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VS-6577</a:t>
            </a:r>
          </a:p>
          <a:p>
            <a:pPr marL="843115" lvl="1" indent="-514350" algn="l">
              <a:lnSpc>
                <a:spcPts val="4202"/>
              </a:lnSpc>
              <a:spcBef>
                <a:spcPts val="1800"/>
              </a:spcBef>
              <a:buFont typeface="+mj-lt"/>
              <a:buAutoNum type="arabicPeriod"/>
            </a:pP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Phát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triển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các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tính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năng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AI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trên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cánh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tay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Robot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tận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dụng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ROS2</a:t>
            </a:r>
          </a:p>
          <a:p>
            <a:pPr marL="328765" lvl="1" algn="l">
              <a:lnSpc>
                <a:spcPts val="4202"/>
              </a:lnSpc>
              <a:spcBef>
                <a:spcPts val="1800"/>
              </a:spcBef>
            </a:pPr>
            <a:r>
              <a:rPr lang="en-US" sz="3045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Ứng</a:t>
            </a:r>
            <a:r>
              <a:rPr lang="en-US" sz="3045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3045" b="1" dirty="0" err="1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dụng</a:t>
            </a:r>
            <a:r>
              <a:rPr lang="en-US" sz="3045" b="1" dirty="0">
                <a:solidFill>
                  <a:srgbClr val="03178C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VR</a:t>
            </a:r>
          </a:p>
          <a:p>
            <a:pPr marL="843115" lvl="1" indent="-514350" algn="l">
              <a:lnSpc>
                <a:spcPts val="4202"/>
              </a:lnSpc>
              <a:spcBef>
                <a:spcPts val="1800"/>
              </a:spcBef>
              <a:buFont typeface="+mj-lt"/>
              <a:buAutoNum type="arabicPeriod"/>
            </a:pP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Thêm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tính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năng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lưu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quỹ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đạo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để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chạy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lại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cho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ứng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dụng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VR</a:t>
            </a:r>
          </a:p>
          <a:p>
            <a:pPr marL="843115" lvl="1" indent="-514350" algn="l">
              <a:lnSpc>
                <a:spcPts val="4202"/>
              </a:lnSpc>
              <a:spcBef>
                <a:spcPts val="1800"/>
              </a:spcBef>
              <a:buFont typeface="+mj-lt"/>
              <a:buAutoNum type="arabicPeriod"/>
            </a:pP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Thêm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tính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năng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điều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khiển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dựa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theo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VR Hand Tracking</a:t>
            </a:r>
          </a:p>
          <a:p>
            <a:pPr marL="843115" lvl="1" indent="-514350" algn="l">
              <a:lnSpc>
                <a:spcPts val="4202"/>
              </a:lnSpc>
              <a:spcBef>
                <a:spcPts val="1800"/>
              </a:spcBef>
              <a:buFont typeface="+mj-lt"/>
              <a:buAutoNum type="arabicPeriod"/>
            </a:pP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Hỗ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trợ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nhiều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Robot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trên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ứng</a:t>
            </a:r>
            <a:r>
              <a:rPr lang="en-US" sz="3045" dirty="0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 </a:t>
            </a:r>
            <a:r>
              <a:rPr lang="en-US" sz="3045" dirty="0" err="1">
                <a:solidFill>
                  <a:srgbClr val="03178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al MT Pro Bold"/>
              </a:rPr>
              <a:t>dụng</a:t>
            </a:r>
            <a:endParaRPr lang="en-US" sz="3045" dirty="0">
              <a:solidFill>
                <a:srgbClr val="03178C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Arial MT Pr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31425" y="1658201"/>
            <a:ext cx="697512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1" i="1">
                <a:solidFill>
                  <a:srgbClr val="292929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Hướng phát triển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9100911">
            <a:off x="-547526" y="6975792"/>
            <a:ext cx="1982744" cy="5184930"/>
          </a:xfrm>
          <a:custGeom>
            <a:avLst/>
            <a:gdLst/>
            <a:ahLst/>
            <a:cxnLst/>
            <a:rect l="l" t="t" r="r" b="b"/>
            <a:pathLst>
              <a:path w="1982744" h="5184930">
                <a:moveTo>
                  <a:pt x="0" y="0"/>
                </a:moveTo>
                <a:lnTo>
                  <a:pt x="1982744" y="0"/>
                </a:lnTo>
                <a:lnTo>
                  <a:pt x="1982744" y="5184930"/>
                </a:lnTo>
                <a:lnTo>
                  <a:pt x="0" y="51849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103058" y="-6"/>
            <a:ext cx="5184930" cy="1982744"/>
          </a:xfrm>
          <a:custGeom>
            <a:avLst/>
            <a:gdLst/>
            <a:ahLst/>
            <a:cxnLst/>
            <a:rect l="l" t="t" r="r" b="b"/>
            <a:pathLst>
              <a:path w="5184930" h="1982744">
                <a:moveTo>
                  <a:pt x="0" y="0"/>
                </a:moveTo>
                <a:lnTo>
                  <a:pt x="5184930" y="0"/>
                </a:lnTo>
                <a:lnTo>
                  <a:pt x="5184930" y="1982744"/>
                </a:lnTo>
                <a:lnTo>
                  <a:pt x="0" y="19827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029200" y="-1154658"/>
            <a:ext cx="7021805" cy="4292048"/>
          </a:xfrm>
          <a:custGeom>
            <a:avLst/>
            <a:gdLst/>
            <a:ahLst/>
            <a:cxnLst/>
            <a:rect l="l" t="t" r="r" b="b"/>
            <a:pathLst>
              <a:path w="7021805" h="4292048">
                <a:moveTo>
                  <a:pt x="0" y="0"/>
                </a:moveTo>
                <a:lnTo>
                  <a:pt x="7021805" y="0"/>
                </a:lnTo>
                <a:lnTo>
                  <a:pt x="7021805" y="4292048"/>
                </a:lnTo>
                <a:lnTo>
                  <a:pt x="0" y="4292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67646" y="1279830"/>
            <a:ext cx="17234554" cy="5168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12000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XIN CHÂN THÀNH</a:t>
            </a:r>
          </a:p>
          <a:p>
            <a:pPr algn="ctr">
              <a:lnSpc>
                <a:spcPts val="11519"/>
              </a:lnSpc>
            </a:pPr>
            <a:r>
              <a:rPr lang="en-US" sz="12000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CẢM ƠN </a:t>
            </a:r>
          </a:p>
        </p:txBody>
      </p:sp>
      <p:sp>
        <p:nvSpPr>
          <p:cNvPr id="6" name="Freeform 6"/>
          <p:cNvSpPr/>
          <p:nvPr/>
        </p:nvSpPr>
        <p:spPr>
          <a:xfrm rot="12745343">
            <a:off x="16326476" y="9476294"/>
            <a:ext cx="3467958" cy="1934405"/>
          </a:xfrm>
          <a:custGeom>
            <a:avLst/>
            <a:gdLst/>
            <a:ahLst/>
            <a:cxnLst/>
            <a:rect l="l" t="t" r="r" b="b"/>
            <a:pathLst>
              <a:path w="3467958" h="1934405">
                <a:moveTo>
                  <a:pt x="0" y="0"/>
                </a:moveTo>
                <a:lnTo>
                  <a:pt x="3467958" y="0"/>
                </a:lnTo>
                <a:lnTo>
                  <a:pt x="3467958" y="1934405"/>
                </a:lnTo>
                <a:lnTo>
                  <a:pt x="0" y="19344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C19445-1FC5-A7F6-60E2-529A52E4BFE2}"/>
              </a:ext>
            </a:extLst>
          </p:cNvPr>
          <p:cNvSpPr txBox="1"/>
          <p:nvPr/>
        </p:nvSpPr>
        <p:spPr>
          <a:xfrm>
            <a:off x="685800" y="5846113"/>
            <a:ext cx="16916400" cy="1303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19"/>
              </a:lnSpc>
            </a:pPr>
            <a:r>
              <a:rPr lang="en-US" sz="3600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Poppins Bold"/>
              </a:rPr>
              <a:t>QUÝ HỘI ĐỒNG ĐÃ CHÚ Ý LẮNG NGHE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00623-4FF3-5EBB-369A-E4E473E50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1F925AD-F48E-2BFD-7815-1CA041BF13B7}"/>
              </a:ext>
            </a:extLst>
          </p:cNvPr>
          <p:cNvSpPr/>
          <p:nvPr/>
        </p:nvSpPr>
        <p:spPr>
          <a:xfrm>
            <a:off x="-2079408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FB994B9-F0CC-B3B8-0DCE-218D3F7440ED}"/>
              </a:ext>
            </a:extLst>
          </p:cNvPr>
          <p:cNvGrpSpPr/>
          <p:nvPr/>
        </p:nvGrpSpPr>
        <p:grpSpPr>
          <a:xfrm>
            <a:off x="16895830" y="-24"/>
            <a:ext cx="1392174" cy="1390454"/>
            <a:chOff x="0" y="0"/>
            <a:chExt cx="1856232" cy="185393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59BC4D7-AC87-64DE-17CC-559D31B4AFBD}"/>
                </a:ext>
              </a:extLst>
            </p:cNvPr>
            <p:cNvSpPr/>
            <p:nvPr/>
          </p:nvSpPr>
          <p:spPr>
            <a:xfrm>
              <a:off x="0" y="127"/>
              <a:ext cx="1856232" cy="1853692"/>
            </a:xfrm>
            <a:custGeom>
              <a:avLst/>
              <a:gdLst/>
              <a:ahLst/>
              <a:cxnLst/>
              <a:rect l="l" t="t" r="r" b="b"/>
              <a:pathLst>
                <a:path w="1856232" h="1853692">
                  <a:moveTo>
                    <a:pt x="0" y="0"/>
                  </a:moveTo>
                  <a:cubicBezTo>
                    <a:pt x="0" y="1022985"/>
                    <a:pt x="828294" y="1853692"/>
                    <a:pt x="1851152" y="1853692"/>
                  </a:cubicBezTo>
                  <a:lnTo>
                    <a:pt x="1856232" y="1853692"/>
                  </a:lnTo>
                  <a:lnTo>
                    <a:pt x="1856232" y="1027811"/>
                  </a:lnTo>
                  <a:cubicBezTo>
                    <a:pt x="1287399" y="1027811"/>
                    <a:pt x="825754" y="568833"/>
                    <a:pt x="825754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4E7B871-3282-0FAB-1744-270C31756A68}"/>
              </a:ext>
            </a:extLst>
          </p:cNvPr>
          <p:cNvGrpSpPr/>
          <p:nvPr/>
        </p:nvGrpSpPr>
        <p:grpSpPr>
          <a:xfrm rot="5400000">
            <a:off x="17445406" y="9443710"/>
            <a:ext cx="842604" cy="841564"/>
            <a:chOff x="0" y="0"/>
            <a:chExt cx="1123472" cy="112208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CA0D358-3EC4-3E16-F054-3A479736D46B}"/>
                </a:ext>
              </a:extLst>
            </p:cNvPr>
            <p:cNvSpPr/>
            <p:nvPr/>
          </p:nvSpPr>
          <p:spPr>
            <a:xfrm>
              <a:off x="0" y="127"/>
              <a:ext cx="1123442" cy="1121918"/>
            </a:xfrm>
            <a:custGeom>
              <a:avLst/>
              <a:gdLst/>
              <a:ahLst/>
              <a:cxnLst/>
              <a:rect l="l" t="t" r="r" b="b"/>
              <a:pathLst>
                <a:path w="1123442" h="1121918">
                  <a:moveTo>
                    <a:pt x="0" y="0"/>
                  </a:moveTo>
                  <a:cubicBezTo>
                    <a:pt x="0" y="619125"/>
                    <a:pt x="501269" y="1121918"/>
                    <a:pt x="1120394" y="1121918"/>
                  </a:cubicBezTo>
                  <a:lnTo>
                    <a:pt x="1123442" y="1121918"/>
                  </a:lnTo>
                  <a:lnTo>
                    <a:pt x="1123442" y="622046"/>
                  </a:lnTo>
                  <a:cubicBezTo>
                    <a:pt x="779145" y="622046"/>
                    <a:pt x="499745" y="344297"/>
                    <a:pt x="499745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CA4CB54D-85A5-E2EA-D252-A10E4FE5CCC9}"/>
              </a:ext>
            </a:extLst>
          </p:cNvPr>
          <p:cNvSpPr txBox="1"/>
          <p:nvPr/>
        </p:nvSpPr>
        <p:spPr>
          <a:xfrm>
            <a:off x="1533782" y="871409"/>
            <a:ext cx="15225150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 err="1">
                <a:sym typeface="Arial MT Pro Bold"/>
              </a:rPr>
              <a:t>Khả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năng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mở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rộng</a:t>
            </a:r>
            <a:endParaRPr lang="en-US" dirty="0">
              <a:sym typeface="Arial MT Pro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87334BD-C016-FEBD-F4FA-8B29F788B863}"/>
              </a:ext>
            </a:extLst>
          </p:cNvPr>
          <p:cNvSpPr txBox="1"/>
          <p:nvPr/>
        </p:nvSpPr>
        <p:spPr>
          <a:xfrm>
            <a:off x="1531425" y="2894671"/>
            <a:ext cx="15225150" cy="295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Trường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hợp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1: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mỗi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thiết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bị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VR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điều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khiển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một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robot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độc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lập</a:t>
            </a:r>
            <a:endParaRPr lang="en-US" sz="1600" dirty="0">
              <a:solidFill>
                <a:srgbClr val="292929"/>
              </a:solidFill>
              <a:latin typeface="Arial MT Pro" panose="020B0604020202020204" charset="0"/>
              <a:ea typeface="DM Sans"/>
              <a:cs typeface="DM Sans"/>
              <a:sym typeface="DM Sans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Thay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thế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giao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tiếp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thông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qua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Websocket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bằng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WebRTC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để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có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thể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truyền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dữ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liệu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dạng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lớn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(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như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camera)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thông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qua UDP,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còn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dữ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liệu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quan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trọng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như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joint_states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vẫn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truyền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qua TCP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Kiểm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soát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kết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nối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: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nếu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WebBridge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phát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hiện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client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thứ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2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truy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cập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vào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,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các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tính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năng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điều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khiển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sẽ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bị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chặn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,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chỉ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cho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phép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đồng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bộ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và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theo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dõi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trạng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thái</a:t>
            </a:r>
            <a:endParaRPr lang="en-US" sz="1600" dirty="0">
              <a:solidFill>
                <a:srgbClr val="292929"/>
              </a:solidFill>
              <a:latin typeface="Arial MT Pro" panose="020B0604020202020204" charset="0"/>
              <a:ea typeface="DM Sans"/>
              <a:cs typeface="DM Sans"/>
              <a:sym typeface="DM San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Trường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hợp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2: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thiết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bị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VR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cho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phép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truy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cập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không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gian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nhà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máy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chung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với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nhiều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robot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cùng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1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lúc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Xây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dựng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server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trung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gian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để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quản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lý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người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truy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cập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vào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không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gian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(Online multiplayer)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Khi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điều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khiển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/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theo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dõi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một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thiết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bị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,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ưu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tiên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đồng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bộ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dữ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liệu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quan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trọng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trước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.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Dữ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liệu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camera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có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thể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đồng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bộ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tùy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theo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nhu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cầu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(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bật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/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tắt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subscription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linh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hoạt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Trường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hợp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3: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số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lượng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ros2-node native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tăng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lên</a:t>
            </a:r>
            <a:endParaRPr lang="en-US" sz="1600" dirty="0">
              <a:solidFill>
                <a:srgbClr val="292929"/>
              </a:solidFill>
              <a:latin typeface="Arial MT Pro" panose="020B0604020202020204" charset="0"/>
              <a:ea typeface="DM Sans"/>
              <a:cs typeface="DM Sans"/>
              <a:sym typeface="DM Sans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Cấu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hình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tăng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kích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thước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gói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tin UDP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mặc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định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của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Linux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để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tránh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gói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tin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bị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phân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mảnh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quá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nhiều</a:t>
            </a:r>
            <a:endParaRPr lang="en-US" sz="1600" dirty="0">
              <a:solidFill>
                <a:srgbClr val="292929"/>
              </a:solidFill>
              <a:latin typeface="Arial MT Pro" panose="020B0604020202020204" charset="0"/>
              <a:ea typeface="DM Sans"/>
              <a:cs typeface="DM Sans"/>
              <a:sym typeface="DM Sans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Cân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nhắc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cấu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hình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lại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Cyclone DDS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hoặc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chuyển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sang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sử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dụng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Zenoh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cho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RMW. Khi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số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lượng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node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quá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nhiều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DDS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cố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gắng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xây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dựng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một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full graph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và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mọi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node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phải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biết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nhau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,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khiến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cho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độ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trễ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tăng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lên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O(n^2) </a:t>
            </a:r>
            <a:r>
              <a:rPr lang="en-US" sz="1600" dirty="0" err="1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cho</a:t>
            </a:r>
            <a:r>
              <a:rPr lang="en-US" sz="1600" dirty="0">
                <a:solidFill>
                  <a:srgbClr val="292929"/>
                </a:solidFill>
                <a:latin typeface="Arial MT Pro" panose="020B0604020202020204" charset="0"/>
                <a:ea typeface="DM Sans"/>
                <a:cs typeface="DM Sans"/>
                <a:sym typeface="DM Sans"/>
              </a:rPr>
              <a:t> node discovery.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292929"/>
              </a:solidFill>
              <a:latin typeface="Arial MT Pro" panose="020B0604020202020204" charset="0"/>
              <a:ea typeface="DM Sans"/>
              <a:cs typeface="DM Sans"/>
              <a:sym typeface="DM San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34ED160-F2F6-926B-160F-574215A4B4D8}"/>
              </a:ext>
            </a:extLst>
          </p:cNvPr>
          <p:cNvSpPr txBox="1"/>
          <p:nvPr/>
        </p:nvSpPr>
        <p:spPr>
          <a:xfrm>
            <a:off x="1537710" y="1810989"/>
            <a:ext cx="9282690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ở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b="1" dirty="0" err="1"/>
              <a:t>nhiều</a:t>
            </a:r>
            <a:r>
              <a:rPr lang="en-US" b="1" dirty="0"/>
              <a:t> </a:t>
            </a:r>
            <a:r>
              <a:rPr lang="en-US" b="1" dirty="0" err="1"/>
              <a:t>cánh</a:t>
            </a:r>
            <a:r>
              <a:rPr lang="en-US" b="1" dirty="0"/>
              <a:t> </a:t>
            </a:r>
            <a:r>
              <a:rPr lang="en-US" b="1" dirty="0" err="1"/>
              <a:t>tay</a:t>
            </a:r>
            <a:r>
              <a:rPr lang="en-US" b="1" dirty="0"/>
              <a:t> robot </a:t>
            </a:r>
            <a:r>
              <a:rPr lang="en-US" b="1" dirty="0" err="1"/>
              <a:t>cùng</a:t>
            </a:r>
            <a:r>
              <a:rPr lang="en-US" b="1" dirty="0"/>
              <a:t> </a:t>
            </a:r>
            <a:r>
              <a:rPr lang="en-US" b="1" dirty="0" err="1"/>
              <a:t>điều</a:t>
            </a:r>
            <a:r>
              <a:rPr lang="en-US" b="1" dirty="0"/>
              <a:t> </a:t>
            </a:r>
            <a:r>
              <a:rPr lang="en-US" b="1" dirty="0" err="1"/>
              <a:t>khiển</a:t>
            </a:r>
            <a:r>
              <a:rPr lang="en-US" b="1" dirty="0"/>
              <a:t> </a:t>
            </a:r>
            <a:r>
              <a:rPr lang="en-US" b="1" dirty="0" err="1"/>
              <a:t>từ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kính</a:t>
            </a:r>
            <a:r>
              <a:rPr lang="en-US" b="1" dirty="0"/>
              <a:t> VR </a:t>
            </a:r>
            <a:r>
              <a:rPr lang="en-US" b="1" dirty="0" err="1"/>
              <a:t>khác</a:t>
            </a:r>
            <a:r>
              <a:rPr lang="en-US" b="1" dirty="0"/>
              <a:t> </a:t>
            </a:r>
            <a:r>
              <a:rPr lang="en-US" b="1" dirty="0" err="1"/>
              <a:t>nhau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b="1" dirty="0" err="1"/>
              <a:t>vấn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</a:t>
            </a:r>
            <a:r>
              <a:rPr lang="en-US" b="1" dirty="0" err="1"/>
              <a:t>đồng</a:t>
            </a:r>
            <a:r>
              <a:rPr lang="en-US" b="1" dirty="0"/>
              <a:t> </a:t>
            </a: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trạng</a:t>
            </a:r>
            <a:r>
              <a:rPr lang="en-US" b="1" dirty="0"/>
              <a:t> </a:t>
            </a:r>
            <a:r>
              <a:rPr lang="en-US" b="1" dirty="0" err="1"/>
              <a:t>thái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soát</a:t>
            </a:r>
            <a:r>
              <a:rPr lang="en-US" b="1" dirty="0"/>
              <a:t> </a:t>
            </a:r>
            <a:r>
              <a:rPr lang="en-US" b="1" dirty="0" err="1"/>
              <a:t>độ</a:t>
            </a:r>
            <a:r>
              <a:rPr lang="en-US" b="1" dirty="0"/>
              <a:t> </a:t>
            </a:r>
            <a:r>
              <a:rPr lang="en-US" b="1" dirty="0" err="1"/>
              <a:t>trễ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lượng</a:t>
            </a:r>
            <a:r>
              <a:rPr lang="en-US" b="1" dirty="0"/>
              <a:t> </a:t>
            </a: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bị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băng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</a:t>
            </a:r>
            <a:r>
              <a:rPr lang="en-US" b="1" dirty="0" err="1"/>
              <a:t>truyền</a:t>
            </a:r>
            <a:r>
              <a:rPr lang="en-US" b="1" dirty="0"/>
              <a:t> </a:t>
            </a:r>
            <a:r>
              <a:rPr lang="en-US" b="1" dirty="0" err="1"/>
              <a:t>tải</a:t>
            </a:r>
            <a:r>
              <a:rPr lang="en-US" b="1" dirty="0"/>
              <a:t> </a:t>
            </a:r>
            <a:r>
              <a:rPr lang="en-US" b="1" dirty="0" err="1"/>
              <a:t>tăng</a:t>
            </a:r>
            <a:r>
              <a:rPr lang="en-US" b="1" dirty="0"/>
              <a:t> </a:t>
            </a:r>
            <a:r>
              <a:rPr lang="en-US" b="1" dirty="0" err="1"/>
              <a:t>cao</a:t>
            </a:r>
            <a:r>
              <a:rPr lang="en-US" dirty="0"/>
              <a:t>?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8646C29-BDB8-EF46-A39B-5B064D99A857}"/>
              </a:ext>
            </a:extLst>
          </p:cNvPr>
          <p:cNvSpPr txBox="1"/>
          <p:nvPr/>
        </p:nvSpPr>
        <p:spPr>
          <a:xfrm>
            <a:off x="17747387" y="9549206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C09713-7DFE-FB6F-0D20-9588C26FBF49}"/>
              </a:ext>
            </a:extLst>
          </p:cNvPr>
          <p:cNvSpPr txBox="1"/>
          <p:nvPr/>
        </p:nvSpPr>
        <p:spPr>
          <a:xfrm>
            <a:off x="1752600" y="6591300"/>
            <a:ext cx="11734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https://www.tuhh.de/imek/forschung-und-projekte/projekte/vrobotia-1</a:t>
            </a:r>
            <a:r>
              <a:rPr lang="en-US" dirty="0"/>
              <a:t> (15ms end-to-end delay)</a:t>
            </a:r>
          </a:p>
          <a:p>
            <a:endParaRPr lang="en-US" dirty="0"/>
          </a:p>
          <a:p>
            <a:r>
              <a:rPr lang="en-US" dirty="0">
                <a:hlinkClick r:id="rId5"/>
              </a:rPr>
              <a:t>https://www.frontiersin.org/journals/robotics-and-ai/articles/10.3389/frobt.2026.1708161/full</a:t>
            </a:r>
            <a:r>
              <a:rPr lang="en-US" dirty="0"/>
              <a:t> (crazy latency)</a:t>
            </a:r>
          </a:p>
          <a:p>
            <a:endParaRPr lang="en-US" dirty="0"/>
          </a:p>
          <a:p>
            <a:r>
              <a:rPr lang="en-US" dirty="0">
                <a:hlinkClick r:id="rId6"/>
              </a:rPr>
              <a:t>https://www.mdpi.com/1424-8220/22/21/8493</a:t>
            </a:r>
            <a:r>
              <a:rPr lang="en-US" dirty="0"/>
              <a:t>  (Implementation of UDP bridge)</a:t>
            </a:r>
          </a:p>
          <a:p>
            <a:endParaRPr lang="en-US" dirty="0"/>
          </a:p>
          <a:p>
            <a:r>
              <a:rPr lang="en-US" dirty="0">
                <a:hlinkClick r:id="rId7"/>
              </a:rPr>
              <a:t>https://docs.phntm.io/bridge/</a:t>
            </a:r>
            <a:r>
              <a:rPr lang="en-US" dirty="0"/>
              <a:t> (phantom bridge)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087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599C3-DFEF-6AF0-F604-9EEEF1795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470522-8364-8E56-231F-9E0014FFE1B4}"/>
              </a:ext>
            </a:extLst>
          </p:cNvPr>
          <p:cNvSpPr/>
          <p:nvPr/>
        </p:nvSpPr>
        <p:spPr>
          <a:xfrm>
            <a:off x="-2079408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3C8D197-098C-4BEF-A48F-6678315D920B}"/>
              </a:ext>
            </a:extLst>
          </p:cNvPr>
          <p:cNvGrpSpPr/>
          <p:nvPr/>
        </p:nvGrpSpPr>
        <p:grpSpPr>
          <a:xfrm>
            <a:off x="16895830" y="-24"/>
            <a:ext cx="1392174" cy="1390454"/>
            <a:chOff x="0" y="0"/>
            <a:chExt cx="1856232" cy="185393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6B26631-5269-D238-3F03-648AB896EA61}"/>
                </a:ext>
              </a:extLst>
            </p:cNvPr>
            <p:cNvSpPr/>
            <p:nvPr/>
          </p:nvSpPr>
          <p:spPr>
            <a:xfrm>
              <a:off x="0" y="127"/>
              <a:ext cx="1856232" cy="1853692"/>
            </a:xfrm>
            <a:custGeom>
              <a:avLst/>
              <a:gdLst/>
              <a:ahLst/>
              <a:cxnLst/>
              <a:rect l="l" t="t" r="r" b="b"/>
              <a:pathLst>
                <a:path w="1856232" h="1853692">
                  <a:moveTo>
                    <a:pt x="0" y="0"/>
                  </a:moveTo>
                  <a:cubicBezTo>
                    <a:pt x="0" y="1022985"/>
                    <a:pt x="828294" y="1853692"/>
                    <a:pt x="1851152" y="1853692"/>
                  </a:cubicBezTo>
                  <a:lnTo>
                    <a:pt x="1856232" y="1853692"/>
                  </a:lnTo>
                  <a:lnTo>
                    <a:pt x="1856232" y="1027811"/>
                  </a:lnTo>
                  <a:cubicBezTo>
                    <a:pt x="1287399" y="1027811"/>
                    <a:pt x="825754" y="568833"/>
                    <a:pt x="825754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478E48C-A75E-107B-4BBA-268F043D1F8E}"/>
              </a:ext>
            </a:extLst>
          </p:cNvPr>
          <p:cNvGrpSpPr/>
          <p:nvPr/>
        </p:nvGrpSpPr>
        <p:grpSpPr>
          <a:xfrm rot="5400000">
            <a:off x="17445406" y="9443710"/>
            <a:ext cx="842604" cy="841564"/>
            <a:chOff x="0" y="0"/>
            <a:chExt cx="1123472" cy="112208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B24A01D-EDA3-E5F1-1A13-A074ABFE53B5}"/>
                </a:ext>
              </a:extLst>
            </p:cNvPr>
            <p:cNvSpPr/>
            <p:nvPr/>
          </p:nvSpPr>
          <p:spPr>
            <a:xfrm>
              <a:off x="0" y="127"/>
              <a:ext cx="1123442" cy="1121918"/>
            </a:xfrm>
            <a:custGeom>
              <a:avLst/>
              <a:gdLst/>
              <a:ahLst/>
              <a:cxnLst/>
              <a:rect l="l" t="t" r="r" b="b"/>
              <a:pathLst>
                <a:path w="1123442" h="1121918">
                  <a:moveTo>
                    <a:pt x="0" y="0"/>
                  </a:moveTo>
                  <a:cubicBezTo>
                    <a:pt x="0" y="619125"/>
                    <a:pt x="501269" y="1121918"/>
                    <a:pt x="1120394" y="1121918"/>
                  </a:cubicBezTo>
                  <a:lnTo>
                    <a:pt x="1123442" y="1121918"/>
                  </a:lnTo>
                  <a:lnTo>
                    <a:pt x="1123442" y="622046"/>
                  </a:lnTo>
                  <a:cubicBezTo>
                    <a:pt x="779145" y="622046"/>
                    <a:pt x="499745" y="344297"/>
                    <a:pt x="499745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59B1B35E-14CE-5D1E-C59C-71F2C59C47E9}"/>
              </a:ext>
            </a:extLst>
          </p:cNvPr>
          <p:cNvSpPr txBox="1"/>
          <p:nvPr/>
        </p:nvSpPr>
        <p:spPr>
          <a:xfrm>
            <a:off x="1533782" y="871409"/>
            <a:ext cx="15225150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 err="1">
                <a:sym typeface="Arial MT Pro Bold"/>
              </a:rPr>
              <a:t>Khả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năng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mở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rộng</a:t>
            </a:r>
            <a:endParaRPr lang="en-US" dirty="0">
              <a:sym typeface="Arial MT Pro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A7ABA39-5477-D9C1-05D9-C0777F1A4B23}"/>
              </a:ext>
            </a:extLst>
          </p:cNvPr>
          <p:cNvSpPr txBox="1"/>
          <p:nvPr/>
        </p:nvSpPr>
        <p:spPr>
          <a:xfrm>
            <a:off x="1531425" y="2894671"/>
            <a:ext cx="15225150" cy="3293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dirty="0"/>
              <a:t>- </a:t>
            </a:r>
            <a:r>
              <a:rPr lang="en-US" dirty="0" err="1"/>
              <a:t>Cái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ai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? –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9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cứng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Cái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?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2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: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Ros2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C++, </a:t>
            </a:r>
            <a:r>
              <a:rPr lang="en-US" dirty="0" err="1"/>
              <a:t>tận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data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DDS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hơn</a:t>
            </a: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Ở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VR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cái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?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Setup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VR,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Ros-Sharp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cánh</a:t>
            </a:r>
            <a:r>
              <a:rPr lang="en-US" dirty="0"/>
              <a:t> </a:t>
            </a:r>
            <a:r>
              <a:rPr lang="en-US" dirty="0" err="1"/>
              <a:t>tay</a:t>
            </a:r>
            <a:r>
              <a:rPr lang="en-US" dirty="0"/>
              <a:t> robot</a:t>
            </a:r>
          </a:p>
          <a:p>
            <a:pPr lvl="1"/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cái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ta? 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292929"/>
              </a:solidFill>
              <a:latin typeface="Arial MT Pro" panose="020B0604020202020204" charset="0"/>
              <a:ea typeface="DM Sans"/>
              <a:cs typeface="DM Sans"/>
              <a:sym typeface="DM San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16D0542-0EA1-180F-4188-0A5A76155EAB}"/>
              </a:ext>
            </a:extLst>
          </p:cNvPr>
          <p:cNvSpPr txBox="1"/>
          <p:nvPr/>
        </p:nvSpPr>
        <p:spPr>
          <a:xfrm>
            <a:off x="1537710" y="1810989"/>
            <a:ext cx="9282690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ở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b="1" dirty="0" err="1"/>
              <a:t>nhiều</a:t>
            </a:r>
            <a:r>
              <a:rPr lang="en-US" b="1" dirty="0"/>
              <a:t> </a:t>
            </a:r>
            <a:r>
              <a:rPr lang="en-US" b="1" dirty="0" err="1"/>
              <a:t>cánh</a:t>
            </a:r>
            <a:r>
              <a:rPr lang="en-US" b="1" dirty="0"/>
              <a:t> </a:t>
            </a:r>
            <a:r>
              <a:rPr lang="en-US" b="1" dirty="0" err="1"/>
              <a:t>tay</a:t>
            </a:r>
            <a:r>
              <a:rPr lang="en-US" b="1" dirty="0"/>
              <a:t> robot </a:t>
            </a:r>
            <a:r>
              <a:rPr lang="en-US" b="1" dirty="0" err="1"/>
              <a:t>cùng</a:t>
            </a:r>
            <a:r>
              <a:rPr lang="en-US" b="1" dirty="0"/>
              <a:t> </a:t>
            </a:r>
            <a:r>
              <a:rPr lang="en-US" b="1" dirty="0" err="1"/>
              <a:t>điều</a:t>
            </a:r>
            <a:r>
              <a:rPr lang="en-US" b="1" dirty="0"/>
              <a:t> </a:t>
            </a:r>
            <a:r>
              <a:rPr lang="en-US" b="1" dirty="0" err="1"/>
              <a:t>khiển</a:t>
            </a:r>
            <a:r>
              <a:rPr lang="en-US" b="1" dirty="0"/>
              <a:t> </a:t>
            </a:r>
            <a:r>
              <a:rPr lang="en-US" b="1" dirty="0" err="1"/>
              <a:t>từ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kính</a:t>
            </a:r>
            <a:r>
              <a:rPr lang="en-US" b="1" dirty="0"/>
              <a:t> VR </a:t>
            </a:r>
            <a:r>
              <a:rPr lang="en-US" b="1" dirty="0" err="1"/>
              <a:t>khác</a:t>
            </a:r>
            <a:r>
              <a:rPr lang="en-US" b="1" dirty="0"/>
              <a:t> </a:t>
            </a:r>
            <a:r>
              <a:rPr lang="en-US" b="1" dirty="0" err="1"/>
              <a:t>nhau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b="1" dirty="0" err="1"/>
              <a:t>vấn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</a:t>
            </a:r>
            <a:r>
              <a:rPr lang="en-US" b="1" dirty="0" err="1"/>
              <a:t>đồng</a:t>
            </a:r>
            <a:r>
              <a:rPr lang="en-US" b="1" dirty="0"/>
              <a:t> </a:t>
            </a: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trạng</a:t>
            </a:r>
            <a:r>
              <a:rPr lang="en-US" b="1" dirty="0"/>
              <a:t> </a:t>
            </a:r>
            <a:r>
              <a:rPr lang="en-US" b="1" dirty="0" err="1"/>
              <a:t>thái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soát</a:t>
            </a:r>
            <a:r>
              <a:rPr lang="en-US" b="1" dirty="0"/>
              <a:t> </a:t>
            </a:r>
            <a:r>
              <a:rPr lang="en-US" b="1" dirty="0" err="1"/>
              <a:t>độ</a:t>
            </a:r>
            <a:r>
              <a:rPr lang="en-US" b="1" dirty="0"/>
              <a:t> </a:t>
            </a:r>
            <a:r>
              <a:rPr lang="en-US" b="1" dirty="0" err="1"/>
              <a:t>trễ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lượng</a:t>
            </a:r>
            <a:r>
              <a:rPr lang="en-US" b="1" dirty="0"/>
              <a:t> </a:t>
            </a: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bị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băng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</a:t>
            </a:r>
            <a:r>
              <a:rPr lang="en-US" b="1" dirty="0" err="1"/>
              <a:t>truyền</a:t>
            </a:r>
            <a:r>
              <a:rPr lang="en-US" b="1" dirty="0"/>
              <a:t> </a:t>
            </a:r>
            <a:r>
              <a:rPr lang="en-US" b="1" dirty="0" err="1"/>
              <a:t>tải</a:t>
            </a:r>
            <a:r>
              <a:rPr lang="en-US" b="1" dirty="0"/>
              <a:t> </a:t>
            </a:r>
            <a:r>
              <a:rPr lang="en-US" b="1" dirty="0" err="1"/>
              <a:t>tăng</a:t>
            </a:r>
            <a:r>
              <a:rPr lang="en-US" b="1" dirty="0"/>
              <a:t> </a:t>
            </a:r>
            <a:r>
              <a:rPr lang="en-US" b="1" dirty="0" err="1"/>
              <a:t>cao</a:t>
            </a:r>
            <a:r>
              <a:rPr lang="en-US" dirty="0"/>
              <a:t>?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71A2D1B-66C8-0311-E9FC-DB832621A55C}"/>
              </a:ext>
            </a:extLst>
          </p:cNvPr>
          <p:cNvSpPr txBox="1"/>
          <p:nvPr/>
        </p:nvSpPr>
        <p:spPr>
          <a:xfrm>
            <a:off x="17747387" y="9549206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441151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566556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50083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4680" y="0"/>
            <a:ext cx="1683300" cy="841540"/>
          </a:xfrm>
          <a:custGeom>
            <a:avLst/>
            <a:gdLst/>
            <a:ahLst/>
            <a:cxnLst/>
            <a:rect l="l" t="t" r="r" b="b"/>
            <a:pathLst>
              <a:path w="1683300" h="841540">
                <a:moveTo>
                  <a:pt x="0" y="0"/>
                </a:moveTo>
                <a:lnTo>
                  <a:pt x="1683300" y="0"/>
                </a:lnTo>
                <a:lnTo>
                  <a:pt x="1683300" y="841540"/>
                </a:lnTo>
                <a:lnTo>
                  <a:pt x="0" y="8415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508250" y="9327700"/>
            <a:ext cx="1385350" cy="988100"/>
          </a:xfrm>
          <a:custGeom>
            <a:avLst/>
            <a:gdLst/>
            <a:ahLst/>
            <a:cxnLst/>
            <a:rect l="l" t="t" r="r" b="b"/>
            <a:pathLst>
              <a:path w="1385350" h="988100">
                <a:moveTo>
                  <a:pt x="0" y="0"/>
                </a:moveTo>
                <a:lnTo>
                  <a:pt x="1385350" y="0"/>
                </a:lnTo>
                <a:lnTo>
                  <a:pt x="1385350" y="988100"/>
                </a:lnTo>
                <a:lnTo>
                  <a:pt x="0" y="988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31425" y="867175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4 . </a:t>
            </a:r>
            <a:r>
              <a:rPr lang="en-US" dirty="0" err="1">
                <a:sym typeface="Arial MT Pro Bold"/>
              </a:rPr>
              <a:t>Kết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quả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và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đánh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giá</a:t>
            </a:r>
            <a:endParaRPr lang="en-US" dirty="0">
              <a:sym typeface="Arial MT Pro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4970226" y="8805350"/>
            <a:ext cx="866950" cy="823550"/>
          </a:xfrm>
          <a:custGeom>
            <a:avLst/>
            <a:gdLst/>
            <a:ahLst/>
            <a:cxnLst/>
            <a:rect l="l" t="t" r="r" b="b"/>
            <a:pathLst>
              <a:path w="866950" h="823550">
                <a:moveTo>
                  <a:pt x="0" y="0"/>
                </a:moveTo>
                <a:lnTo>
                  <a:pt x="866950" y="0"/>
                </a:lnTo>
                <a:lnTo>
                  <a:pt x="866950" y="823550"/>
                </a:lnTo>
                <a:lnTo>
                  <a:pt x="0" y="82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71705" y="1658201"/>
            <a:ext cx="697512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1" i="1" dirty="0" err="1">
                <a:solidFill>
                  <a:srgbClr val="292929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Ứng</a:t>
            </a:r>
            <a:r>
              <a:rPr lang="en-US" sz="3000" b="1" i="1" dirty="0">
                <a:solidFill>
                  <a:srgbClr val="292929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dụng</a:t>
            </a:r>
            <a:r>
              <a:rPr lang="en-US" sz="3000" b="1" i="1" dirty="0">
                <a:solidFill>
                  <a:srgbClr val="292929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điều</a:t>
            </a:r>
            <a:r>
              <a:rPr lang="en-US" sz="3000" b="1" i="1" dirty="0">
                <a:solidFill>
                  <a:srgbClr val="292929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 </a:t>
            </a:r>
            <a:r>
              <a:rPr lang="en-US" sz="3000" b="1" i="1" dirty="0" err="1">
                <a:solidFill>
                  <a:srgbClr val="292929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khiển</a:t>
            </a:r>
            <a:r>
              <a:rPr lang="en-US" sz="3000" b="1" i="1" dirty="0">
                <a:solidFill>
                  <a:srgbClr val="292929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 VR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31</a:t>
            </a:r>
          </a:p>
        </p:txBody>
      </p:sp>
      <p:pic>
        <p:nvPicPr>
          <p:cNvPr id="12" name="Online Media 11" title="Thesis demo short">
            <a:hlinkClick r:id="" action="ppaction://media"/>
            <a:extLst>
              <a:ext uri="{FF2B5EF4-FFF2-40B4-BE49-F238E27FC236}">
                <a16:creationId xmlns:a16="http://schemas.microsoft.com/office/drawing/2014/main" id="{07146541-181C-90C7-07B5-F29DC926EA6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8"/>
          <a:stretch>
            <a:fillRect/>
          </a:stretch>
        </p:blipFill>
        <p:spPr>
          <a:xfrm>
            <a:off x="1771705" y="2295300"/>
            <a:ext cx="14144602" cy="7991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06400" y="1503126"/>
            <a:ext cx="866950" cy="823550"/>
          </a:xfrm>
          <a:custGeom>
            <a:avLst/>
            <a:gdLst/>
            <a:ahLst/>
            <a:cxnLst/>
            <a:rect l="l" t="t" r="r" b="b"/>
            <a:pathLst>
              <a:path w="866950" h="823550">
                <a:moveTo>
                  <a:pt x="0" y="0"/>
                </a:moveTo>
                <a:lnTo>
                  <a:pt x="866950" y="0"/>
                </a:lnTo>
                <a:lnTo>
                  <a:pt x="866950" y="823550"/>
                </a:lnTo>
                <a:lnTo>
                  <a:pt x="0" y="82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69042" y="756386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" y="9217150"/>
            <a:ext cx="2797805" cy="1069896"/>
          </a:xfrm>
          <a:custGeom>
            <a:avLst/>
            <a:gdLst/>
            <a:ahLst/>
            <a:cxnLst/>
            <a:rect l="l" t="t" r="r" b="b"/>
            <a:pathLst>
              <a:path w="2797805" h="1069896">
                <a:moveTo>
                  <a:pt x="0" y="0"/>
                </a:moveTo>
                <a:lnTo>
                  <a:pt x="2797805" y="0"/>
                </a:lnTo>
                <a:lnTo>
                  <a:pt x="2797805" y="1069896"/>
                </a:lnTo>
                <a:lnTo>
                  <a:pt x="0" y="10698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31425" y="594861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3.2. </a:t>
            </a:r>
            <a:r>
              <a:rPr lang="en-US" dirty="0" err="1">
                <a:sym typeface="Arial MT Pro Bold"/>
              </a:rPr>
              <a:t>Hệ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thống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điều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khiển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với</a:t>
            </a:r>
            <a:r>
              <a:rPr lang="en-US" dirty="0">
                <a:sym typeface="Arial MT Pro Bold"/>
              </a:rPr>
              <a:t> ROS2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3288" y="1528231"/>
            <a:ext cx="8023112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 err="1">
                <a:sym typeface="Arial MT Pro Bold Italics"/>
              </a:rPr>
              <a:t>Khối</a:t>
            </a:r>
            <a:r>
              <a:rPr lang="en-US" dirty="0">
                <a:sym typeface="Arial MT Pro Bold Italics"/>
              </a:rPr>
              <a:t> Hardware Interface: Denso Interface</a:t>
            </a:r>
          </a:p>
        </p:txBody>
      </p:sp>
      <p:sp>
        <p:nvSpPr>
          <p:cNvPr id="9" name="Freeform 9"/>
          <p:cNvSpPr/>
          <p:nvPr/>
        </p:nvSpPr>
        <p:spPr>
          <a:xfrm>
            <a:off x="9423323" y="2325473"/>
            <a:ext cx="7951209" cy="7222854"/>
          </a:xfrm>
          <a:custGeom>
            <a:avLst/>
            <a:gdLst/>
            <a:ahLst/>
            <a:cxnLst/>
            <a:rect l="l" t="t" r="r" b="b"/>
            <a:pathLst>
              <a:path w="7951209" h="7222854">
                <a:moveTo>
                  <a:pt x="0" y="0"/>
                </a:moveTo>
                <a:lnTo>
                  <a:pt x="7951209" y="0"/>
                </a:lnTo>
                <a:lnTo>
                  <a:pt x="7951209" y="7222854"/>
                </a:lnTo>
                <a:lnTo>
                  <a:pt x="0" y="72228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04800" y="2652003"/>
            <a:ext cx="7698692" cy="5725902"/>
          </a:xfrm>
          <a:custGeom>
            <a:avLst/>
            <a:gdLst/>
            <a:ahLst/>
            <a:cxnLst/>
            <a:rect l="l" t="t" r="r" b="b"/>
            <a:pathLst>
              <a:path w="7698692" h="5725902">
                <a:moveTo>
                  <a:pt x="0" y="0"/>
                </a:moveTo>
                <a:lnTo>
                  <a:pt x="7698692" y="0"/>
                </a:lnTo>
                <a:lnTo>
                  <a:pt x="7698692" y="5725902"/>
                </a:lnTo>
                <a:lnTo>
                  <a:pt x="0" y="5725902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2930E2-2548-4979-34B5-FA1E17B7A4FE}"/>
              </a:ext>
            </a:extLst>
          </p:cNvPr>
          <p:cNvSpPr txBox="1"/>
          <p:nvPr/>
        </p:nvSpPr>
        <p:spPr>
          <a:xfrm>
            <a:off x="2485420" y="8377905"/>
            <a:ext cx="3337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i="1" dirty="0"/>
              <a:t>Read() </a:t>
            </a:r>
            <a:r>
              <a:rPr lang="en-US" dirty="0" err="1"/>
              <a:t>của</a:t>
            </a:r>
            <a:r>
              <a:rPr lang="en-US" dirty="0"/>
              <a:t> Denso Interface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335FE6-3D90-A918-BEFF-C3C60842670E}"/>
              </a:ext>
            </a:extLst>
          </p:cNvPr>
          <p:cNvSpPr txBox="1"/>
          <p:nvPr/>
        </p:nvSpPr>
        <p:spPr>
          <a:xfrm>
            <a:off x="12014123" y="9518151"/>
            <a:ext cx="3389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i="1" dirty="0"/>
              <a:t>Write() </a:t>
            </a:r>
            <a:r>
              <a:rPr lang="en-US" dirty="0" err="1"/>
              <a:t>của</a:t>
            </a:r>
            <a:r>
              <a:rPr lang="en-US" dirty="0"/>
              <a:t> Denso Interface</a:t>
            </a:r>
          </a:p>
        </p:txBody>
      </p:sp>
    </p:spTree>
    <p:extLst>
      <p:ext uri="{BB962C8B-B14F-4D97-AF65-F5344CB8AC3E}">
        <p14:creationId xmlns:p14="http://schemas.microsoft.com/office/powerpoint/2010/main" val="1929676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06400" y="1503126"/>
            <a:ext cx="866950" cy="823550"/>
          </a:xfrm>
          <a:custGeom>
            <a:avLst/>
            <a:gdLst/>
            <a:ahLst/>
            <a:cxnLst/>
            <a:rect l="l" t="t" r="r" b="b"/>
            <a:pathLst>
              <a:path w="866950" h="823550">
                <a:moveTo>
                  <a:pt x="0" y="0"/>
                </a:moveTo>
                <a:lnTo>
                  <a:pt x="866950" y="0"/>
                </a:lnTo>
                <a:lnTo>
                  <a:pt x="866950" y="823550"/>
                </a:lnTo>
                <a:lnTo>
                  <a:pt x="0" y="82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69042" y="756386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" y="9217150"/>
            <a:ext cx="2797805" cy="1069896"/>
          </a:xfrm>
          <a:custGeom>
            <a:avLst/>
            <a:gdLst/>
            <a:ahLst/>
            <a:cxnLst/>
            <a:rect l="l" t="t" r="r" b="b"/>
            <a:pathLst>
              <a:path w="2797805" h="1069896">
                <a:moveTo>
                  <a:pt x="0" y="0"/>
                </a:moveTo>
                <a:lnTo>
                  <a:pt x="2797805" y="0"/>
                </a:lnTo>
                <a:lnTo>
                  <a:pt x="2797805" y="1069896"/>
                </a:lnTo>
                <a:lnTo>
                  <a:pt x="0" y="10698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31425" y="594861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3.2. </a:t>
            </a:r>
            <a:r>
              <a:rPr lang="en-US" dirty="0" err="1">
                <a:sym typeface="Arial MT Pro Bold"/>
              </a:rPr>
              <a:t>Hệ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thống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điều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khiển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với</a:t>
            </a:r>
            <a:r>
              <a:rPr lang="en-US" dirty="0">
                <a:sym typeface="Arial MT Pro Bold"/>
              </a:rPr>
              <a:t> ROS2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3288" y="1528231"/>
            <a:ext cx="8937512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 err="1">
                <a:sym typeface="Arial MT Pro Bold Italics"/>
              </a:rPr>
              <a:t>Khối</a:t>
            </a:r>
            <a:r>
              <a:rPr lang="en-US" dirty="0">
                <a:sym typeface="Arial MT Pro Bold Italics"/>
              </a:rPr>
              <a:t> Hardware Interface: Denso Hand Interface</a:t>
            </a:r>
          </a:p>
        </p:txBody>
      </p:sp>
      <p:sp>
        <p:nvSpPr>
          <p:cNvPr id="9" name="Freeform 9"/>
          <p:cNvSpPr/>
          <p:nvPr/>
        </p:nvSpPr>
        <p:spPr>
          <a:xfrm>
            <a:off x="8291824" y="2597577"/>
            <a:ext cx="9802548" cy="6432922"/>
          </a:xfrm>
          <a:custGeom>
            <a:avLst/>
            <a:gdLst/>
            <a:ahLst/>
            <a:cxnLst/>
            <a:rect l="l" t="t" r="r" b="b"/>
            <a:pathLst>
              <a:path w="9802548" h="6432922">
                <a:moveTo>
                  <a:pt x="0" y="0"/>
                </a:moveTo>
                <a:lnTo>
                  <a:pt x="9802548" y="0"/>
                </a:lnTo>
                <a:lnTo>
                  <a:pt x="9802548" y="6432922"/>
                </a:lnTo>
                <a:lnTo>
                  <a:pt x="0" y="6432922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88213" y="2461053"/>
            <a:ext cx="7573318" cy="7307228"/>
          </a:xfrm>
          <a:custGeom>
            <a:avLst/>
            <a:gdLst/>
            <a:ahLst/>
            <a:cxnLst/>
            <a:rect l="l" t="t" r="r" b="b"/>
            <a:pathLst>
              <a:path w="7573318" h="7307228">
                <a:moveTo>
                  <a:pt x="0" y="0"/>
                </a:moveTo>
                <a:lnTo>
                  <a:pt x="7573318" y="0"/>
                </a:lnTo>
                <a:lnTo>
                  <a:pt x="7573318" y="7307228"/>
                </a:lnTo>
                <a:lnTo>
                  <a:pt x="0" y="73072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594529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07174B-F580-27D9-2C9B-F2B5BB9F0171}"/>
              </a:ext>
            </a:extLst>
          </p:cNvPr>
          <p:cNvSpPr txBox="1"/>
          <p:nvPr/>
        </p:nvSpPr>
        <p:spPr>
          <a:xfrm>
            <a:off x="2743200" y="8877300"/>
            <a:ext cx="3888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i="1" dirty="0"/>
              <a:t>Read() </a:t>
            </a:r>
            <a:r>
              <a:rPr lang="en-US" dirty="0" err="1"/>
              <a:t>của</a:t>
            </a:r>
            <a:r>
              <a:rPr lang="en-US" dirty="0"/>
              <a:t> Denso Hand Interface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C6E07F-1BEB-B71D-D752-FE6CE1587313}"/>
              </a:ext>
            </a:extLst>
          </p:cNvPr>
          <p:cNvSpPr txBox="1"/>
          <p:nvPr/>
        </p:nvSpPr>
        <p:spPr>
          <a:xfrm>
            <a:off x="11811000" y="8968522"/>
            <a:ext cx="394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i="1" dirty="0"/>
              <a:t>Write() </a:t>
            </a:r>
            <a:r>
              <a:rPr lang="en-US" dirty="0" err="1"/>
              <a:t>của</a:t>
            </a:r>
            <a:r>
              <a:rPr lang="en-US" dirty="0"/>
              <a:t> Denso Hand Interface</a:t>
            </a:r>
          </a:p>
        </p:txBody>
      </p:sp>
    </p:spTree>
    <p:extLst>
      <p:ext uri="{BB962C8B-B14F-4D97-AF65-F5344CB8AC3E}">
        <p14:creationId xmlns:p14="http://schemas.microsoft.com/office/powerpoint/2010/main" val="112789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5804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-20" y="8896526"/>
            <a:ext cx="1392174" cy="1390454"/>
            <a:chOff x="0" y="0"/>
            <a:chExt cx="1856232" cy="1853939"/>
          </a:xfrm>
        </p:grpSpPr>
        <p:sp>
          <p:nvSpPr>
            <p:cNvPr id="4" name="Freeform 4"/>
            <p:cNvSpPr/>
            <p:nvPr/>
          </p:nvSpPr>
          <p:spPr>
            <a:xfrm>
              <a:off x="0" y="127"/>
              <a:ext cx="1856232" cy="1853692"/>
            </a:xfrm>
            <a:custGeom>
              <a:avLst/>
              <a:gdLst/>
              <a:ahLst/>
              <a:cxnLst/>
              <a:rect l="l" t="t" r="r" b="b"/>
              <a:pathLst>
                <a:path w="1856232" h="1853692">
                  <a:moveTo>
                    <a:pt x="0" y="0"/>
                  </a:moveTo>
                  <a:cubicBezTo>
                    <a:pt x="0" y="1022985"/>
                    <a:pt x="828294" y="1853692"/>
                    <a:pt x="1851152" y="1853692"/>
                  </a:cubicBezTo>
                  <a:lnTo>
                    <a:pt x="1856232" y="1853692"/>
                  </a:lnTo>
                  <a:lnTo>
                    <a:pt x="1856232" y="1027811"/>
                  </a:lnTo>
                  <a:cubicBezTo>
                    <a:pt x="1287399" y="1027811"/>
                    <a:pt x="825754" y="568833"/>
                    <a:pt x="825754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7299887" y="21"/>
            <a:ext cx="988100" cy="1385350"/>
          </a:xfrm>
          <a:custGeom>
            <a:avLst/>
            <a:gdLst/>
            <a:ahLst/>
            <a:cxnLst/>
            <a:rect l="l" t="t" r="r" b="b"/>
            <a:pathLst>
              <a:path w="988100" h="1385350">
                <a:moveTo>
                  <a:pt x="0" y="0"/>
                </a:moveTo>
                <a:lnTo>
                  <a:pt x="988100" y="0"/>
                </a:lnTo>
                <a:lnTo>
                  <a:pt x="988100" y="1385350"/>
                </a:lnTo>
                <a:lnTo>
                  <a:pt x="0" y="1385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31425" y="867175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1">
                <a:solidFill>
                  <a:srgbClr val="29292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 . Giới thiệu tổng quan</a:t>
            </a:r>
          </a:p>
        </p:txBody>
      </p:sp>
      <p:sp>
        <p:nvSpPr>
          <p:cNvPr id="7" name="AutoShape 7"/>
          <p:cNvSpPr/>
          <p:nvPr/>
        </p:nvSpPr>
        <p:spPr>
          <a:xfrm rot="171488">
            <a:off x="11218324" y="8763234"/>
            <a:ext cx="314041" cy="0"/>
          </a:xfrm>
          <a:prstGeom prst="line">
            <a:avLst/>
          </a:prstGeom>
          <a:ln w="9525" cap="rnd">
            <a:solidFill>
              <a:srgbClr val="29292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392154" y="8654247"/>
            <a:ext cx="3459784" cy="5660130"/>
          </a:xfrm>
          <a:custGeom>
            <a:avLst/>
            <a:gdLst/>
            <a:ahLst/>
            <a:cxnLst/>
            <a:rect l="l" t="t" r="r" b="b"/>
            <a:pathLst>
              <a:path w="3459784" h="5660130">
                <a:moveTo>
                  <a:pt x="0" y="0"/>
                </a:moveTo>
                <a:lnTo>
                  <a:pt x="3459784" y="0"/>
                </a:lnTo>
                <a:lnTo>
                  <a:pt x="3459784" y="5660130"/>
                </a:lnTo>
                <a:lnTo>
                  <a:pt x="0" y="5660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428050" y="1943450"/>
            <a:ext cx="866950" cy="823550"/>
          </a:xfrm>
          <a:custGeom>
            <a:avLst/>
            <a:gdLst/>
            <a:ahLst/>
            <a:cxnLst/>
            <a:rect l="l" t="t" r="r" b="b"/>
            <a:pathLst>
              <a:path w="866950" h="823550">
                <a:moveTo>
                  <a:pt x="0" y="0"/>
                </a:moveTo>
                <a:lnTo>
                  <a:pt x="866950" y="0"/>
                </a:lnTo>
                <a:lnTo>
                  <a:pt x="866950" y="823550"/>
                </a:lnTo>
                <a:lnTo>
                  <a:pt x="0" y="82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843650" y="3314700"/>
            <a:ext cx="15225150" cy="456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863"/>
              </a:lnSpc>
              <a:buFont typeface="Arial" panose="020B0604020202020204" pitchFamily="34" charset="0"/>
              <a:buChar char="•"/>
            </a:pP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Điều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khiển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cánh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tay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công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nghiệp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VS-6577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với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bộ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điều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khiển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RC5 qua UART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2154" y="2653471"/>
            <a:ext cx="14463164" cy="58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algn="l">
              <a:lnSpc>
                <a:spcPts val="4967"/>
              </a:lnSpc>
            </a:pP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1.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Xây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dựng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cơ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chế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điều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khiển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cánh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tay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robot VS-6577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ổn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định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92154" y="4411865"/>
            <a:ext cx="15225150" cy="58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algn="l">
              <a:lnSpc>
                <a:spcPts val="4967"/>
              </a:lnSpc>
            </a:pP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2.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Xây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dựng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hệ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thống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điều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khiển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Ros2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tích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hợp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theo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tiêu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chuẩn</a:t>
            </a:r>
            <a:endParaRPr lang="en-US" sz="3600" b="1" dirty="0">
              <a:solidFill>
                <a:srgbClr val="03178C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92154" y="6170259"/>
            <a:ext cx="15225150" cy="58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algn="l">
              <a:lnSpc>
                <a:spcPts val="4967"/>
              </a:lnSpc>
            </a:pP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3.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Xây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dựng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ứng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dụng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VR Digital Twin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trực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quan</a:t>
            </a:r>
            <a:r>
              <a:rPr lang="en-US" sz="3600" b="1" dirty="0">
                <a:solidFill>
                  <a:srgbClr val="03178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43650" y="5073094"/>
            <a:ext cx="15225150" cy="456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863"/>
              </a:lnSpc>
              <a:buFont typeface="Arial" panose="020B0604020202020204" pitchFamily="34" charset="0"/>
              <a:buChar char="•"/>
            </a:pP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ROS2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tích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hợp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Ros2-Control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và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MoveIt2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theo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tiêu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chuẩn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tạo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nền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tảng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khả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mở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rộng</a:t>
            </a:r>
            <a:endParaRPr lang="en-US" sz="2799" dirty="0">
              <a:solidFill>
                <a:srgbClr val="29292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843650" y="6831487"/>
            <a:ext cx="14310750" cy="956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63"/>
              </a:lnSpc>
              <a:buFont typeface="Arial" panose="020B0604020202020204" pitchFamily="34" charset="0"/>
              <a:buChar char="•"/>
            </a:pP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Ứng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dụng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VR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xây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dựng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trên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Unity Engine 6,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đồng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bộ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thời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gian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thực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với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cánh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tay</a:t>
            </a:r>
            <a:r>
              <a:rPr lang="en-US" sz="2799" dirty="0">
                <a:solidFill>
                  <a:srgbClr val="292929"/>
                </a:solidFill>
                <a:latin typeface="Arimo"/>
                <a:ea typeface="Arimo"/>
                <a:cs typeface="Arimo"/>
                <a:sym typeface="Arimo"/>
              </a:rPr>
              <a:t> robot VS-6577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747387" y="9549206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45020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06400" y="1503126"/>
            <a:ext cx="866950" cy="823550"/>
          </a:xfrm>
          <a:custGeom>
            <a:avLst/>
            <a:gdLst/>
            <a:ahLst/>
            <a:cxnLst/>
            <a:rect l="l" t="t" r="r" b="b"/>
            <a:pathLst>
              <a:path w="866950" h="823550">
                <a:moveTo>
                  <a:pt x="0" y="0"/>
                </a:moveTo>
                <a:lnTo>
                  <a:pt x="866950" y="0"/>
                </a:lnTo>
                <a:lnTo>
                  <a:pt x="866950" y="823550"/>
                </a:lnTo>
                <a:lnTo>
                  <a:pt x="0" y="82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69042" y="756386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" y="9217150"/>
            <a:ext cx="2797805" cy="1069896"/>
          </a:xfrm>
          <a:custGeom>
            <a:avLst/>
            <a:gdLst/>
            <a:ahLst/>
            <a:cxnLst/>
            <a:rect l="l" t="t" r="r" b="b"/>
            <a:pathLst>
              <a:path w="2797805" h="1069896">
                <a:moveTo>
                  <a:pt x="0" y="0"/>
                </a:moveTo>
                <a:lnTo>
                  <a:pt x="2797805" y="0"/>
                </a:lnTo>
                <a:lnTo>
                  <a:pt x="2797805" y="1069896"/>
                </a:lnTo>
                <a:lnTo>
                  <a:pt x="0" y="10698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3102270"/>
            <a:ext cx="8643274" cy="5685052"/>
          </a:xfrm>
          <a:custGeom>
            <a:avLst/>
            <a:gdLst/>
            <a:ahLst/>
            <a:cxnLst/>
            <a:rect l="l" t="t" r="r" b="b"/>
            <a:pathLst>
              <a:path w="8643274" h="5685052">
                <a:moveTo>
                  <a:pt x="0" y="0"/>
                </a:moveTo>
                <a:lnTo>
                  <a:pt x="8643274" y="0"/>
                </a:lnTo>
                <a:lnTo>
                  <a:pt x="8643274" y="5685052"/>
                </a:lnTo>
                <a:lnTo>
                  <a:pt x="0" y="568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31425" y="594861"/>
            <a:ext cx="15225150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3.2. </a:t>
            </a:r>
            <a:r>
              <a:rPr lang="en-US" sz="5599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Hệ</a:t>
            </a:r>
            <a:r>
              <a:rPr lang="en-US" sz="5599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5599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thống</a:t>
            </a:r>
            <a:r>
              <a:rPr lang="en-US" sz="5599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5599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điều</a:t>
            </a:r>
            <a:r>
              <a:rPr lang="en-US" sz="5599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5599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khiển</a:t>
            </a:r>
            <a:r>
              <a:rPr lang="en-US" sz="5599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</a:t>
            </a:r>
            <a:r>
              <a:rPr lang="en-US" sz="5599" b="1" dirty="0" err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với</a:t>
            </a:r>
            <a:r>
              <a:rPr lang="en-US" sz="5599" b="1" dirty="0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al MT Pro Bold"/>
              </a:rPr>
              <a:t> ROS2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3288" y="1528231"/>
            <a:ext cx="4518922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>
                <a:sym typeface="Arial MT Pro Bold Italics"/>
              </a:rPr>
              <a:t>Khối Driver</a:t>
            </a:r>
            <a:endParaRPr lang="en-US" dirty="0">
              <a:sym typeface="Arial MT Pro Bold Itali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587570" y="2501680"/>
            <a:ext cx="2636436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uart_protocol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87570" y="4838700"/>
            <a:ext cx="2636436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motor_driver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87570" y="7247192"/>
            <a:ext cx="2636436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servo_driver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87570" y="3026070"/>
            <a:ext cx="8321649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Tạo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quản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lý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nối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UART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Nhận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dữ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liệu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liên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tục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trong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thread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riêng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lưu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buffer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587570" y="5470411"/>
            <a:ext cx="8321649" cy="1524000"/>
            <a:chOff x="0" y="0"/>
            <a:chExt cx="11095532" cy="203200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76200"/>
              <a:ext cx="11095532" cy="210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buFont typeface="Arial"/>
                <a:buChar char="•"/>
              </a:pPr>
              <a:r>
                <a:rPr lang="en-US" sz="30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Đảm</a:t>
              </a:r>
              <a:r>
                <a:rPr lang="en-US" sz="30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30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nhận</a:t>
              </a:r>
              <a:r>
                <a:rPr lang="en-US" sz="30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30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điều</a:t>
              </a:r>
              <a:r>
                <a:rPr lang="en-US" sz="30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30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khiển</a:t>
              </a:r>
              <a:r>
                <a:rPr lang="en-US" sz="30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30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cánh</a:t>
              </a:r>
              <a:r>
                <a:rPr lang="en-US" sz="30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30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tay</a:t>
              </a:r>
              <a:r>
                <a:rPr lang="en-US" sz="30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robot </a:t>
              </a:r>
            </a:p>
            <a:p>
              <a:pPr algn="l">
                <a:lnSpc>
                  <a:spcPts val="4200"/>
                </a:lnSpc>
              </a:pPr>
              <a:endPara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647700" lvl="1" indent="-323850" algn="l">
                <a:lnSpc>
                  <a:spcPts val="4200"/>
                </a:lnSpc>
                <a:buFont typeface="Arial"/>
                <a:buChar char="•"/>
              </a:pPr>
              <a:r>
                <a:rPr lang="en-US" sz="30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Giải</a:t>
              </a:r>
              <a:r>
                <a:rPr lang="en-US" sz="30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30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mã</a:t>
              </a:r>
              <a:r>
                <a:rPr lang="en-US" sz="30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30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trạng</a:t>
              </a:r>
              <a:r>
                <a:rPr lang="en-US" sz="30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30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thái</a:t>
              </a:r>
              <a:r>
                <a:rPr lang="en-US" sz="30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robot </a:t>
              </a:r>
              <a:r>
                <a:rPr lang="en-US" sz="30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nhận</a:t>
              </a:r>
              <a:r>
                <a:rPr lang="en-US" sz="30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30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được</a:t>
              </a:r>
              <a:endPara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83280" y="663575"/>
              <a:ext cx="6914876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</a:pPr>
              <a:r>
                <a:rPr lang="en-US" sz="2300" i="1" u="none" strike="noStrike" dirty="0">
                  <a:solidFill>
                    <a:srgbClr val="000000"/>
                  </a:solidFill>
                  <a:latin typeface="IBM Plex Mono Italics"/>
                  <a:ea typeface="IBM Plex Mono Italics"/>
                  <a:cs typeface="IBM Plex Mono Italics"/>
                  <a:sym typeface="IBM Plex Mono Italics"/>
                </a:rPr>
                <a:t>J1,J2,J3,J4,J5,J6#CRC_LENGTH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834251" y="7844206"/>
            <a:ext cx="8321649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Đảm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nhận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điều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khiển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tay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gắp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với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lệnh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JSON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Giải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mã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trạng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thái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tay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gắp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nhận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được</a:t>
            </a: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716650" y="8475714"/>
            <a:ext cx="7439250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i="1" dirty="0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{"T":</a:t>
            </a:r>
            <a:r>
              <a:rPr lang="en-US" sz="2300" i="1" u="none" strike="noStrike" dirty="0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121,"angle":0.67,"spd":100,"acc":10}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7E60D2-8625-1B36-0719-2398409D7C88}"/>
              </a:ext>
            </a:extLst>
          </p:cNvPr>
          <p:cNvSpPr/>
          <p:nvPr/>
        </p:nvSpPr>
        <p:spPr>
          <a:xfrm>
            <a:off x="1828800" y="4838700"/>
            <a:ext cx="7010400" cy="2057400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428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06400" y="1503126"/>
            <a:ext cx="866950" cy="823550"/>
          </a:xfrm>
          <a:custGeom>
            <a:avLst/>
            <a:gdLst/>
            <a:ahLst/>
            <a:cxnLst/>
            <a:rect l="l" t="t" r="r" b="b"/>
            <a:pathLst>
              <a:path w="866950" h="823550">
                <a:moveTo>
                  <a:pt x="0" y="0"/>
                </a:moveTo>
                <a:lnTo>
                  <a:pt x="866950" y="0"/>
                </a:lnTo>
                <a:lnTo>
                  <a:pt x="866950" y="823550"/>
                </a:lnTo>
                <a:lnTo>
                  <a:pt x="0" y="82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69042" y="756386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" y="9217150"/>
            <a:ext cx="2797805" cy="1069896"/>
          </a:xfrm>
          <a:custGeom>
            <a:avLst/>
            <a:gdLst/>
            <a:ahLst/>
            <a:cxnLst/>
            <a:rect l="l" t="t" r="r" b="b"/>
            <a:pathLst>
              <a:path w="2797805" h="1069896">
                <a:moveTo>
                  <a:pt x="0" y="0"/>
                </a:moveTo>
                <a:lnTo>
                  <a:pt x="2797805" y="0"/>
                </a:lnTo>
                <a:lnTo>
                  <a:pt x="2797805" y="1069896"/>
                </a:lnTo>
                <a:lnTo>
                  <a:pt x="0" y="10698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31425" y="594861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3.2. </a:t>
            </a:r>
            <a:r>
              <a:rPr lang="en-US" dirty="0" err="1">
                <a:sym typeface="Arial MT Pro Bold"/>
              </a:rPr>
              <a:t>Hệ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thống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điều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khiển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với</a:t>
            </a:r>
            <a:r>
              <a:rPr lang="en-US" dirty="0">
                <a:sym typeface="Arial MT Pro Bold"/>
              </a:rPr>
              <a:t> ROS2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3288" y="1528231"/>
            <a:ext cx="8480312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 err="1">
                <a:sym typeface="Arial MT Pro Bold Italics"/>
              </a:rPr>
              <a:t>Khối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Ứng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dụng</a:t>
            </a:r>
            <a:r>
              <a:rPr lang="en-US" dirty="0">
                <a:sym typeface="Arial MT Pro Bold Italics"/>
              </a:rPr>
              <a:t> ROS2: Denso </a:t>
            </a:r>
            <a:r>
              <a:rPr lang="en-US" dirty="0" err="1">
                <a:sym typeface="Arial MT Pro Bold Italics"/>
              </a:rPr>
              <a:t>MoveIt</a:t>
            </a:r>
            <a:r>
              <a:rPr lang="en-US" dirty="0">
                <a:sym typeface="Arial MT Pro Bold Italics"/>
              </a:rPr>
              <a:t> Servo</a:t>
            </a:r>
          </a:p>
        </p:txBody>
      </p:sp>
      <p:sp>
        <p:nvSpPr>
          <p:cNvPr id="9" name="Freeform 9"/>
          <p:cNvSpPr/>
          <p:nvPr/>
        </p:nvSpPr>
        <p:spPr>
          <a:xfrm>
            <a:off x="0" y="3848100"/>
            <a:ext cx="7640548" cy="3562405"/>
          </a:xfrm>
          <a:custGeom>
            <a:avLst/>
            <a:gdLst/>
            <a:ahLst/>
            <a:cxnLst/>
            <a:rect l="l" t="t" r="r" b="b"/>
            <a:pathLst>
              <a:path w="7640548" h="3562405">
                <a:moveTo>
                  <a:pt x="0" y="0"/>
                </a:moveTo>
                <a:lnTo>
                  <a:pt x="7640548" y="0"/>
                </a:lnTo>
                <a:lnTo>
                  <a:pt x="7640548" y="3562406"/>
                </a:lnTo>
                <a:lnTo>
                  <a:pt x="0" y="3562406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122695" y="2744909"/>
            <a:ext cx="3656350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Denso </a:t>
            </a:r>
            <a:r>
              <a:rPr lang="en-US" sz="3000" b="1" dirty="0" err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MoveIt</a:t>
            </a:r>
            <a:r>
              <a:rPr lang="en-US" sz="3000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 Servo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22695" y="3330240"/>
            <a:ext cx="9335087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phép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bật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tắt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tính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năng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Servoing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22695" y="5104575"/>
            <a:ext cx="9335087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Hỗ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trợ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 topic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điều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khiển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từng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trục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tọa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độ</a:t>
            </a: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328695" y="4089455"/>
            <a:ext cx="7439250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i="1" dirty="0" err="1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de</a:t>
            </a:r>
            <a:r>
              <a:rPr lang="en-US" sz="2300" i="1" u="none" strike="noStrike" dirty="0" err="1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nso_moveit_servo_node</a:t>
            </a:r>
            <a:r>
              <a:rPr lang="en-US" sz="2300" i="1" u="none" strike="noStrike" dirty="0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/</a:t>
            </a:r>
            <a:r>
              <a:rPr lang="en-US" sz="2300" i="1" u="none" strike="noStrike" dirty="0" err="1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start_servo</a:t>
            </a:r>
            <a:endParaRPr lang="en-US" sz="2300" i="1" u="none" strike="noStrike" dirty="0">
              <a:solidFill>
                <a:srgbClr val="000000"/>
              </a:solidFill>
              <a:latin typeface="IBM Plex Mono Italics"/>
              <a:ea typeface="IBM Plex Mono Italics"/>
              <a:cs typeface="IBM Plex Mono Italics"/>
              <a:sym typeface="IBM Plex Mono Italics"/>
            </a:endParaRPr>
          </a:p>
          <a:p>
            <a:pPr algn="l">
              <a:lnSpc>
                <a:spcPts val="3220"/>
              </a:lnSpc>
            </a:pPr>
            <a:r>
              <a:rPr lang="en-US" sz="2300" i="1" u="none" strike="noStrike" dirty="0" err="1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denso_moveit_servo_node</a:t>
            </a:r>
            <a:r>
              <a:rPr lang="en-US" sz="2300" i="1" u="none" strike="noStrike" dirty="0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/</a:t>
            </a:r>
            <a:r>
              <a:rPr lang="en-US" sz="2300" i="1" u="none" strike="noStrike" dirty="0" err="1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stop_servo</a:t>
            </a:r>
            <a:r>
              <a:rPr lang="en-US" sz="2300" i="1" u="none" strike="noStrike" dirty="0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28695" y="5863790"/>
            <a:ext cx="7439250" cy="793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2300" i="1" dirty="0" err="1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denso_moveit_servo_node</a:t>
            </a:r>
            <a:r>
              <a:rPr lang="en-US" sz="2300" i="1" dirty="0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/</a:t>
            </a:r>
            <a:r>
              <a:rPr lang="en-US" sz="2300" i="1" dirty="0" err="1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delta_joint_cmds</a:t>
            </a:r>
            <a:endParaRPr lang="en-US" sz="2300" i="1" dirty="0">
              <a:solidFill>
                <a:srgbClr val="000000"/>
              </a:solidFill>
              <a:latin typeface="IBM Plex Mono Italics"/>
              <a:ea typeface="IBM Plex Mono Italics"/>
              <a:cs typeface="IBM Plex Mono Italics"/>
              <a:sym typeface="IBM Plex Mono Italics"/>
            </a:endParaRPr>
          </a:p>
          <a:p>
            <a:pPr algn="l">
              <a:lnSpc>
                <a:spcPts val="3220"/>
              </a:lnSpc>
            </a:pPr>
            <a:r>
              <a:rPr lang="en-US" sz="2300" i="1" dirty="0" err="1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de</a:t>
            </a:r>
            <a:r>
              <a:rPr lang="en-US" sz="2300" i="1" u="none" strike="noStrike" dirty="0" err="1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nso_moveit_servo_node</a:t>
            </a:r>
            <a:r>
              <a:rPr lang="en-US" sz="2300" i="1" u="none" strike="noStrike" dirty="0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/</a:t>
            </a:r>
            <a:r>
              <a:rPr lang="en-US" sz="2300" i="1" u="none" strike="noStrike" dirty="0" err="1">
                <a:solidFill>
                  <a:srgbClr val="000000"/>
                </a:solidFill>
                <a:latin typeface="IBM Plex Mono Italics"/>
                <a:ea typeface="IBM Plex Mono Italics"/>
                <a:cs typeface="IBM Plex Mono Italics"/>
                <a:sym typeface="IBM Plex Mono Italics"/>
              </a:rPr>
              <a:t>delta_twist_cmds</a:t>
            </a:r>
            <a:endParaRPr lang="en-US" sz="2300" i="1" u="none" strike="noStrike" dirty="0">
              <a:solidFill>
                <a:srgbClr val="000000"/>
              </a:solidFill>
              <a:latin typeface="IBM Plex Mono Italics"/>
              <a:ea typeface="IBM Plex Mono Italics"/>
              <a:cs typeface="IBM Plex Mono Italics"/>
              <a:sym typeface="IBM Plex Mono Italic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252250" y="6882643"/>
            <a:ext cx="9298995" cy="4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Command timeout: 300ms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40577" y="7599939"/>
            <a:ext cx="920553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Kiểm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giới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hạn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trục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phạm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vi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hoạt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động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trong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quá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trình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chuyển</a:t>
            </a: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7591152" y="9549206"/>
            <a:ext cx="464871" cy="5516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11319E-6551-A664-A0C7-4C2023F3FB87}"/>
              </a:ext>
            </a:extLst>
          </p:cNvPr>
          <p:cNvSpPr/>
          <p:nvPr/>
        </p:nvSpPr>
        <p:spPr>
          <a:xfrm>
            <a:off x="1531412" y="5132721"/>
            <a:ext cx="2126175" cy="1066800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82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06400" y="1503126"/>
            <a:ext cx="866950" cy="823550"/>
          </a:xfrm>
          <a:custGeom>
            <a:avLst/>
            <a:gdLst/>
            <a:ahLst/>
            <a:cxnLst/>
            <a:rect l="l" t="t" r="r" b="b"/>
            <a:pathLst>
              <a:path w="866950" h="823550">
                <a:moveTo>
                  <a:pt x="0" y="0"/>
                </a:moveTo>
                <a:lnTo>
                  <a:pt x="866950" y="0"/>
                </a:lnTo>
                <a:lnTo>
                  <a:pt x="866950" y="823550"/>
                </a:lnTo>
                <a:lnTo>
                  <a:pt x="0" y="82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69042" y="756386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" y="9217150"/>
            <a:ext cx="2797805" cy="1069896"/>
          </a:xfrm>
          <a:custGeom>
            <a:avLst/>
            <a:gdLst/>
            <a:ahLst/>
            <a:cxnLst/>
            <a:rect l="l" t="t" r="r" b="b"/>
            <a:pathLst>
              <a:path w="2797805" h="1069896">
                <a:moveTo>
                  <a:pt x="0" y="0"/>
                </a:moveTo>
                <a:lnTo>
                  <a:pt x="2797805" y="0"/>
                </a:lnTo>
                <a:lnTo>
                  <a:pt x="2797805" y="1069896"/>
                </a:lnTo>
                <a:lnTo>
                  <a:pt x="0" y="10698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5400000">
            <a:off x="17445892" y="9444926"/>
            <a:ext cx="842604" cy="841564"/>
            <a:chOff x="0" y="0"/>
            <a:chExt cx="1123472" cy="1122085"/>
          </a:xfrm>
        </p:grpSpPr>
        <p:sp>
          <p:nvSpPr>
            <p:cNvPr id="6" name="Freeform 6"/>
            <p:cNvSpPr/>
            <p:nvPr/>
          </p:nvSpPr>
          <p:spPr>
            <a:xfrm>
              <a:off x="0" y="127"/>
              <a:ext cx="1123442" cy="1121918"/>
            </a:xfrm>
            <a:custGeom>
              <a:avLst/>
              <a:gdLst/>
              <a:ahLst/>
              <a:cxnLst/>
              <a:rect l="l" t="t" r="r" b="b"/>
              <a:pathLst>
                <a:path w="1123442" h="1121918">
                  <a:moveTo>
                    <a:pt x="0" y="0"/>
                  </a:moveTo>
                  <a:cubicBezTo>
                    <a:pt x="0" y="619125"/>
                    <a:pt x="501269" y="1121918"/>
                    <a:pt x="1120394" y="1121918"/>
                  </a:cubicBezTo>
                  <a:lnTo>
                    <a:pt x="1123442" y="1121918"/>
                  </a:lnTo>
                  <a:lnTo>
                    <a:pt x="1123442" y="622046"/>
                  </a:lnTo>
                  <a:cubicBezTo>
                    <a:pt x="779145" y="622046"/>
                    <a:pt x="499745" y="344297"/>
                    <a:pt x="499745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531425" y="594861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3.2. </a:t>
            </a:r>
            <a:r>
              <a:rPr lang="en-US" dirty="0" err="1">
                <a:sym typeface="Arial MT Pro Bold"/>
              </a:rPr>
              <a:t>Hệ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thống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điều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khiển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với</a:t>
            </a:r>
            <a:r>
              <a:rPr lang="en-US" dirty="0">
                <a:sym typeface="Arial MT Pro Bold"/>
              </a:rPr>
              <a:t> ROS2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3288" y="1528231"/>
            <a:ext cx="451892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 err="1">
                <a:sym typeface="Arial MT Pro Bold Italics"/>
              </a:rPr>
              <a:t>Khối</a:t>
            </a:r>
            <a:r>
              <a:rPr lang="en-US" dirty="0">
                <a:sym typeface="Arial MT Pro Bold Italics"/>
              </a:rPr>
              <a:t> Controllers</a:t>
            </a:r>
          </a:p>
        </p:txBody>
      </p:sp>
      <p:sp>
        <p:nvSpPr>
          <p:cNvPr id="9" name="Freeform 9"/>
          <p:cNvSpPr/>
          <p:nvPr/>
        </p:nvSpPr>
        <p:spPr>
          <a:xfrm>
            <a:off x="0" y="3331039"/>
            <a:ext cx="11301259" cy="4252099"/>
          </a:xfrm>
          <a:custGeom>
            <a:avLst/>
            <a:gdLst/>
            <a:ahLst/>
            <a:cxnLst/>
            <a:rect l="l" t="t" r="r" b="b"/>
            <a:pathLst>
              <a:path w="11301259" h="4252099">
                <a:moveTo>
                  <a:pt x="0" y="0"/>
                </a:moveTo>
                <a:lnTo>
                  <a:pt x="11301259" y="0"/>
                </a:lnTo>
                <a:lnTo>
                  <a:pt x="11301259" y="4252099"/>
                </a:lnTo>
                <a:lnTo>
                  <a:pt x="0" y="4252099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301272" y="4838700"/>
            <a:ext cx="436866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denso_hand_controller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01272" y="5486558"/>
            <a:ext cx="656592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Nhận lệnh xoay một trục gripper thông qua Action Server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01272" y="2797639"/>
            <a:ext cx="436866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denso_arm_controller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01272" y="3476881"/>
            <a:ext cx="656592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Nhận chuỗi trajectory thông qua Action Server hoặc topic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01272" y="6816283"/>
            <a:ext cx="436866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joint_state_boardcaster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07428" y="7492558"/>
            <a:ext cx="656592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Publish trạng thái state thông qua topic /joint_states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747387" y="9549206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4580B3-A6EF-3511-29DC-C394276CE8B3}"/>
              </a:ext>
            </a:extLst>
          </p:cNvPr>
          <p:cNvSpPr/>
          <p:nvPr/>
        </p:nvSpPr>
        <p:spPr>
          <a:xfrm>
            <a:off x="1600199" y="4305300"/>
            <a:ext cx="8534401" cy="1981200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584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06400" y="1503126"/>
            <a:ext cx="866950" cy="823550"/>
          </a:xfrm>
          <a:custGeom>
            <a:avLst/>
            <a:gdLst/>
            <a:ahLst/>
            <a:cxnLst/>
            <a:rect l="l" t="t" r="r" b="b"/>
            <a:pathLst>
              <a:path w="866950" h="823550">
                <a:moveTo>
                  <a:pt x="0" y="0"/>
                </a:moveTo>
                <a:lnTo>
                  <a:pt x="866950" y="0"/>
                </a:lnTo>
                <a:lnTo>
                  <a:pt x="866950" y="823550"/>
                </a:lnTo>
                <a:lnTo>
                  <a:pt x="0" y="82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69042" y="756386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" y="9217150"/>
            <a:ext cx="2797805" cy="1069896"/>
          </a:xfrm>
          <a:custGeom>
            <a:avLst/>
            <a:gdLst/>
            <a:ahLst/>
            <a:cxnLst/>
            <a:rect l="l" t="t" r="r" b="b"/>
            <a:pathLst>
              <a:path w="2797805" h="1069896">
                <a:moveTo>
                  <a:pt x="0" y="0"/>
                </a:moveTo>
                <a:lnTo>
                  <a:pt x="2797805" y="0"/>
                </a:lnTo>
                <a:lnTo>
                  <a:pt x="2797805" y="1069896"/>
                </a:lnTo>
                <a:lnTo>
                  <a:pt x="0" y="10698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5400000">
            <a:off x="17445892" y="9444926"/>
            <a:ext cx="842604" cy="841564"/>
            <a:chOff x="0" y="0"/>
            <a:chExt cx="1123472" cy="1122085"/>
          </a:xfrm>
        </p:grpSpPr>
        <p:sp>
          <p:nvSpPr>
            <p:cNvPr id="6" name="Freeform 6"/>
            <p:cNvSpPr/>
            <p:nvPr/>
          </p:nvSpPr>
          <p:spPr>
            <a:xfrm>
              <a:off x="0" y="127"/>
              <a:ext cx="1123442" cy="1121918"/>
            </a:xfrm>
            <a:custGeom>
              <a:avLst/>
              <a:gdLst/>
              <a:ahLst/>
              <a:cxnLst/>
              <a:rect l="l" t="t" r="r" b="b"/>
              <a:pathLst>
                <a:path w="1123442" h="1121918">
                  <a:moveTo>
                    <a:pt x="0" y="0"/>
                  </a:moveTo>
                  <a:cubicBezTo>
                    <a:pt x="0" y="619125"/>
                    <a:pt x="501269" y="1121918"/>
                    <a:pt x="1120394" y="1121918"/>
                  </a:cubicBezTo>
                  <a:lnTo>
                    <a:pt x="1123442" y="1121918"/>
                  </a:lnTo>
                  <a:lnTo>
                    <a:pt x="1123442" y="622046"/>
                  </a:lnTo>
                  <a:cubicBezTo>
                    <a:pt x="779145" y="622046"/>
                    <a:pt x="499745" y="344297"/>
                    <a:pt x="499745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531425" y="594861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3.2. </a:t>
            </a:r>
            <a:r>
              <a:rPr lang="en-US" dirty="0" err="1">
                <a:sym typeface="Arial MT Pro Bold"/>
              </a:rPr>
              <a:t>Hệ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thống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điều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khiển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với</a:t>
            </a:r>
            <a:r>
              <a:rPr lang="en-US" dirty="0">
                <a:sym typeface="Arial MT Pro Bold"/>
              </a:rPr>
              <a:t> ROS2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3288" y="1528231"/>
            <a:ext cx="451892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 err="1">
                <a:sym typeface="Arial MT Pro Bold Italics"/>
              </a:rPr>
              <a:t>Khối</a:t>
            </a:r>
            <a:r>
              <a:rPr lang="en-US" dirty="0">
                <a:sym typeface="Arial MT Pro Bold Italics"/>
              </a:rPr>
              <a:t> MoveIt2</a:t>
            </a:r>
          </a:p>
        </p:txBody>
      </p:sp>
      <p:sp>
        <p:nvSpPr>
          <p:cNvPr id="9" name="Freeform 9"/>
          <p:cNvSpPr/>
          <p:nvPr/>
        </p:nvSpPr>
        <p:spPr>
          <a:xfrm>
            <a:off x="0" y="3073541"/>
            <a:ext cx="11301259" cy="3927187"/>
          </a:xfrm>
          <a:custGeom>
            <a:avLst/>
            <a:gdLst/>
            <a:ahLst/>
            <a:cxnLst/>
            <a:rect l="l" t="t" r="r" b="b"/>
            <a:pathLst>
              <a:path w="11301259" h="3927187">
                <a:moveTo>
                  <a:pt x="0" y="0"/>
                </a:moveTo>
                <a:lnTo>
                  <a:pt x="11301259" y="0"/>
                </a:lnTo>
                <a:lnTo>
                  <a:pt x="11301259" y="3927188"/>
                </a:lnTo>
                <a:lnTo>
                  <a:pt x="0" y="3927188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301272" y="2797639"/>
            <a:ext cx="3656350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Moveit simple control manager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01259" y="3788239"/>
            <a:ext cx="656592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Quản lý các controller cho tính năng Path planning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01272" y="4943329"/>
            <a:ext cx="3656350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Path Planning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01272" y="5562454"/>
            <a:ext cx="6565922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Tính năng nổi bật của MoveIt2, sinh ra tập các quỹ đạo cho hoạt động của cánh tay robot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01259" y="7248379"/>
            <a:ext cx="3656350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MoveIt Servo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01259" y="7867504"/>
            <a:ext cx="6565922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Dùng để điều khiển cánh tay robot di chuyển liên tục theo một hướng, thông qua tương tác với topic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747387" y="9549206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B4E24C-9085-1C8C-EFA9-4B7513B9857C}"/>
              </a:ext>
            </a:extLst>
          </p:cNvPr>
          <p:cNvSpPr/>
          <p:nvPr/>
        </p:nvSpPr>
        <p:spPr>
          <a:xfrm>
            <a:off x="1600199" y="4305300"/>
            <a:ext cx="8534401" cy="762000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34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06400" y="1503126"/>
            <a:ext cx="866950" cy="823550"/>
          </a:xfrm>
          <a:custGeom>
            <a:avLst/>
            <a:gdLst/>
            <a:ahLst/>
            <a:cxnLst/>
            <a:rect l="l" t="t" r="r" b="b"/>
            <a:pathLst>
              <a:path w="866950" h="823550">
                <a:moveTo>
                  <a:pt x="0" y="0"/>
                </a:moveTo>
                <a:lnTo>
                  <a:pt x="866950" y="0"/>
                </a:lnTo>
                <a:lnTo>
                  <a:pt x="866950" y="823550"/>
                </a:lnTo>
                <a:lnTo>
                  <a:pt x="0" y="82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69042" y="756386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" y="9217150"/>
            <a:ext cx="2797805" cy="1069896"/>
          </a:xfrm>
          <a:custGeom>
            <a:avLst/>
            <a:gdLst/>
            <a:ahLst/>
            <a:cxnLst/>
            <a:rect l="l" t="t" r="r" b="b"/>
            <a:pathLst>
              <a:path w="2797805" h="1069896">
                <a:moveTo>
                  <a:pt x="0" y="0"/>
                </a:moveTo>
                <a:lnTo>
                  <a:pt x="2797805" y="0"/>
                </a:lnTo>
                <a:lnTo>
                  <a:pt x="2797805" y="1069896"/>
                </a:lnTo>
                <a:lnTo>
                  <a:pt x="0" y="10698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5400000">
            <a:off x="17445892" y="9444926"/>
            <a:ext cx="842604" cy="841564"/>
            <a:chOff x="0" y="0"/>
            <a:chExt cx="1123472" cy="1122085"/>
          </a:xfrm>
        </p:grpSpPr>
        <p:sp>
          <p:nvSpPr>
            <p:cNvPr id="6" name="Freeform 6"/>
            <p:cNvSpPr/>
            <p:nvPr/>
          </p:nvSpPr>
          <p:spPr>
            <a:xfrm>
              <a:off x="0" y="127"/>
              <a:ext cx="1123442" cy="1121918"/>
            </a:xfrm>
            <a:custGeom>
              <a:avLst/>
              <a:gdLst/>
              <a:ahLst/>
              <a:cxnLst/>
              <a:rect l="l" t="t" r="r" b="b"/>
              <a:pathLst>
                <a:path w="1123442" h="1121918">
                  <a:moveTo>
                    <a:pt x="0" y="0"/>
                  </a:moveTo>
                  <a:cubicBezTo>
                    <a:pt x="0" y="619125"/>
                    <a:pt x="501269" y="1121918"/>
                    <a:pt x="1120394" y="1121918"/>
                  </a:cubicBezTo>
                  <a:lnTo>
                    <a:pt x="1123442" y="1121918"/>
                  </a:lnTo>
                  <a:lnTo>
                    <a:pt x="1123442" y="622046"/>
                  </a:lnTo>
                  <a:cubicBezTo>
                    <a:pt x="779145" y="622046"/>
                    <a:pt x="499745" y="344297"/>
                    <a:pt x="499745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531425" y="594861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3.2. </a:t>
            </a:r>
            <a:r>
              <a:rPr lang="en-US" dirty="0" err="1">
                <a:sym typeface="Arial MT Pro Bold"/>
              </a:rPr>
              <a:t>Hệ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thống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điều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khiển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với</a:t>
            </a:r>
            <a:r>
              <a:rPr lang="en-US" dirty="0">
                <a:sym typeface="Arial MT Pro Bold"/>
              </a:rPr>
              <a:t> ROS2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3288" y="1528231"/>
            <a:ext cx="451892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 err="1">
                <a:sym typeface="Arial MT Pro Bold Italics"/>
              </a:rPr>
              <a:t>Mô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phỏng</a:t>
            </a:r>
            <a:r>
              <a:rPr lang="en-US" dirty="0">
                <a:sym typeface="Arial MT Pro Bold Italics"/>
              </a:rPr>
              <a:t> </a:t>
            </a:r>
            <a:r>
              <a:rPr lang="en-US" dirty="0" err="1">
                <a:sym typeface="Arial MT Pro Bold Italics"/>
              </a:rPr>
              <a:t>với</a:t>
            </a:r>
            <a:r>
              <a:rPr lang="en-US" dirty="0">
                <a:sym typeface="Arial MT Pro Bold Italics"/>
              </a:rPr>
              <a:t> Gazebo</a:t>
            </a:r>
          </a:p>
        </p:txBody>
      </p:sp>
      <p:sp>
        <p:nvSpPr>
          <p:cNvPr id="9" name="Freeform 9"/>
          <p:cNvSpPr/>
          <p:nvPr/>
        </p:nvSpPr>
        <p:spPr>
          <a:xfrm>
            <a:off x="177312" y="2651412"/>
            <a:ext cx="13370153" cy="5966431"/>
          </a:xfrm>
          <a:custGeom>
            <a:avLst/>
            <a:gdLst/>
            <a:ahLst/>
            <a:cxnLst/>
            <a:rect l="l" t="t" r="r" b="b"/>
            <a:pathLst>
              <a:path w="13370153" h="5966431">
                <a:moveTo>
                  <a:pt x="0" y="0"/>
                </a:moveTo>
                <a:lnTo>
                  <a:pt x="13370153" y="0"/>
                </a:lnTo>
                <a:lnTo>
                  <a:pt x="13370153" y="5966431"/>
                </a:lnTo>
                <a:lnTo>
                  <a:pt x="0" y="5966431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714657" y="3946686"/>
            <a:ext cx="373175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GazeboSimSystem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14657" y="4572000"/>
            <a:ext cx="4258693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Thay thế vai trò của Hardware Interface trong mô phỏng hoạt động cánh tay robot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747387" y="9549206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522095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06400" y="1503126"/>
            <a:ext cx="866950" cy="823550"/>
          </a:xfrm>
          <a:custGeom>
            <a:avLst/>
            <a:gdLst/>
            <a:ahLst/>
            <a:cxnLst/>
            <a:rect l="l" t="t" r="r" b="b"/>
            <a:pathLst>
              <a:path w="866950" h="823550">
                <a:moveTo>
                  <a:pt x="0" y="0"/>
                </a:moveTo>
                <a:lnTo>
                  <a:pt x="866950" y="0"/>
                </a:lnTo>
                <a:lnTo>
                  <a:pt x="866950" y="823550"/>
                </a:lnTo>
                <a:lnTo>
                  <a:pt x="0" y="82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69042" y="756386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" y="9217150"/>
            <a:ext cx="2797805" cy="1069896"/>
          </a:xfrm>
          <a:custGeom>
            <a:avLst/>
            <a:gdLst/>
            <a:ahLst/>
            <a:cxnLst/>
            <a:rect l="l" t="t" r="r" b="b"/>
            <a:pathLst>
              <a:path w="2797805" h="1069896">
                <a:moveTo>
                  <a:pt x="0" y="0"/>
                </a:moveTo>
                <a:lnTo>
                  <a:pt x="2797805" y="0"/>
                </a:lnTo>
                <a:lnTo>
                  <a:pt x="2797805" y="1069896"/>
                </a:lnTo>
                <a:lnTo>
                  <a:pt x="0" y="10698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5400000">
            <a:off x="17445892" y="9444926"/>
            <a:ext cx="842604" cy="841564"/>
            <a:chOff x="0" y="0"/>
            <a:chExt cx="1123472" cy="1122085"/>
          </a:xfrm>
        </p:grpSpPr>
        <p:sp>
          <p:nvSpPr>
            <p:cNvPr id="6" name="Freeform 6"/>
            <p:cNvSpPr/>
            <p:nvPr/>
          </p:nvSpPr>
          <p:spPr>
            <a:xfrm>
              <a:off x="0" y="127"/>
              <a:ext cx="1123442" cy="1121918"/>
            </a:xfrm>
            <a:custGeom>
              <a:avLst/>
              <a:gdLst/>
              <a:ahLst/>
              <a:cxnLst/>
              <a:rect l="l" t="t" r="r" b="b"/>
              <a:pathLst>
                <a:path w="1123442" h="1121918">
                  <a:moveTo>
                    <a:pt x="0" y="0"/>
                  </a:moveTo>
                  <a:cubicBezTo>
                    <a:pt x="0" y="619125"/>
                    <a:pt x="501269" y="1121918"/>
                    <a:pt x="1120394" y="1121918"/>
                  </a:cubicBezTo>
                  <a:lnTo>
                    <a:pt x="1123442" y="1121918"/>
                  </a:lnTo>
                  <a:lnTo>
                    <a:pt x="1123442" y="622046"/>
                  </a:lnTo>
                  <a:cubicBezTo>
                    <a:pt x="779145" y="622046"/>
                    <a:pt x="499745" y="344297"/>
                    <a:pt x="499745" y="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531425" y="594861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3.2. </a:t>
            </a:r>
            <a:r>
              <a:rPr lang="en-US" dirty="0" err="1">
                <a:sym typeface="Arial MT Pro Bold"/>
              </a:rPr>
              <a:t>Hệ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thống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điều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khiển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với</a:t>
            </a:r>
            <a:r>
              <a:rPr lang="en-US" dirty="0">
                <a:sym typeface="Arial MT Pro Bold"/>
              </a:rPr>
              <a:t> ROS2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3288" y="1528231"/>
            <a:ext cx="451892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>
                <a:sym typeface="Arial MT Pro Bold Italics"/>
              </a:rPr>
              <a:t>Ros-bridge server</a:t>
            </a:r>
          </a:p>
        </p:txBody>
      </p:sp>
      <p:sp>
        <p:nvSpPr>
          <p:cNvPr id="9" name="Freeform 9"/>
          <p:cNvSpPr/>
          <p:nvPr/>
        </p:nvSpPr>
        <p:spPr>
          <a:xfrm>
            <a:off x="1028700" y="2535108"/>
            <a:ext cx="5296099" cy="6199040"/>
          </a:xfrm>
          <a:custGeom>
            <a:avLst/>
            <a:gdLst/>
            <a:ahLst/>
            <a:cxnLst/>
            <a:rect l="l" t="t" r="r" b="b"/>
            <a:pathLst>
              <a:path w="5296099" h="6199040">
                <a:moveTo>
                  <a:pt x="0" y="0"/>
                </a:moveTo>
                <a:lnTo>
                  <a:pt x="5296099" y="0"/>
                </a:lnTo>
                <a:lnTo>
                  <a:pt x="5296099" y="6199040"/>
                </a:lnTo>
                <a:lnTo>
                  <a:pt x="0" y="6199040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932290" y="2694454"/>
            <a:ext cx="373175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RosBridge Server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32290" y="3356598"/>
            <a:ext cx="9327010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Module phía Ros2 trong </a:t>
            </a: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Ros-Sharp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chạy một server để cho phép ứng dụng Unity có thể kết nối tới và truy cập tới topic/service/action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 đối tượng tương tác chính: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04602" y="5634628"/>
            <a:ext cx="7630797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6331" lvl="1" indent="-253166" algn="l">
              <a:lnSpc>
                <a:spcPts val="2814"/>
              </a:lnSpc>
              <a:buFont typeface="Arial"/>
              <a:buChar char="•"/>
            </a:pPr>
            <a:r>
              <a:rPr lang="en-US" sz="2345" dirty="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</a:t>
            </a:r>
            <a:r>
              <a:rPr lang="en-US" sz="2345" dirty="0" err="1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joint_states</a:t>
            </a:r>
            <a:r>
              <a:rPr lang="en-US" sz="2345" dirty="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marL="506331" lvl="1" indent="-253166" algn="l">
              <a:lnSpc>
                <a:spcPts val="2814"/>
              </a:lnSpc>
              <a:buFont typeface="Arial"/>
              <a:buChar char="•"/>
            </a:pPr>
            <a:r>
              <a:rPr lang="en-US" sz="2345" dirty="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Action Server Denso Remote Control</a:t>
            </a:r>
          </a:p>
          <a:p>
            <a:pPr marL="506331" lvl="1" indent="-253166" algn="l">
              <a:lnSpc>
                <a:spcPts val="2814"/>
              </a:lnSpc>
              <a:buFont typeface="Arial"/>
              <a:buChar char="•"/>
            </a:pPr>
            <a:r>
              <a:rPr lang="en-US" sz="2345" dirty="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Service Provider Denso </a:t>
            </a:r>
            <a:r>
              <a:rPr lang="en-US" sz="2345" dirty="0" err="1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MoveIt</a:t>
            </a:r>
            <a:r>
              <a:rPr lang="en-US" sz="2345" dirty="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Servo</a:t>
            </a:r>
          </a:p>
          <a:p>
            <a:pPr marL="506331" lvl="1" indent="-253166" algn="l">
              <a:lnSpc>
                <a:spcPts val="2814"/>
              </a:lnSpc>
              <a:buFont typeface="Arial"/>
              <a:buChar char="•"/>
            </a:pPr>
            <a:r>
              <a:rPr lang="en-US" sz="2345" dirty="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/camera_1/</a:t>
            </a:r>
            <a:r>
              <a:rPr lang="en-US" sz="2345" dirty="0" err="1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image_raw</a:t>
            </a:r>
            <a:r>
              <a:rPr lang="en-US" sz="2345" dirty="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/compressed</a:t>
            </a:r>
          </a:p>
          <a:p>
            <a:pPr marL="506331" lvl="1" indent="-253166" algn="l">
              <a:lnSpc>
                <a:spcPts val="2814"/>
              </a:lnSpc>
              <a:buFont typeface="Arial"/>
              <a:buChar char="•"/>
            </a:pPr>
            <a:r>
              <a:rPr lang="en-US" sz="2345" dirty="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/camera_2/</a:t>
            </a:r>
            <a:r>
              <a:rPr lang="en-US" sz="2345" dirty="0" err="1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image_raw</a:t>
            </a:r>
            <a:r>
              <a:rPr lang="en-US" sz="2345" dirty="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/compressed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47387" y="9549206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432596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74633" y="1028700"/>
            <a:ext cx="3467958" cy="544628"/>
          </a:xfrm>
          <a:custGeom>
            <a:avLst/>
            <a:gdLst/>
            <a:ahLst/>
            <a:cxnLst/>
            <a:rect l="l" t="t" r="r" b="b"/>
            <a:pathLst>
              <a:path w="3467958" h="544628">
                <a:moveTo>
                  <a:pt x="0" y="0"/>
                </a:moveTo>
                <a:lnTo>
                  <a:pt x="3467958" y="0"/>
                </a:lnTo>
                <a:lnTo>
                  <a:pt x="3467958" y="544628"/>
                </a:lnTo>
                <a:lnTo>
                  <a:pt x="0" y="54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96807" y="-1813656"/>
            <a:ext cx="4292076" cy="13914286"/>
          </a:xfrm>
          <a:custGeom>
            <a:avLst/>
            <a:gdLst/>
            <a:ahLst/>
            <a:cxnLst/>
            <a:rect l="l" t="t" r="r" b="b"/>
            <a:pathLst>
              <a:path w="4292076" h="13914286">
                <a:moveTo>
                  <a:pt x="0" y="0"/>
                </a:moveTo>
                <a:lnTo>
                  <a:pt x="4292076" y="0"/>
                </a:lnTo>
                <a:lnTo>
                  <a:pt x="4292076" y="13914286"/>
                </a:lnTo>
                <a:lnTo>
                  <a:pt x="0" y="139142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475462" y="-4"/>
            <a:ext cx="1385350" cy="988100"/>
          </a:xfrm>
          <a:custGeom>
            <a:avLst/>
            <a:gdLst/>
            <a:ahLst/>
            <a:cxnLst/>
            <a:rect l="l" t="t" r="r" b="b"/>
            <a:pathLst>
              <a:path w="1385350" h="988100">
                <a:moveTo>
                  <a:pt x="0" y="0"/>
                </a:moveTo>
                <a:lnTo>
                  <a:pt x="1385350" y="0"/>
                </a:lnTo>
                <a:lnTo>
                  <a:pt x="1385350" y="988100"/>
                </a:lnTo>
                <a:lnTo>
                  <a:pt x="0" y="988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10800000">
            <a:off x="-8" y="9443702"/>
            <a:ext cx="842604" cy="841564"/>
            <a:chOff x="0" y="0"/>
            <a:chExt cx="1123472" cy="1122085"/>
          </a:xfrm>
        </p:grpSpPr>
        <p:sp>
          <p:nvSpPr>
            <p:cNvPr id="6" name="Freeform 6"/>
            <p:cNvSpPr/>
            <p:nvPr/>
          </p:nvSpPr>
          <p:spPr>
            <a:xfrm>
              <a:off x="0" y="127"/>
              <a:ext cx="1123442" cy="1121918"/>
            </a:xfrm>
            <a:custGeom>
              <a:avLst/>
              <a:gdLst/>
              <a:ahLst/>
              <a:cxnLst/>
              <a:rect l="l" t="t" r="r" b="b"/>
              <a:pathLst>
                <a:path w="1123442" h="1121918">
                  <a:moveTo>
                    <a:pt x="0" y="0"/>
                  </a:moveTo>
                  <a:cubicBezTo>
                    <a:pt x="0" y="619125"/>
                    <a:pt x="501269" y="1121918"/>
                    <a:pt x="1120394" y="1121918"/>
                  </a:cubicBezTo>
                  <a:lnTo>
                    <a:pt x="1123442" y="1121918"/>
                  </a:lnTo>
                  <a:lnTo>
                    <a:pt x="1123442" y="622046"/>
                  </a:lnTo>
                  <a:cubicBezTo>
                    <a:pt x="779145" y="622046"/>
                    <a:pt x="499745" y="344297"/>
                    <a:pt x="499745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6242182" y="4028409"/>
            <a:ext cx="11502206" cy="5707970"/>
          </a:xfrm>
          <a:custGeom>
            <a:avLst/>
            <a:gdLst/>
            <a:ahLst/>
            <a:cxnLst/>
            <a:rect l="l" t="t" r="r" b="b"/>
            <a:pathLst>
              <a:path w="11502206" h="5707970">
                <a:moveTo>
                  <a:pt x="0" y="0"/>
                </a:moveTo>
                <a:lnTo>
                  <a:pt x="11502206" y="0"/>
                </a:lnTo>
                <a:lnTo>
                  <a:pt x="11502206" y="5707970"/>
                </a:lnTo>
                <a:lnTo>
                  <a:pt x="0" y="5707970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705611" y="2392836"/>
            <a:ext cx="8642562" cy="1426023"/>
          </a:xfrm>
          <a:custGeom>
            <a:avLst/>
            <a:gdLst/>
            <a:ahLst/>
            <a:cxnLst/>
            <a:rect l="l" t="t" r="r" b="b"/>
            <a:pathLst>
              <a:path w="8642562" h="1426023">
                <a:moveTo>
                  <a:pt x="0" y="0"/>
                </a:moveTo>
                <a:lnTo>
                  <a:pt x="8642562" y="0"/>
                </a:lnTo>
                <a:lnTo>
                  <a:pt x="8642562" y="1426023"/>
                </a:lnTo>
                <a:lnTo>
                  <a:pt x="0" y="1426023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71705" y="762851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719"/>
              </a:lnSpc>
              <a:defRPr sz="5599" b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 dirty="0">
                <a:sym typeface="Arial MT Pro Bold"/>
              </a:rPr>
              <a:t>3.3. </a:t>
            </a:r>
            <a:r>
              <a:rPr lang="en-US" dirty="0" err="1">
                <a:sym typeface="Arial MT Pro Bold"/>
              </a:rPr>
              <a:t>Ứng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dụng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điều</a:t>
            </a:r>
            <a:r>
              <a:rPr lang="en-US" dirty="0">
                <a:sym typeface="Arial MT Pro Bold"/>
              </a:rPr>
              <a:t> </a:t>
            </a:r>
            <a:r>
              <a:rPr lang="en-US" dirty="0" err="1">
                <a:sym typeface="Arial MT Pro Bold"/>
              </a:rPr>
              <a:t>khiển</a:t>
            </a:r>
            <a:r>
              <a:rPr lang="en-US" dirty="0">
                <a:sym typeface="Arial MT Pro Bold"/>
              </a:rPr>
              <a:t> VR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71705" y="1658201"/>
            <a:ext cx="593390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600"/>
              </a:lnSpc>
              <a:defRPr sz="3000" b="1" i="1">
                <a:solidFill>
                  <a:srgbClr val="29292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defRPr>
            </a:lvl1pPr>
          </a:lstStyle>
          <a:p>
            <a:r>
              <a:rPr lang="en-US">
                <a:sym typeface="Arial MT Pro Bold Italics"/>
              </a:rPr>
              <a:t>Subscribe dữ liệu camera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747387" y="9549206"/>
            <a:ext cx="152400" cy="219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29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FF67F581-3880-BA0B-3D3F-4E301AC5E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1112" y="2430936"/>
            <a:ext cx="597025" cy="59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164DB7F0-1D61-7C27-7193-32D1FFA86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1336" y="2362891"/>
            <a:ext cx="597025" cy="59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712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10075</TotalTime>
  <Words>3695</Words>
  <Application>Microsoft Office PowerPoint</Application>
  <PresentationFormat>Custom</PresentationFormat>
  <Paragraphs>453</Paragraphs>
  <Slides>47</Slides>
  <Notes>46</Notes>
  <HiddenSlides>11</HiddenSlides>
  <MMClips>2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63" baseType="lpstr">
      <vt:lpstr>Arial Bold</vt:lpstr>
      <vt:lpstr>IBM Plex Mono</vt:lpstr>
      <vt:lpstr>Arimo</vt:lpstr>
      <vt:lpstr>Arial MT Pro Bold</vt:lpstr>
      <vt:lpstr>Arial</vt:lpstr>
      <vt:lpstr>Noto Sans</vt:lpstr>
      <vt:lpstr>Arimo Bold</vt:lpstr>
      <vt:lpstr>Arial MT Pro</vt:lpstr>
      <vt:lpstr>Poppins Bold</vt:lpstr>
      <vt:lpstr>Bookman Old Style</vt:lpstr>
      <vt:lpstr>Arial MT Pro Bold Italics</vt:lpstr>
      <vt:lpstr>Arial Italics</vt:lpstr>
      <vt:lpstr>Alatsi</vt:lpstr>
      <vt:lpstr>Calibri</vt:lpstr>
      <vt:lpstr>IBM Plex Mono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Luận văn V2</dc:title>
  <dc:creator>Tran Cat</dc:creator>
  <cp:lastModifiedBy>Tran Cat</cp:lastModifiedBy>
  <cp:revision>59</cp:revision>
  <dcterms:created xsi:type="dcterms:W3CDTF">2006-08-16T00:00:00Z</dcterms:created>
  <dcterms:modified xsi:type="dcterms:W3CDTF">2026-06-26T13:43:46Z</dcterms:modified>
  <dc:identifier>DAHLNTit9EQ</dc:identifier>
</cp:coreProperties>
</file>